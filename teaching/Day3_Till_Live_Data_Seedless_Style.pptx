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build Till: a live payments screen. Days 1 and 2 dealt with identity and permission. Day 3 makes the resulting activity visible. Start by opening the live app; everyone will get a personal payer and a personal shop. All payments in this class use Sui testnet. No Move deployment is required for 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the sessions without conflating them. Till does not create an allowance or execute a recurring payment. It listens for payment transactions, whether a wallet or another app initiates them. A UI subscription also does not schedule anything onchain. The lesson is dependable observation.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https://day3-till.vercel.app. Explain the visual hierarchy: personal payer and shop, money flow, stream status, payment feed, test payment controls. The app uses real testnet transactions. A green receipt is created from an indexed successful positive net balance change to the watched shop. The balance cards read gRPC independently of the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students should explain the four data layers, use transaction and event filters, consume SSE over POST, resume from a cursor or checkpoint, write idempotently to SQLite or Postgres, find an archived transaction, respect service limits and migrate a JSON-RPC call. We will also discuss when a Rust checkpoint indexer is the better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gRPC serves the full node interface, including transaction execution. GraphQL is an indexed service with expressive selections and subscriptions. Archival storage keeps history beyond a node retention window; an arbitrary gRPC endpoint does not automatically query it. A custom indexer owns a derived model in your database. Source: https://docs.sui.io/develop/accessing-data/graphql/graphql-rpc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architectural choices, not exclusive product categories. A wallet can use both gRPC and GraphQL. Till is a narrow address feed, so a lightweight subscription writer is a reasonable teaching example. An analytics backend that needs every checkpoint and complex aggregates benefits from a custom pipeline. Source: https://docs.sui.io/concepts/custom-indexing-framework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say every provider has removed JSON-RPC. The official migration page says Foundation mainnet disablement began the week of July 27 and source-code removal was planned for mid-October. Today we independently called the public testnet endpoint and received -32601 even though HTTP status was 200. Subscriptions were announced September 21 for both networks. Sources: https://docs.sui.io/develop/accessing-data/json-rpc-migration and https://www.sui.io/blog/graphql-on-sui-now-supports-real-time-subscriptions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to ask the room what happens when a cashier loses Wi-Fi. A successful payment does not depend on the cashier’s browser hearing it. We need to separate chain finality from delivery to an app and from local durable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actual subscription in the repository. affectedAddress narrows candidates to this shop. after is a stream cursor; afterCheckpoint establishes an opening boundary when there is no cursor yet. The payload includes only the fields used to derive receipts. Balance changes are bounded to 50 here, sufficient for the small demo transactions but not a universal accounting guarantee. Source: live schema introspection, 15 October 2026; https://github.com/MystenLabs/sui/blob/main/crates/sui-indexer-alt-graphql/schema.graphql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schema exposes transactions, events and checkpoints subscription fields. TransactionFilter fields observed today are affectedAddress, affectedObject, function, kind, sentAddress, afterCheckpoint, atCheckpoint and beforeCheckpoint. EventFilter exposes sender, module, type and the same checkpoint bounds. Not every filter combination was load-tested. Choose event types for application-specific semantic events, while Till derives receipts from transaction balance changes. Source: live schema introspection and https://github.com/MystenLabs/sui/blob/main/crates/sui-indexer-alt-graphql/schema.graphql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repository code that opens the stream. The response is text/event-stream. EventSource cannot send the GraphQL POST body, so Till uses fetch and a stream reader. The shared parser handles keepalive comments, split CRLF frames, multi-line data and complete events. It treats GraphQL errors inside HTTP 200 as failures, then the caller retries. Tests exercise these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excerpt is from paymentsFrom. The return statement keeps only coins whose net change is positive. A refund or a shop sending funds out can match affectedAddress too. Failed transactions are not sales. Sum base units using BigInt, group by normalized coin type, and only then format for display. The unit tests check outgoing transfers, failure and mixed positive and negative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demo in a normal browser tab. Demo payer creates a browser-local key; the shop key is separate and stored per payer address. They are not shared class wallets. The receiving shop needs no gas for this transfer. Connected mode asks the selected wallet account to sign on sui:testnet. Clearing browser storage loses browser demo keys. Use test funds only. The app supports watching another address without possessing its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both balances before and after a transfer. The payer’s net debit includes gas; it need not equal exactly the payment. The shop receives the payment amount. Both cards include coin-object balances and address balances. Their latest change is measured between gRPC reads, so concurrent activity can affect it. The app labels the delta as latest change, not exact transaction accounting.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slowly. Wait for the Live badge before paying. Confirm the transaction link, then the feed delivery. The gRPC confirmation can arrive before GraphQL indexes the transaction. A listener is not a guarantee of zero latency. Click View receipt to inspect status, timestamp, checkpoint and all returned balance changes. The browser chime is enabled by the first user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predict the balances and feed. Pause feed aborts the subscription, not the wallet and not the whole browser network. Therefore the gRPC balance cards still refresh and a payment can still be submitted. This separation is intentional and visible in the UI. After the payment is confirmed, resume the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recovered tag is assigned to a payment whose chain timestamp predates the connection start. It is an instructional approximation using browser time, not a protocol flag. The important assertions are the transaction digest appearing once and the totals remaining correct. Refresh the page, click Open till again, and show that replay does not duplicate the already stored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app could miss a payment if it disconnected before its first matching delivery: no cursor had been saved. The upgraded app captures the latest indexed checkpoint before opening the stream and persists it. When there is no cursor, it sends afterCheckpoint. Once a cursor exists, after takes over. Do not parse or manufacture a cursor; treat it as opaque and keep it scoped to the shop and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excerpts preserve the logic in the repository, with line wrapping for readability. applyDelivery creates a new snapshot containing the advanced cursor and merged bounded list. persist saves that one snapshot with one localStorage call. If storage is blocked, the app reports that persistence is unavailable and continues only in memory. Deduplication uses digest plus coin type. For long-term accounts, use the database writer rather than the bounded browser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order as checkpoint position, then transaction position; an event adds its position within a transaction. The client uses exponential backoff capped at 30 seconds and generation guards to stop stale callbacks. In this demo, send_funds address-balance deposits were confirmed onchain but appeared after catch-up rather than on the live affectedAddress stream. Present that as an observed provider behaviour, not a universal permanent Sui rule. Re-test before class. Never fabricate a feed row from the pay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Node indexer uses the same SSE parser and paymentsFrom function as the browser. It stores amounts as base-unit text, not JavaScript floats. SQLite is enough for a local class demo. In Postgres the same idea uses a unique key and a transaction. Keep one shop per supplied database file; this demo schema is not a multi-tenant accounting product. Source: indexer/indexer.ts and indexer/db.ts.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writer excerpt with log lines omitted and arguments wrapped. INSERT OR IGNORE handles the primary key on digest and coin_type. Save the watermark even when a matching transaction produces no incoming receipt. Demonstrate stopping and restarting the indexer. Its stored cursor resumes the same feed. A failure between insert and watermark must roll both back. The code is for one shop per database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local development use Node 24 and pnpm. The optional DeepSeek key is not needed for paying or subscribing. SHOP_ADDRESS is used only by the local indexer and CLI demo. FROM_CHECKPOINT is used only when the database has no watermark. Use a separate TILL_DB for each shop. The totals script sums BigInt values by coin type and UTC date. Stop and restart the writer, send a payment while it is stopped, then compare database totals and unique digests.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use a browser subscription as a data warehouse. A Rust checkpoint indexing framework becomes useful for sustained throughput, custom joins, precise watermarks and checkpoint processing at scale. It introduces a real service, database operations and monitoring. Till demonstrates the smaller alternative, not a claim that a subscription replaces every indexer. Source: https://docs.sui.io/concepts/custom-indexing-framework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default testnet digest is ArCwXsZUTywBuM4GbNX4CVMERmBBgeYY2mgmJJjdHa3a. Rechecked on 15 October 2026: the public full node gRPC lookup returned not found; GraphQL returned SUCCESS at checkpoint 250000000, timestamp 2025-10-07T22:04:44.571Z. The scripts/receipt.ts command demonstrates both responses. Not-found alone does not prove the cause for an arbitrary digest; this known old example has corroborating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serviceConfig reported defaultPageSize 20, maxPageSize 50 for type Query and field transactions, maxQueryDepth 20, maxQueryNodes 300 and queryTimeoutMs 40000. These are observed endpoint settings, not eternal protocol constants. Page nested connections as well as top-level queries for complete accounting. Till asks for the first 50 balance changes because its demo payments are small. Production requires provider-specific limits, reconnection monitoring and retention assumptions. Source: live introspection and https://docs.sui.io/develop/accessing-data/graphql/graphql-rpc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three scripts in migration/. They show the old call and two replacements. Do not assume only renaming a method will migrate response types, pagination and error handling. In this SDK the unified balance includes address balance, which matters because faucet v3 and balance::send_funds can use that storage. Review every response shape against the installed SDK types. JSON-RPC availability depends on the provider. Source: https://docs.sui.io/develop/accessing-data/json-rpc-migration; installed @mysten/sui 2.36.0.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keys are local to this browser profile. Clearing site storage loses access to demo funds; the UI reset only clears receipts and cursor. If changing subscriptions, filters or storage formats, version snapshots and select an intentional historical opening checkpoint. Cursor compatibility is not guaranteed across arbitrary query changes. Rotating a payer or shop means funding and sharing a new address; keep old data for reconciliation. Shared server signing has been retired with HTTP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several minutes. Ask them to report their own shop address and one transaction digest, not any private key. Bonus: test an address-balance deposit and compare live versus catch-up. Bonus: run the SQLite writer and restart it. If the faucet is rate-limited, use the linked public testnet faucet and refresh the balances. Do not silently substitute fake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students to explain the separation between sending a payment, receiving a live delivery and storing it durably. Live app: https://day3-till.vercel.app. Repository: https://github.com/Nuel-osas/day3-till. The deck source, screenshots and test evidence are included under teaching/. Primary references: https://www.sui.io/blog/graphql-on-sui-now-supports-real-time-subscriptions ; https://docs.sui.io/develop/accessing-data/graphql/graphql-rpc ; https://docs.sui.io/develop/accessing-data/json-rpc-migration ; https://github.com/MystenLabs/sui/blob/main/crates/sui-indexer-alt-graphql/schema.graphql ; https://docs.sui.io/concepts/custom-indexing-framework. Checked 15 October 2026. The connected-wallet boundary is checked with a Wallet Standard fixture; a physical wallet extension approval remains a manual classroom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day3-till.vercel.app" TargetMode="External"/><Relationship Id="rId2" Type="http://schemas.openxmlformats.org/officeDocument/2006/relationships/hyperlink" Target="https://github.com/Nuel-osas/day3-till"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ACCOUNT LAYER WEEK / DAY 03 ]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01</a:t>
            </a:r>
            <a:endParaRPr lang="en-US" sz="1000" dirty="0"/>
          </a:p>
        </p:txBody>
      </p:sp>
      <p:sp>
        <p:nvSpPr>
          <p:cNvPr id="6" name="Shape 3"/>
          <p:cNvSpPr/>
          <p:nvPr/>
        </p:nvSpPr>
        <p:spPr>
          <a:xfrm>
            <a:off x="7909560" y="0"/>
            <a:ext cx="4288536" cy="6858000"/>
          </a:xfrm>
          <a:prstGeom prst="rect">
            <a:avLst/>
          </a:prstGeom>
          <a:solidFill>
            <a:srgbClr val="101E69"/>
          </a:solidFill>
          <a:ln w="12700">
            <a:solidFill>
              <a:srgbClr val="101E69">
                <a:alpha val="0"/>
              </a:srgbClr>
            </a:solidFill>
            <a:prstDash val="solid"/>
          </a:ln>
        </p:spPr>
      </p:sp>
      <p:sp>
        <p:nvSpPr>
          <p:cNvPr id="7" name="Shape 4"/>
          <p:cNvSpPr/>
          <p:nvPr/>
        </p:nvSpPr>
        <p:spPr>
          <a:xfrm>
            <a:off x="10607040" y="0"/>
            <a:ext cx="1591056" cy="6858000"/>
          </a:xfrm>
          <a:prstGeom prst="rect">
            <a:avLst/>
          </a:prstGeom>
          <a:solidFill>
            <a:srgbClr val="2338FF"/>
          </a:solidFill>
          <a:ln w="12700">
            <a:solidFill>
              <a:srgbClr val="2338FF">
                <a:alpha val="0"/>
              </a:srgbClr>
            </a:solidFill>
            <a:prstDash val="solid"/>
          </a:ln>
        </p:spPr>
      </p:sp>
      <p:sp>
        <p:nvSpPr>
          <p:cNvPr id="8" name="Text 5"/>
          <p:cNvSpPr/>
          <p:nvPr/>
        </p:nvSpPr>
        <p:spPr>
          <a:xfrm>
            <a:off x="777240" y="1600200"/>
            <a:ext cx="8961120" cy="2697480"/>
          </a:xfrm>
          <a:prstGeom prst="rect">
            <a:avLst/>
          </a:prstGeom>
          <a:noFill/>
          <a:ln/>
        </p:spPr>
        <p:txBody>
          <a:bodyPr wrap="square" lIns="0" tIns="0" rIns="0" bIns="0" rtlCol="0" anchor="ctr"/>
          <a:lstStyle/>
          <a:p>
            <a:pPr indent="0" marL="0">
              <a:buNone/>
            </a:pPr>
            <a:r>
              <a:rPr lang="en-US" sz="7200" dirty="0">
                <a:solidFill>
                  <a:srgbClr val="FFFFFF"/>
                </a:solidFill>
                <a:latin typeface="DM Sans" pitchFamily="34" charset="0"/>
                <a:ea typeface="DM Sans" pitchFamily="34" charset="-122"/>
                <a:cs typeface="DM Sans" pitchFamily="34" charset="-120"/>
              </a:rPr>
              <a:t>Real-time</a:t>
            </a:r>
            <a:endParaRPr lang="en-US" sz="7200" dirty="0"/>
          </a:p>
          <a:p>
            <a:pPr indent="0" marL="0">
              <a:buNone/>
            </a:pPr>
            <a:r>
              <a:rPr lang="en-US" sz="7200" dirty="0">
                <a:solidFill>
                  <a:srgbClr val="FFFFFF"/>
                </a:solidFill>
                <a:latin typeface="DM Sans" pitchFamily="34" charset="0"/>
                <a:ea typeface="DM Sans" pitchFamily="34" charset="-122"/>
                <a:cs typeface="DM Sans" pitchFamily="34" charset="-120"/>
              </a:rPr>
              <a:t>Sui.</a:t>
            </a:r>
            <a:endParaRPr lang="en-US" sz="7200" dirty="0"/>
          </a:p>
        </p:txBody>
      </p:sp>
      <p:sp>
        <p:nvSpPr>
          <p:cNvPr id="9" name="Text 6"/>
          <p:cNvSpPr/>
          <p:nvPr/>
        </p:nvSpPr>
        <p:spPr>
          <a:xfrm>
            <a:off x="777240" y="4389120"/>
            <a:ext cx="8686800" cy="1051560"/>
          </a:xfrm>
          <a:prstGeom prst="rect">
            <a:avLst/>
          </a:prstGeom>
          <a:noFill/>
          <a:ln/>
        </p:spPr>
        <p:txBody>
          <a:bodyPr wrap="square" lIns="0" tIns="0" rIns="0" bIns="0" rtlCol="0" anchor="ctr"/>
          <a:lstStyle/>
          <a:p>
            <a:pPr indent="0" marL="0">
              <a:buNone/>
            </a:pPr>
            <a:r>
              <a:rPr lang="en-US" sz="2900" dirty="0">
                <a:solidFill>
                  <a:srgbClr val="ACB8DB"/>
                </a:solidFill>
                <a:latin typeface="DM Sans" pitchFamily="34" charset="0"/>
                <a:ea typeface="DM Sans" pitchFamily="34" charset="-122"/>
                <a:cs typeface="DM Sans" pitchFamily="34" charset="-120"/>
              </a:rPr>
              <a:t>A payment happens.</a:t>
            </a:r>
            <a:endParaRPr lang="en-US" sz="2900" dirty="0"/>
          </a:p>
          <a:p>
            <a:pPr indent="0" marL="0">
              <a:buNone/>
            </a:pPr>
            <a:r>
              <a:rPr lang="en-US" sz="2900" dirty="0">
                <a:solidFill>
                  <a:srgbClr val="ACB8DB"/>
                </a:solidFill>
                <a:latin typeface="DM Sans" pitchFamily="34" charset="0"/>
                <a:ea typeface="DM Sans" pitchFamily="34" charset="-122"/>
                <a:cs typeface="DM Sans" pitchFamily="34" charset="-120"/>
              </a:rPr>
              <a:t>Your app should know.</a:t>
            </a:r>
            <a:endParaRPr lang="en-US" sz="2900" dirty="0"/>
          </a:p>
        </p:txBody>
      </p:sp>
      <p:sp>
        <p:nvSpPr>
          <p:cNvPr id="10" name="Text 7"/>
          <p:cNvSpPr/>
          <p:nvPr/>
        </p:nvSpPr>
        <p:spPr>
          <a:xfrm>
            <a:off x="777240" y="5833872"/>
            <a:ext cx="10058400" cy="274320"/>
          </a:xfrm>
          <a:prstGeom prst="rect">
            <a:avLst/>
          </a:prstGeom>
          <a:noFill/>
          <a:ln/>
        </p:spPr>
        <p:txBody>
          <a:bodyPr wrap="square" lIns="0" tIns="0" rIns="0" bIns="0" rtlCol="0" anchor="ctr"/>
          <a:lstStyle/>
          <a:p>
            <a:pPr indent="0" marL="0">
              <a:buNone/>
            </a:pPr>
            <a:r>
              <a:rPr lang="en-US" sz="1200" dirty="0">
                <a:solidFill>
                  <a:srgbClr val="9BAFFF"/>
                </a:solidFill>
                <a:latin typeface="JetBrains Mono" pitchFamily="34" charset="0"/>
                <a:ea typeface="JetBrains Mono" pitchFamily="34" charset="-122"/>
                <a:cs typeface="JetBrains Mono" pitchFamily="34" charset="-120"/>
              </a:rPr>
              <a:t>GRAPHQL SUBSCRIPTIONS / THE NEW DATA STACK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WEEK SO FAR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An account becomes an experience.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02</a:t>
            </a:r>
            <a:endParaRPr lang="en-US" sz="1000" dirty="0"/>
          </a:p>
        </p:txBody>
      </p:sp>
      <p:sp>
        <p:nvSpPr>
          <p:cNvPr id="7" name="Shape 4"/>
          <p:cNvSpPr/>
          <p:nvPr/>
        </p:nvSpPr>
        <p:spPr>
          <a:xfrm>
            <a:off x="777240" y="2286000"/>
            <a:ext cx="339344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DAY 01</a:t>
            </a:r>
            <a:endParaRPr lang="en-US" sz="1100" dirty="0"/>
          </a:p>
        </p:txBody>
      </p:sp>
      <p:sp>
        <p:nvSpPr>
          <p:cNvPr id="9" name="Text 6"/>
          <p:cNvSpPr/>
          <p:nvPr/>
        </p:nvSpPr>
        <p:spPr>
          <a:xfrm>
            <a:off x="100584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Identity</a:t>
            </a:r>
            <a:endParaRPr lang="en-US" sz="2500" dirty="0"/>
          </a:p>
        </p:txBody>
      </p:sp>
      <p:sp>
        <p:nvSpPr>
          <p:cNvPr id="10" name="Text 7"/>
          <p:cNvSpPr/>
          <p:nvPr/>
        </p:nvSpPr>
        <p:spPr>
          <a:xfrm>
            <a:off x="100584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Who can access</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the account?</a:t>
            </a:r>
            <a:endParaRPr lang="en-US" sz="1900" dirty="0"/>
          </a:p>
        </p:txBody>
      </p:sp>
      <p:sp>
        <p:nvSpPr>
          <p:cNvPr id="11" name="Shape 8"/>
          <p:cNvSpPr/>
          <p:nvPr/>
        </p:nvSpPr>
        <p:spPr>
          <a:xfrm>
            <a:off x="4399280" y="2286000"/>
            <a:ext cx="3393440" cy="3337560"/>
          </a:xfrm>
          <a:prstGeom prst="rect">
            <a:avLst/>
          </a:prstGeom>
          <a:solidFill>
            <a:srgbClr val="FFFFFF"/>
          </a:solidFill>
          <a:ln w="12700">
            <a:solidFill>
              <a:srgbClr val="FFFFFF">
                <a:alpha val="0"/>
              </a:srgbClr>
            </a:solidFill>
            <a:prstDash val="solid"/>
          </a:ln>
        </p:spPr>
      </p:sp>
      <p:sp>
        <p:nvSpPr>
          <p:cNvPr id="12" name="Text 9"/>
          <p:cNvSpPr/>
          <p:nvPr/>
        </p:nvSpPr>
        <p:spPr>
          <a:xfrm>
            <a:off x="462788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DAY 02</a:t>
            </a:r>
            <a:endParaRPr lang="en-US" sz="1100" dirty="0"/>
          </a:p>
        </p:txBody>
      </p:sp>
      <p:sp>
        <p:nvSpPr>
          <p:cNvPr id="13" name="Text 10"/>
          <p:cNvSpPr/>
          <p:nvPr/>
        </p:nvSpPr>
        <p:spPr>
          <a:xfrm>
            <a:off x="462788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Permission</a:t>
            </a:r>
            <a:endParaRPr lang="en-US" sz="2500" dirty="0"/>
          </a:p>
        </p:txBody>
      </p:sp>
      <p:sp>
        <p:nvSpPr>
          <p:cNvPr id="14" name="Text 11"/>
          <p:cNvSpPr/>
          <p:nvPr/>
        </p:nvSpPr>
        <p:spPr>
          <a:xfrm>
            <a:off x="462788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What may a spender</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do with it?</a:t>
            </a:r>
            <a:endParaRPr lang="en-US" sz="1900" dirty="0"/>
          </a:p>
        </p:txBody>
      </p:sp>
      <p:sp>
        <p:nvSpPr>
          <p:cNvPr id="15" name="Shape 12"/>
          <p:cNvSpPr/>
          <p:nvPr/>
        </p:nvSpPr>
        <p:spPr>
          <a:xfrm>
            <a:off x="8021320" y="2286000"/>
            <a:ext cx="3393440" cy="3337560"/>
          </a:xfrm>
          <a:prstGeom prst="rect">
            <a:avLst/>
          </a:prstGeom>
          <a:solidFill>
            <a:srgbClr val="2338FF"/>
          </a:solidFill>
          <a:ln w="12700">
            <a:solidFill>
              <a:srgbClr val="2338FF">
                <a:alpha val="0"/>
              </a:srgbClr>
            </a:solidFill>
            <a:prstDash val="solid"/>
          </a:ln>
        </p:spPr>
      </p:sp>
      <p:sp>
        <p:nvSpPr>
          <p:cNvPr id="16" name="Text 13"/>
          <p:cNvSpPr/>
          <p:nvPr/>
        </p:nvSpPr>
        <p:spPr>
          <a:xfrm>
            <a:off x="8249920" y="2496312"/>
            <a:ext cx="293624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DAY 03</a:t>
            </a:r>
            <a:endParaRPr lang="en-US" sz="1100" dirty="0"/>
          </a:p>
        </p:txBody>
      </p:sp>
      <p:sp>
        <p:nvSpPr>
          <p:cNvPr id="17" name="Text 14"/>
          <p:cNvSpPr/>
          <p:nvPr/>
        </p:nvSpPr>
        <p:spPr>
          <a:xfrm>
            <a:off x="8249920" y="2889504"/>
            <a:ext cx="293624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Visibility</a:t>
            </a:r>
            <a:endParaRPr lang="en-US" sz="2500" dirty="0"/>
          </a:p>
        </p:txBody>
      </p:sp>
      <p:sp>
        <p:nvSpPr>
          <p:cNvPr id="18" name="Text 15"/>
          <p:cNvSpPr/>
          <p:nvPr/>
        </p:nvSpPr>
        <p:spPr>
          <a:xfrm>
            <a:off x="8249920" y="4005072"/>
            <a:ext cx="293624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How does your app</a:t>
            </a:r>
            <a:endParaRPr lang="en-US" sz="1900" dirty="0"/>
          </a:p>
          <a:p>
            <a:pPr indent="0" marL="0">
              <a:buNone/>
            </a:pPr>
            <a:r>
              <a:rPr lang="en-US" sz="1900" dirty="0">
                <a:solidFill>
                  <a:srgbClr val="DFE4FF"/>
                </a:solidFill>
                <a:latin typeface="DM Sans" pitchFamily="34" charset="0"/>
                <a:ea typeface="DM Sans" pitchFamily="34" charset="-122"/>
                <a:cs typeface="DM Sans" pitchFamily="34" charset="-120"/>
              </a:rPr>
              <a:t>see what happened?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TODAY’S DEMO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Meet your live till.</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03</a:t>
            </a:r>
            <a:endParaRPr lang="en-US" sz="1000" dirty="0"/>
          </a:p>
        </p:txBody>
      </p:sp>
      <p:pic>
        <p:nvPicPr>
          <p:cNvPr id="7" name="Image 0" descr="/Users/emmanuelosadebe/Documents/SUI-HUB-CLASSES/account-layer-week/day3-till/teaching/assets/overview.png">    </p:cNvPr>
          <p:cNvPicPr>
            <a:picLocks noChangeAspect="1"/>
          </p:cNvPicPr>
          <p:nvPr/>
        </p:nvPicPr>
        <p:blipFill>
          <a:blip r:embed="rId1"/>
          <a:stretch>
            <a:fillRect/>
          </a:stretch>
        </p:blipFill>
        <p:spPr>
          <a:xfrm>
            <a:off x="937129" y="2194560"/>
            <a:ext cx="6263901" cy="3703320"/>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PERSONAL</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Your payer. Your shop.</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LIVE</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A receipt from the stream.</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RECOVERABLE</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A saved place to resume.</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Live app: day3-till.vercel.app   /   Real testnet transactions. Personal student wallets.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WHAT YOU WILL LEARN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Build it. Break the connection. Recover.</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04</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Choose</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gRPC, GraphQL, archive or indexer</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Listen</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Filtered subscriptions over POST</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Recover</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Cursors, ordering and replay</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Keep</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SQLite totals and old receipts</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r>
              <a:rPr lang="en-US" sz="2000" dirty="0">
                <a:solidFill>
                  <a:srgbClr val="69738B"/>
                </a:solidFill>
                <a:latin typeface="DM Sans" pitchFamily="34" charset="0"/>
                <a:ea typeface="DM Sans" pitchFamily="34" charset="-122"/>
                <a:cs typeface="DM Sans" pitchFamily="34" charset="-120"/>
              </a:rPr>
              <a:t>The final test: refresh the page without counting a payment twice.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DATA STACK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Four layers. Four different jobs.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05</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01 / gRPC</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Read and act now.</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Balances, objects, execution and checkpoints.</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02 / GRAPHQL</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Ask for a screen.</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Filtered history, selected fields and subscriptions.</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03 / ARCHIVE</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Keep the past.</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History beyond a full node’s retention.</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04 / YOUR INDEXER</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Own the data model.</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Durable aggregates, joins and reprocessing.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FOUR APP SHAPES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Choose for the job you are doing.</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06</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WALLET</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gRPC + history</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Execute now. Page activity with GraphQL.</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SHOP</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Subscription + writer</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Receive payments. Keep a durable ledger.</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GAME</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Actions + event feed</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Execute with gRPC. Stream game events.</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ANALYTICS</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Checkpoint indexer</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Backfill, transform and own the database.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DATES THAT MATTER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The migration is already real.</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07</a:t>
            </a:r>
            <a:endParaRPr lang="en-US" sz="1000" dirty="0"/>
          </a:p>
        </p:txBody>
      </p:sp>
      <p:sp>
        <p:nvSpPr>
          <p:cNvPr id="7" name="Shape 4"/>
          <p:cNvSpPr/>
          <p:nvPr/>
        </p:nvSpPr>
        <p:spPr>
          <a:xfrm>
            <a:off x="777240" y="2286000"/>
            <a:ext cx="339344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JULY 2026</a:t>
            </a:r>
            <a:endParaRPr lang="en-US" sz="1100" dirty="0"/>
          </a:p>
        </p:txBody>
      </p:sp>
      <p:sp>
        <p:nvSpPr>
          <p:cNvPr id="9" name="Text 6"/>
          <p:cNvSpPr/>
          <p:nvPr/>
        </p:nvSpPr>
        <p:spPr>
          <a:xfrm>
            <a:off x="100584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JSON-RPC disabled</a:t>
            </a:r>
            <a:endParaRPr lang="en-US" sz="2500" dirty="0"/>
          </a:p>
        </p:txBody>
      </p:sp>
      <p:sp>
        <p:nvSpPr>
          <p:cNvPr id="10" name="Text 7"/>
          <p:cNvSpPr/>
          <p:nvPr/>
        </p:nvSpPr>
        <p:spPr>
          <a:xfrm>
            <a:off x="100584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Foundation mainnet rollout began the week of 27 July.</a:t>
            </a:r>
            <a:endParaRPr lang="en-US" sz="1900" dirty="0"/>
          </a:p>
        </p:txBody>
      </p:sp>
      <p:sp>
        <p:nvSpPr>
          <p:cNvPr id="11" name="Shape 8"/>
          <p:cNvSpPr/>
          <p:nvPr/>
        </p:nvSpPr>
        <p:spPr>
          <a:xfrm>
            <a:off x="4399280" y="2286000"/>
            <a:ext cx="3393440" cy="3337560"/>
          </a:xfrm>
          <a:prstGeom prst="rect">
            <a:avLst/>
          </a:prstGeom>
          <a:solidFill>
            <a:srgbClr val="2338FF"/>
          </a:solidFill>
          <a:ln w="12700">
            <a:solidFill>
              <a:srgbClr val="2338FF">
                <a:alpha val="0"/>
              </a:srgbClr>
            </a:solidFill>
            <a:prstDash val="solid"/>
          </a:ln>
        </p:spPr>
      </p:sp>
      <p:sp>
        <p:nvSpPr>
          <p:cNvPr id="12" name="Text 9"/>
          <p:cNvSpPr/>
          <p:nvPr/>
        </p:nvSpPr>
        <p:spPr>
          <a:xfrm>
            <a:off x="4627880" y="2496312"/>
            <a:ext cx="293624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21 SEPTEMBER 2026</a:t>
            </a:r>
            <a:endParaRPr lang="en-US" sz="1100" dirty="0"/>
          </a:p>
        </p:txBody>
      </p:sp>
      <p:sp>
        <p:nvSpPr>
          <p:cNvPr id="13" name="Text 10"/>
          <p:cNvSpPr/>
          <p:nvPr/>
        </p:nvSpPr>
        <p:spPr>
          <a:xfrm>
            <a:off x="4627880" y="2889504"/>
            <a:ext cx="293624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Subscriptions live</a:t>
            </a:r>
            <a:endParaRPr lang="en-US" sz="2500" dirty="0"/>
          </a:p>
        </p:txBody>
      </p:sp>
      <p:sp>
        <p:nvSpPr>
          <p:cNvPr id="14" name="Text 11"/>
          <p:cNvSpPr/>
          <p:nvPr/>
        </p:nvSpPr>
        <p:spPr>
          <a:xfrm>
            <a:off x="4627880" y="4005072"/>
            <a:ext cx="293624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GraphQL subscriptions announced for mainnet and testnet.</a:t>
            </a:r>
            <a:endParaRPr lang="en-US" sz="1900" dirty="0"/>
          </a:p>
        </p:txBody>
      </p:sp>
      <p:sp>
        <p:nvSpPr>
          <p:cNvPr id="15" name="Shape 12"/>
          <p:cNvSpPr/>
          <p:nvPr/>
        </p:nvSpPr>
        <p:spPr>
          <a:xfrm>
            <a:off x="8021320" y="2286000"/>
            <a:ext cx="3393440" cy="3337560"/>
          </a:xfrm>
          <a:prstGeom prst="rect">
            <a:avLst/>
          </a:prstGeom>
          <a:solidFill>
            <a:srgbClr val="FFFFFF"/>
          </a:solidFill>
          <a:ln w="12700">
            <a:solidFill>
              <a:srgbClr val="FFFFFF">
                <a:alpha val="0"/>
              </a:srgbClr>
            </a:solidFill>
            <a:prstDash val="solid"/>
          </a:ln>
        </p:spPr>
      </p:sp>
      <p:sp>
        <p:nvSpPr>
          <p:cNvPr id="16" name="Text 13"/>
          <p:cNvSpPr/>
          <p:nvPr/>
        </p:nvSpPr>
        <p:spPr>
          <a:xfrm>
            <a:off x="824992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15 OCTOBER / TESTED</a:t>
            </a:r>
            <a:endParaRPr lang="en-US" sz="1100" dirty="0"/>
          </a:p>
        </p:txBody>
      </p:sp>
      <p:sp>
        <p:nvSpPr>
          <p:cNvPr id="17" name="Text 14"/>
          <p:cNvSpPr/>
          <p:nvPr/>
        </p:nvSpPr>
        <p:spPr>
          <a:xfrm>
            <a:off x="824992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Check the body.</a:t>
            </a:r>
            <a:endParaRPr lang="en-US" sz="2500" dirty="0"/>
          </a:p>
        </p:txBody>
      </p:sp>
      <p:sp>
        <p:nvSpPr>
          <p:cNvPr id="18" name="Text 15"/>
          <p:cNvSpPr/>
          <p:nvPr/>
        </p:nvSpPr>
        <p:spPr>
          <a:xfrm>
            <a:off x="824992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Public testnet JSON-RPC returns an error inside HTTP 200.</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338F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[ 01 / LISTEN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08</a:t>
            </a:r>
            <a:endParaRPr lang="en-US" sz="1000" dirty="0"/>
          </a:p>
        </p:txBody>
      </p:sp>
      <p:sp>
        <p:nvSpPr>
          <p:cNvPr id="6" name="Text 3"/>
          <p:cNvSpPr/>
          <p:nvPr/>
        </p:nvSpPr>
        <p:spPr>
          <a:xfrm>
            <a:off x="777240" y="1828800"/>
            <a:ext cx="10698480" cy="2194560"/>
          </a:xfrm>
          <a:prstGeom prst="rect">
            <a:avLst/>
          </a:prstGeom>
          <a:noFill/>
          <a:ln/>
        </p:spPr>
        <p:txBody>
          <a:bodyPr wrap="square" lIns="0" tIns="0" rIns="0" bIns="0" rtlCol="0" anchor="ctr"/>
          <a:lstStyle/>
          <a:p>
            <a:pPr indent="0" marL="0">
              <a:buNone/>
            </a:pPr>
            <a:r>
              <a:rPr lang="en-US" sz="5700" dirty="0">
                <a:solidFill>
                  <a:srgbClr val="FFFFFF"/>
                </a:solidFill>
                <a:latin typeface="DM Sans" pitchFamily="34" charset="0"/>
                <a:ea typeface="DM Sans" pitchFamily="34" charset="-122"/>
                <a:cs typeface="DM Sans" pitchFamily="34" charset="-120"/>
              </a:rPr>
              <a:t>Push updates.</a:t>
            </a:r>
            <a:endParaRPr lang="en-US" sz="5700" dirty="0"/>
          </a:p>
          <a:p>
            <a:pPr indent="0" marL="0">
              <a:buNone/>
            </a:pPr>
            <a:r>
              <a:rPr lang="en-US" sz="5700" dirty="0">
                <a:solidFill>
                  <a:srgbClr val="FFFFFF"/>
                </a:solidFill>
                <a:latin typeface="DM Sans" pitchFamily="34" charset="0"/>
                <a:ea typeface="DM Sans" pitchFamily="34" charset="-122"/>
                <a:cs typeface="DM Sans" pitchFamily="34" charset="-120"/>
              </a:rPr>
              <a:t>Keep a place to resume.</a:t>
            </a:r>
            <a:endParaRPr lang="en-US" sz="5700" dirty="0"/>
          </a:p>
        </p:txBody>
      </p:sp>
      <p:sp>
        <p:nvSpPr>
          <p:cNvPr id="7" name="Text 4"/>
          <p:cNvSpPr/>
          <p:nvPr/>
        </p:nvSpPr>
        <p:spPr>
          <a:xfrm>
            <a:off x="777240" y="4754880"/>
            <a:ext cx="9875520" cy="960120"/>
          </a:xfrm>
          <a:prstGeom prst="rect">
            <a:avLst/>
          </a:prstGeom>
          <a:noFill/>
          <a:ln/>
        </p:spPr>
        <p:txBody>
          <a:bodyPr wrap="square" lIns="0" tIns="0" rIns="0" bIns="0" rtlCol="0" anchor="ctr"/>
          <a:lstStyle/>
          <a:p>
            <a:pPr indent="0" marL="0">
              <a:buNone/>
            </a:pPr>
            <a:r>
              <a:rPr lang="en-US" sz="2300" dirty="0">
                <a:solidFill>
                  <a:srgbClr val="D4DCFF"/>
                </a:solidFill>
                <a:latin typeface="DM Sans" pitchFamily="34" charset="0"/>
                <a:ea typeface="DM Sans" pitchFamily="34" charset="-122"/>
                <a:cs typeface="DM Sans" pitchFamily="34" charset="-120"/>
              </a:rPr>
              <a:t>A live feed is only useful if it can survive a disconnect.</a:t>
            </a:r>
            <a:endParaRPr lang="en-US"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SRC/LIB/TILL.TS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One document. Any shop.</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09</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452" dirty="0">
                <a:solidFill>
                  <a:srgbClr val="D9E1FF"/>
                </a:solidFill>
                <a:latin typeface="JetBrains Mono" pitchFamily="34" charset="0"/>
                <a:ea typeface="JetBrains Mono" pitchFamily="34" charset="-122"/>
                <a:cs typeface="JetBrains Mono" pitchFamily="34" charset="-120"/>
              </a:rPr>
              <a:t>subscription Till($shop: SuiAddress!, $after: String, $afterCheckpoint: UInt53)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transactions(</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filter: { affectedAddress: $shop, afterCheckpoint: $afterCheckpoint }, after: $after</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cursor</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node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digest sender { address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effects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status timestamp checkpoint { sequenceNumber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balanceChanges(first: 50) { nodes { owner { address } coinType { repr } amount }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  }</a:t>
            </a:r>
            <a:endParaRPr lang="en-US" sz="1452" dirty="0"/>
          </a:p>
          <a:p>
            <a:pPr indent="0" marL="0">
              <a:buNone/>
            </a:pPr>
            <a:r>
              <a:rPr lang="en-US" sz="1452" dirty="0">
                <a:solidFill>
                  <a:srgbClr val="D9E1FF"/>
                </a:solidFill>
                <a:latin typeface="JetBrains Mono" pitchFamily="34" charset="0"/>
                <a:ea typeface="JetBrains Mono" pitchFamily="34" charset="-122"/>
                <a:cs typeface="JetBrains Mono" pitchFamily="34" charset="-120"/>
              </a:rPr>
              <a:t>}</a:t>
            </a:r>
            <a:endParaRPr lang="en-US" sz="1452"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Select a small payload. Every matching transaction carries a cursor.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LIVE SCHEMA / TESTNET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Filter the activity you care about.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10</a:t>
            </a:r>
            <a:endParaRPr lang="en-US" sz="1000" dirty="0"/>
          </a:p>
        </p:txBody>
      </p:sp>
      <p:sp>
        <p:nvSpPr>
          <p:cNvPr id="7" name="Shape 4"/>
          <p:cNvSpPr/>
          <p:nvPr/>
        </p:nvSpPr>
        <p:spPr>
          <a:xfrm>
            <a:off x="777240" y="2286000"/>
            <a:ext cx="339344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TRANSACTIONS</a:t>
            </a:r>
            <a:endParaRPr lang="en-US" sz="1100" dirty="0"/>
          </a:p>
        </p:txBody>
      </p:sp>
      <p:sp>
        <p:nvSpPr>
          <p:cNvPr id="9" name="Text 6"/>
          <p:cNvSpPr/>
          <p:nvPr/>
        </p:nvSpPr>
        <p:spPr>
          <a:xfrm>
            <a:off x="100584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Who or what?</a:t>
            </a:r>
            <a:endParaRPr lang="en-US" sz="2500" dirty="0"/>
          </a:p>
        </p:txBody>
      </p:sp>
      <p:sp>
        <p:nvSpPr>
          <p:cNvPr id="10" name="Text 7"/>
          <p:cNvSpPr/>
          <p:nvPr/>
        </p:nvSpPr>
        <p:spPr>
          <a:xfrm>
            <a:off x="100584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affectedAddress · affectedObject</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function · kind · sentAddress</a:t>
            </a:r>
            <a:endParaRPr lang="en-US" sz="1900" dirty="0"/>
          </a:p>
        </p:txBody>
      </p:sp>
      <p:sp>
        <p:nvSpPr>
          <p:cNvPr id="11" name="Shape 8"/>
          <p:cNvSpPr/>
          <p:nvPr/>
        </p:nvSpPr>
        <p:spPr>
          <a:xfrm>
            <a:off x="4399280" y="2286000"/>
            <a:ext cx="3393440" cy="3337560"/>
          </a:xfrm>
          <a:prstGeom prst="rect">
            <a:avLst/>
          </a:prstGeom>
          <a:solidFill>
            <a:srgbClr val="FFFFFF"/>
          </a:solidFill>
          <a:ln w="12700">
            <a:solidFill>
              <a:srgbClr val="FFFFFF">
                <a:alpha val="0"/>
              </a:srgbClr>
            </a:solidFill>
            <a:prstDash val="solid"/>
          </a:ln>
        </p:spPr>
      </p:sp>
      <p:sp>
        <p:nvSpPr>
          <p:cNvPr id="12" name="Text 9"/>
          <p:cNvSpPr/>
          <p:nvPr/>
        </p:nvSpPr>
        <p:spPr>
          <a:xfrm>
            <a:off x="462788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EVENTS</a:t>
            </a:r>
            <a:endParaRPr lang="en-US" sz="1100" dirty="0"/>
          </a:p>
        </p:txBody>
      </p:sp>
      <p:sp>
        <p:nvSpPr>
          <p:cNvPr id="13" name="Text 10"/>
          <p:cNvSpPr/>
          <p:nvPr/>
        </p:nvSpPr>
        <p:spPr>
          <a:xfrm>
            <a:off x="462788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Which event?</a:t>
            </a:r>
            <a:endParaRPr lang="en-US" sz="2500" dirty="0"/>
          </a:p>
        </p:txBody>
      </p:sp>
      <p:sp>
        <p:nvSpPr>
          <p:cNvPr id="14" name="Text 11"/>
          <p:cNvSpPr/>
          <p:nvPr/>
        </p:nvSpPr>
        <p:spPr>
          <a:xfrm>
            <a:off x="462788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sender · module · type</a:t>
            </a:r>
            <a:endParaRPr lang="en-US" sz="1900" dirty="0"/>
          </a:p>
          <a:p>
            <a:pPr indent="0" marL="0">
              <a:buNone/>
            </a:pPr>
            <a:r>
              <a:rPr lang="en-US" sz="1900" dirty="0">
                <a:solidFill>
                  <a:srgbClr val="69738B"/>
                </a:solidFill>
                <a:latin typeface="DM Sans" pitchFamily="34" charset="0"/>
                <a:ea typeface="DM Sans" pitchFamily="34" charset="-122"/>
                <a:cs typeface="DM Sans" pitchFamily="34" charset="-120"/>
              </a:rPr>
              <a:t>plus checkpoint boundaries</a:t>
            </a:r>
            <a:endParaRPr lang="en-US" sz="1900" dirty="0"/>
          </a:p>
        </p:txBody>
      </p:sp>
      <p:sp>
        <p:nvSpPr>
          <p:cNvPr id="15" name="Shape 12"/>
          <p:cNvSpPr/>
          <p:nvPr/>
        </p:nvSpPr>
        <p:spPr>
          <a:xfrm>
            <a:off x="8021320" y="2286000"/>
            <a:ext cx="3393440" cy="3337560"/>
          </a:xfrm>
          <a:prstGeom prst="rect">
            <a:avLst/>
          </a:prstGeom>
          <a:solidFill>
            <a:srgbClr val="2338FF"/>
          </a:solidFill>
          <a:ln w="12700">
            <a:solidFill>
              <a:srgbClr val="2338FF">
                <a:alpha val="0"/>
              </a:srgbClr>
            </a:solidFill>
            <a:prstDash val="solid"/>
          </a:ln>
        </p:spPr>
      </p:sp>
      <p:sp>
        <p:nvSpPr>
          <p:cNvPr id="16" name="Text 13"/>
          <p:cNvSpPr/>
          <p:nvPr/>
        </p:nvSpPr>
        <p:spPr>
          <a:xfrm>
            <a:off x="8249920" y="2496312"/>
            <a:ext cx="293624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CHECKPOINTS</a:t>
            </a:r>
            <a:endParaRPr lang="en-US" sz="1100" dirty="0"/>
          </a:p>
        </p:txBody>
      </p:sp>
      <p:sp>
        <p:nvSpPr>
          <p:cNvPr id="17" name="Text 14"/>
          <p:cNvSpPr/>
          <p:nvPr/>
        </p:nvSpPr>
        <p:spPr>
          <a:xfrm>
            <a:off x="8249920" y="2889504"/>
            <a:ext cx="293624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Progress through Sui.</a:t>
            </a:r>
            <a:endParaRPr lang="en-US" sz="2500" dirty="0"/>
          </a:p>
        </p:txBody>
      </p:sp>
      <p:sp>
        <p:nvSpPr>
          <p:cNvPr id="18" name="Text 15"/>
          <p:cNvSpPr/>
          <p:nvPr/>
        </p:nvSpPr>
        <p:spPr>
          <a:xfrm>
            <a:off x="8249920" y="4005072"/>
            <a:ext cx="293624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Follow checkpoint progress.</a:t>
            </a:r>
            <a:endParaRPr lang="en-US" sz="1900" dirty="0"/>
          </a:p>
          <a:p>
            <a:pPr indent="0" marL="0">
              <a:buNone/>
            </a:pPr>
            <a:r>
              <a:rPr lang="en-US" sz="1900" dirty="0">
                <a:solidFill>
                  <a:srgbClr val="DFE4FF"/>
                </a:solidFill>
                <a:latin typeface="DM Sans" pitchFamily="34" charset="0"/>
                <a:ea typeface="DM Sans" pitchFamily="34" charset="-122"/>
                <a:cs typeface="DM Sans" pitchFamily="34" charset="-120"/>
              </a:rPr>
              <a:t>Resume with a saved position.</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SRC/LIB/SSE.TS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The transport is an HTTP POST.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11</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613" dirty="0">
                <a:solidFill>
                  <a:srgbClr val="D9E1FF"/>
                </a:solidFill>
                <a:latin typeface="JetBrains Mono" pitchFamily="34" charset="0"/>
                <a:ea typeface="JetBrains Mono" pitchFamily="34" charset="-122"/>
                <a:cs typeface="JetBrains Mono" pitchFamily="34" charset="-120"/>
              </a:rPr>
              <a:t>const res = await fetch(url,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method: 'POST',</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headers: { 'content-type': 'application/json', accept: 'text/event-stream'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body: JSON.stringify({ query, variables }), signal,</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if (!res.ok || !res.body) throw new Error(`Subscription HTTP ${res.status}`);</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if (!res.headers.get('content-type')?.includes('text/event-stream'))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throw new Error('Expected an event stream');</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a:t>
            </a:r>
            <a:endParaRPr lang="en-US" sz="1613" dirty="0"/>
          </a:p>
          <a:p>
            <a:pPr indent="0" marL="0">
              <a:buNone/>
            </a:pPr>
            <a:r>
              <a:rPr lang="en-US" sz="1613" dirty="0">
                <a:solidFill>
                  <a:srgbClr val="D9E1FF"/>
                </a:solidFill>
                <a:latin typeface="JetBrains Mono" pitchFamily="34" charset="0"/>
                <a:ea typeface="JetBrains Mono" pitchFamily="34" charset="-122"/>
                <a:cs typeface="JetBrains Mono" pitchFamily="34" charset="-120"/>
              </a:rPr>
              <a:t>  const reader = res.body.pipeThrough(new TextDecoderStream()).getReader();</a:t>
            </a:r>
            <a:endParaRPr lang="en-US" sz="1613"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POST /graphql/subscriptions   /   Content-Type: text/event-stream   /   Browser and Node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SRC/LIB/TILL.TS / EXCERPTS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An address match is not yet a sale.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12</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2000" dirty="0">
                <a:solidFill>
                  <a:srgbClr val="D9E1FF"/>
                </a:solidFill>
                <a:latin typeface="JetBrains Mono" pitchFamily="34" charset="0"/>
                <a:ea typeface="JetBrains Mono" pitchFamily="34" charset="-122"/>
                <a:cs typeface="JetBrains Mono" pitchFamily="34" charset="-120"/>
              </a:rPr>
              <a:t>if (node.effects.status !== 'SUCCESS') return [];</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const me = normalize(shop);</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const net = new Map&lt;string, bigint&gt;();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for (const c of node.effects.balanceChanges.nodes) {</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if (c.owner &amp;&amp; normalize(c.owner.address) === me) {</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const [address, ...rest] = c.coinType.repr.split('::');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const type = [normalize(address), ...rest].join('::');</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net.set(type, (net.get(type) ?? 0n) + BigInt(c.amount));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a:t>
            </a:r>
            <a:endParaRPr lang="en-US" sz="2000"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Success → net changes for this shop → positive receipts → format for display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LIVE DEMO / SETUP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Every student gets their own workspace.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13</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Choose</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Demo payer or a connected testnet wallet</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Fund</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Get test SUI for the payer</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Open</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Start listening before sending</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Pay</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Send 0.01 SUI to your own shop</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RED OUT / GREEN IN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Watch the money move.</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14</a:t>
            </a:r>
            <a:endParaRPr lang="en-US" sz="1000" dirty="0"/>
          </a:p>
        </p:txBody>
      </p:sp>
      <p:pic>
        <p:nvPicPr>
          <p:cNvPr id="7" name="Image 0" descr="/Users/emmanuelosadebe/Documents/SUI-HUB-CLASSES/account-layer-week/day3-till/teaching/assets/balances.png">    </p:cNvPr>
          <p:cNvPicPr>
            <a:picLocks noChangeAspect="1"/>
          </p:cNvPicPr>
          <p:nvPr/>
        </p:nvPicPr>
        <p:blipFill>
          <a:blip r:embed="rId1"/>
          <a:stretch>
            <a:fillRect/>
          </a:stretch>
        </p:blipFill>
        <p:spPr>
          <a:xfrm>
            <a:off x="777240" y="2922002"/>
            <a:ext cx="10643616" cy="1654075"/>
          </a:xfrm>
          <a:prstGeom prst="rect">
            <a:avLst/>
          </a:prstGeom>
        </p:spPr>
      </p:pic>
      <p:sp>
        <p:nvSpPr>
          <p:cNvPr id="8" name="Text 4"/>
          <p:cNvSpPr/>
          <p:nvPr/>
        </p:nvSpPr>
        <p:spPr>
          <a:xfrm>
            <a:off x="777240" y="2331720"/>
            <a:ext cx="5029200" cy="274320"/>
          </a:xfrm>
          <a:prstGeom prst="rect">
            <a:avLst/>
          </a:prstGeom>
          <a:noFill/>
          <a:ln/>
        </p:spPr>
        <p:txBody>
          <a:bodyPr wrap="square" lIns="0" tIns="0" rIns="0" bIns="0" rtlCol="0" anchor="ctr"/>
          <a:lstStyle/>
          <a:p>
            <a:pPr indent="0" marL="0">
              <a:buNone/>
            </a:pPr>
            <a:r>
              <a:rPr lang="en-US" sz="1200" dirty="0">
                <a:solidFill>
                  <a:srgbClr val="C5424E"/>
                </a:solidFill>
                <a:latin typeface="JetBrains Mono" pitchFamily="34" charset="0"/>
                <a:ea typeface="JetBrains Mono" pitchFamily="34" charset="-122"/>
                <a:cs typeface="JetBrains Mono" pitchFamily="34" charset="-120"/>
              </a:rPr>
              <a:t>PAYER / MONEY OUT</a:t>
            </a:r>
            <a:endParaRPr lang="en-US" sz="1200" dirty="0"/>
          </a:p>
        </p:txBody>
      </p:sp>
      <p:sp>
        <p:nvSpPr>
          <p:cNvPr id="9" name="Text 5"/>
          <p:cNvSpPr/>
          <p:nvPr/>
        </p:nvSpPr>
        <p:spPr>
          <a:xfrm>
            <a:off x="6400800" y="2331720"/>
            <a:ext cx="5029200" cy="274320"/>
          </a:xfrm>
          <a:prstGeom prst="rect">
            <a:avLst/>
          </a:prstGeom>
          <a:noFill/>
          <a:ln/>
        </p:spPr>
        <p:txBody>
          <a:bodyPr wrap="square" lIns="0" tIns="0" rIns="0" bIns="0" rtlCol="0" anchor="ctr"/>
          <a:lstStyle/>
          <a:p>
            <a:pPr indent="0" marL="0">
              <a:buNone/>
            </a:pPr>
            <a:r>
              <a:rPr lang="en-US" sz="1200" dirty="0">
                <a:solidFill>
                  <a:srgbClr val="078256"/>
                </a:solidFill>
                <a:latin typeface="JetBrains Mono" pitchFamily="34" charset="0"/>
                <a:ea typeface="JetBrains Mono" pitchFamily="34" charset="-122"/>
                <a:cs typeface="JetBrains Mono" pitchFamily="34" charset="-120"/>
              </a:rPr>
              <a:t>SHOP / MONEY IN</a:t>
            </a:r>
            <a:endParaRPr lang="en-US" sz="1200" dirty="0"/>
          </a:p>
        </p:txBody>
      </p:sp>
      <p:sp>
        <p:nvSpPr>
          <p:cNvPr id="10" name="Text 6"/>
          <p:cNvSpPr/>
          <p:nvPr/>
        </p:nvSpPr>
        <p:spPr>
          <a:xfrm>
            <a:off x="777240" y="5166360"/>
            <a:ext cx="5029200" cy="457200"/>
          </a:xfrm>
          <a:prstGeom prst="rect">
            <a:avLst/>
          </a:prstGeom>
          <a:noFill/>
          <a:ln/>
        </p:spPr>
        <p:txBody>
          <a:bodyPr wrap="square" lIns="0" tIns="0" rIns="0" bIns="0" rtlCol="0" anchor="ctr"/>
          <a:lstStyle/>
          <a:p>
            <a:pPr indent="0" marL="0">
              <a:buNone/>
            </a:pPr>
            <a:r>
              <a:rPr lang="en-US" sz="2800" dirty="0">
                <a:solidFill>
                  <a:srgbClr val="C5424E"/>
                </a:solidFill>
                <a:latin typeface="DM Sans" pitchFamily="34" charset="0"/>
                <a:ea typeface="DM Sans" pitchFamily="34" charset="-122"/>
                <a:cs typeface="DM Sans" pitchFamily="34" charset="-120"/>
              </a:rPr>
              <a:t>Payment + gas</a:t>
            </a:r>
            <a:endParaRPr lang="en-US" sz="2800" dirty="0"/>
          </a:p>
        </p:txBody>
      </p:sp>
      <p:sp>
        <p:nvSpPr>
          <p:cNvPr id="11" name="Text 7"/>
          <p:cNvSpPr/>
          <p:nvPr/>
        </p:nvSpPr>
        <p:spPr>
          <a:xfrm>
            <a:off x="6400800" y="5166360"/>
            <a:ext cx="5029200" cy="457200"/>
          </a:xfrm>
          <a:prstGeom prst="rect">
            <a:avLst/>
          </a:prstGeom>
          <a:noFill/>
          <a:ln/>
        </p:spPr>
        <p:txBody>
          <a:bodyPr wrap="square" lIns="0" tIns="0" rIns="0" bIns="0" rtlCol="0" anchor="ctr"/>
          <a:lstStyle/>
          <a:p>
            <a:pPr indent="0" marL="0">
              <a:buNone/>
            </a:pPr>
            <a:r>
              <a:rPr lang="en-US" sz="2800" dirty="0">
                <a:solidFill>
                  <a:srgbClr val="078256"/>
                </a:solidFill>
                <a:latin typeface="DM Sans" pitchFamily="34" charset="0"/>
                <a:ea typeface="DM Sans" pitchFamily="34" charset="-122"/>
                <a:cs typeface="DM Sans" pitchFamily="34" charset="-120"/>
              </a:rPr>
              <a:t>Payment received</a:t>
            </a:r>
            <a:endParaRPr lang="en-US" sz="2800" dirty="0"/>
          </a:p>
        </p:txBody>
      </p:sp>
      <p:sp>
        <p:nvSpPr>
          <p:cNvPr id="12" name="Text 8"/>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Payer ↓ payment + gas   /   Shop ↑ received value   /   Balances refresh independently of the feed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LIVE DEMO / PAYMENT 01 ]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First, prove the normal path.</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15</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Open till</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Wait for the Live badge</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Send</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Pay 0.01 test SUI</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Observe</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Balance change + incoming receipt</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Inspect</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Open the transaction receipt</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338F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[ 02 / THE DISCONNECT TEST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16</a:t>
            </a:r>
            <a:endParaRPr lang="en-US" sz="1000" dirty="0"/>
          </a:p>
        </p:txBody>
      </p:sp>
      <p:sp>
        <p:nvSpPr>
          <p:cNvPr id="6" name="Text 3"/>
          <p:cNvSpPr/>
          <p:nvPr/>
        </p:nvSpPr>
        <p:spPr>
          <a:xfrm>
            <a:off x="777240" y="1828800"/>
            <a:ext cx="10698480" cy="2194560"/>
          </a:xfrm>
          <a:prstGeom prst="rect">
            <a:avLst/>
          </a:prstGeom>
          <a:noFill/>
          <a:ln/>
        </p:spPr>
        <p:txBody>
          <a:bodyPr wrap="square" lIns="0" tIns="0" rIns="0" bIns="0" rtlCol="0" anchor="ctr"/>
          <a:lstStyle/>
          <a:p>
            <a:pPr indent="0" marL="0">
              <a:buNone/>
            </a:pPr>
            <a:r>
              <a:rPr lang="en-US" sz="5700" dirty="0">
                <a:solidFill>
                  <a:srgbClr val="FFFFFF"/>
                </a:solidFill>
                <a:latin typeface="DM Sans" pitchFamily="34" charset="0"/>
                <a:ea typeface="DM Sans" pitchFamily="34" charset="-122"/>
                <a:cs typeface="DM Sans" pitchFamily="34" charset="-120"/>
              </a:rPr>
              <a:t>Pause the feed.</a:t>
            </a:r>
            <a:endParaRPr lang="en-US" sz="5700" dirty="0"/>
          </a:p>
          <a:p>
            <a:pPr indent="0" marL="0">
              <a:buNone/>
            </a:pPr>
            <a:r>
              <a:rPr lang="en-US" sz="5700" dirty="0">
                <a:solidFill>
                  <a:srgbClr val="FFFFFF"/>
                </a:solidFill>
                <a:latin typeface="DM Sans" pitchFamily="34" charset="0"/>
                <a:ea typeface="DM Sans" pitchFamily="34" charset="-122"/>
                <a:cs typeface="DM Sans" pitchFamily="34" charset="-120"/>
              </a:rPr>
              <a:t>Send another payment.</a:t>
            </a:r>
            <a:endParaRPr lang="en-US" sz="5700" dirty="0"/>
          </a:p>
        </p:txBody>
      </p:sp>
      <p:sp>
        <p:nvSpPr>
          <p:cNvPr id="7" name="Text 4"/>
          <p:cNvSpPr/>
          <p:nvPr/>
        </p:nvSpPr>
        <p:spPr>
          <a:xfrm>
            <a:off x="777240" y="4754880"/>
            <a:ext cx="9875520" cy="960120"/>
          </a:xfrm>
          <a:prstGeom prst="rect">
            <a:avLst/>
          </a:prstGeom>
          <a:noFill/>
          <a:ln/>
        </p:spPr>
        <p:txBody>
          <a:bodyPr wrap="square" lIns="0" tIns="0" rIns="0" bIns="0" rtlCol="0" anchor="ctr"/>
          <a:lstStyle/>
          <a:p>
            <a:pPr indent="0" marL="0">
              <a:buNone/>
            </a:pPr>
            <a:r>
              <a:rPr lang="en-US" sz="2300" dirty="0">
                <a:solidFill>
                  <a:srgbClr val="D4DCFF"/>
                </a:solidFill>
                <a:latin typeface="DM Sans" pitchFamily="34" charset="0"/>
                <a:ea typeface="DM Sans" pitchFamily="34" charset="-122"/>
                <a:cs typeface="DM Sans" pitchFamily="34" charset="-120"/>
              </a:rPr>
              <a:t>The chain keeps going. Only your listener stops.</a:t>
            </a:r>
            <a:endParaRPr lang="en-US" sz="2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LIVE DEMO / RECOVERY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It catches up from where you stopped.</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17</a:t>
            </a:r>
            <a:endParaRPr lang="en-US" sz="1000" dirty="0"/>
          </a:p>
        </p:txBody>
      </p:sp>
      <p:pic>
        <p:nvPicPr>
          <p:cNvPr id="7" name="Image 0" descr="/Users/emmanuelosadebe/Documents/SUI-HUB-CLASSES/account-layer-week/day3-till/teaching/assets/recovery.png">    </p:cNvPr>
          <p:cNvPicPr>
            <a:picLocks noChangeAspect="1"/>
          </p:cNvPicPr>
          <p:nvPr/>
        </p:nvPicPr>
        <p:blipFill>
          <a:blip r:embed="rId1"/>
          <a:stretch>
            <a:fillRect/>
          </a:stretch>
        </p:blipFill>
        <p:spPr>
          <a:xfrm>
            <a:off x="2002370" y="2194560"/>
            <a:ext cx="4133419" cy="3703320"/>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01 / PAUSE</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The listener stops.</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02 / PAY</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The chain keeps going.</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03 / RESUME</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Missed receipts return.</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Saved position → historical catch-up → live delivery on the same connection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RESUME STRATEGY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No cursor yet? Keep a checkpoint.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18</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First open</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Capture an opening checkpoint</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First delivery</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Save the cursor with its payment</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Reconnect</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Use after, or the opening checkpoint</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Continue</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Replay first. Then follow live.</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SRC/LIB/SESSION.TS + SRC/USETILL.TS / EXCERPTS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Save a receipt and its position together.</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19</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2000" dirty="0">
                <a:solidFill>
                  <a:srgbClr val="D9E1FF"/>
                </a:solidFill>
                <a:latin typeface="JetBrains Mono" pitchFamily="34" charset="0"/>
                <a:ea typeface="JetBrains Mono" pitchFamily="34" charset="-122"/>
                <a:cs typeface="JetBrains Mono" pitchFamily="34" charset="-120"/>
              </a:rPr>
              <a:t>const seen = new Set(previous.payments.map(p =&gt;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`${p.digest}:${p.coinType}`));</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const added = paymentsFrom(delivery, shop)</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.filter(p =&gt; !seen.has(`${p.digest}:${p.coinType}`))</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.map(p =&gt; ({ ...p,</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recovered: Date.parse(p.timestamp) &lt; recoverBefore }));</a:t>
            </a:r>
            <a:endParaRPr lang="en-US" sz="2000" dirty="0"/>
          </a:p>
          <a:p>
            <a:pPr indent="0" marL="0">
              <a:buNone/>
            </a:pP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Save the cursor and payments in one write.</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localStorage.setItem(snapshotKey(shop), JSON.stringify(next));</a:t>
            </a:r>
            <a:endParaRPr lang="en-US" sz="2000"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A replay is allowed. Double counting is not.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FAILURE MODES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Delivery has edges. Design for them.</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20</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ORDER</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Use chain order.</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Checkpoint, then transaction position. Events add event position.</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RETRY</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Back off and resume.</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Cancel old timers and streams when the shop changes.</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FILTERING</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Check both paths.</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A live filter and historical replay can behave differently.</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CAPACITY</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Expect throttling.</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Per-subscriber limits apply. Do not assume infinite throughput.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[ 03 / DURABLE STORAGE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A live feed can become a small indexer.</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21</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Subscribe</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The same document and parser</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Begin</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Start a database transaction</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Write</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Insert receipts + save watermark</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Commit</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Advance both, or neither</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INDEXER/INDEXER.TS / EXCERPT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The cursor belongs in the same commit.</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22</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1567" dirty="0">
                <a:solidFill>
                  <a:srgbClr val="D9E1FF"/>
                </a:solidFill>
                <a:latin typeface="JetBrains Mono" pitchFamily="34" charset="0"/>
                <a:ea typeface="JetBrains Mono" pitchFamily="34" charset="-122"/>
                <a:cs typeface="JetBrains Mono" pitchFamily="34" charset="-120"/>
              </a:rPr>
              <a:t>db.exec('BEGIN');</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try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for (const p of payments)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insert.run(p.digest, p.coinType, p.amount,</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p.sender, p.checkpoint, p.timestamp, p.cursor);</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saveCursor.run(shop, d.transactions.cursor,</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new Date().toISOString());</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db.exec('COMMIT');</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catch (e) {</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db.exec('ROLLBACK');</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  throw e;</a:t>
            </a:r>
            <a:endParaRPr lang="en-US" sz="1567" dirty="0"/>
          </a:p>
          <a:p>
            <a:pPr indent="0" marL="0">
              <a:buNone/>
            </a:pPr>
            <a:r>
              <a:rPr lang="en-US" sz="1567" dirty="0">
                <a:solidFill>
                  <a:srgbClr val="D9E1FF"/>
                </a:solidFill>
                <a:latin typeface="JetBrains Mono" pitchFamily="34" charset="0"/>
                <a:ea typeface="JetBrains Mono" pitchFamily="34" charset="-122"/>
                <a:cs typeface="JetBrains Mono" pitchFamily="34" charset="-120"/>
              </a:rPr>
              <a:t>}</a:t>
            </a:r>
            <a:endParaRPr lang="en-US" sz="1567"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PRIMARY KEY (digest, coin_type)   /   Amounts as TEXT   /   Watermark per shop</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CLASSROOM TERMINAL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Run the writer. Restart it. Compare totals.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23</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2000" dirty="0">
                <a:solidFill>
                  <a:srgbClr val="D9E1FF"/>
                </a:solidFill>
                <a:latin typeface="JetBrains Mono" pitchFamily="34" charset="0"/>
                <a:ea typeface="JetBrains Mono" pitchFamily="34" charset="-122"/>
                <a:cs typeface="JetBrains Mono" pitchFamily="34" charset="-120"/>
              </a:rPr>
              <a:t>pnpm install</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cp .env.example .env</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Set SHOP_ADDRESS to the address shown in your Till.</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Set FROM_CHECKPOINT to its opening checkpoint.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indexer</a:t>
            </a:r>
            <a:endParaRPr lang="en-US" sz="2000" dirty="0"/>
          </a:p>
          <a:p>
            <a:pPr indent="0" marL="0">
              <a:buNone/>
            </a:pP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Stop and restart the writer. Then, in another terminal:</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totals</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receipt</a:t>
            </a:r>
            <a:endParaRPr lang="en-US" sz="2000"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SQLite runs locally. The Vercel app does not host this long-running writer.</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THE RUST BOUNDARY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Know when the small writer is too small.</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24</a:t>
            </a:r>
            <a:endParaRPr lang="en-US" sz="1000" dirty="0"/>
          </a:p>
        </p:txBody>
      </p:sp>
      <p:sp>
        <p:nvSpPr>
          <p:cNvPr id="7" name="Shape 4"/>
          <p:cNvSpPr/>
          <p:nvPr/>
        </p:nvSpPr>
        <p:spPr>
          <a:xfrm>
            <a:off x="777240" y="2286000"/>
            <a:ext cx="520446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LIGHTWEIGHT WRITER</a:t>
            </a:r>
            <a:endParaRPr lang="en-US" sz="1100" dirty="0"/>
          </a:p>
        </p:txBody>
      </p:sp>
      <p:sp>
        <p:nvSpPr>
          <p:cNvPr id="9" name="Text 6"/>
          <p:cNvSpPr/>
          <p:nvPr/>
        </p:nvSpPr>
        <p:spPr>
          <a:xfrm>
            <a:off x="1005840" y="2889504"/>
            <a:ext cx="474726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One focused feed.</a:t>
            </a:r>
            <a:endParaRPr lang="en-US" sz="2500" dirty="0"/>
          </a:p>
        </p:txBody>
      </p:sp>
      <p:sp>
        <p:nvSpPr>
          <p:cNvPr id="10" name="Text 7"/>
          <p:cNvSpPr/>
          <p:nvPr/>
        </p:nvSpPr>
        <p:spPr>
          <a:xfrm>
            <a:off x="1005840" y="4005072"/>
            <a:ext cx="474726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A shop address, modest volume and a simple derived table.</a:t>
            </a:r>
            <a:endParaRPr lang="en-US" sz="1900" dirty="0"/>
          </a:p>
        </p:txBody>
      </p:sp>
      <p:sp>
        <p:nvSpPr>
          <p:cNvPr id="11" name="Shape 8"/>
          <p:cNvSpPr/>
          <p:nvPr/>
        </p:nvSpPr>
        <p:spPr>
          <a:xfrm>
            <a:off x="6210300" y="2286000"/>
            <a:ext cx="5204460" cy="3337560"/>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CUSTOM INDEXER</a:t>
            </a:r>
            <a:endParaRPr lang="en-US" sz="1100" dirty="0"/>
          </a:p>
        </p:txBody>
      </p:sp>
      <p:sp>
        <p:nvSpPr>
          <p:cNvPr id="13" name="Text 10"/>
          <p:cNvSpPr/>
          <p:nvPr/>
        </p:nvSpPr>
        <p:spPr>
          <a:xfrm>
            <a:off x="6438900" y="2889504"/>
            <a:ext cx="474726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A chain-scale pipeline.</a:t>
            </a:r>
            <a:endParaRPr lang="en-US" sz="2500" dirty="0"/>
          </a:p>
        </p:txBody>
      </p:sp>
      <p:sp>
        <p:nvSpPr>
          <p:cNvPr id="14" name="Text 11"/>
          <p:cNvSpPr/>
          <p:nvPr/>
        </p:nvSpPr>
        <p:spPr>
          <a:xfrm>
            <a:off x="6438900" y="4005072"/>
            <a:ext cx="474726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Checkpoint backfills, parallel work, schema ownership and reprocessing.</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[ 04 / ARCHIVED RECEIPT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A full node can forget. History remains.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25</a:t>
            </a:r>
            <a:endParaRPr lang="en-US" sz="1000" dirty="0"/>
          </a:p>
        </p:txBody>
      </p:sp>
      <p:pic>
        <p:nvPicPr>
          <p:cNvPr id="7" name="Image 0" descr="/Users/emmanuelosadebe/Documents/SUI-HUB-CLASSES/account-layer-week/day3-till/teaching/assets/receipt.png">    </p:cNvPr>
          <p:cNvPicPr>
            <a:picLocks noChangeAspect="1"/>
          </p:cNvPicPr>
          <p:nvPr/>
        </p:nvPicPr>
        <p:blipFill>
          <a:blip r:embed="rId1"/>
          <a:stretch>
            <a:fillRect/>
          </a:stretch>
        </p:blipFill>
        <p:spPr>
          <a:xfrm>
            <a:off x="777240" y="2444191"/>
            <a:ext cx="6583680" cy="3204058"/>
          </a:xfrm>
          <a:prstGeom prst="rect">
            <a:avLst/>
          </a:prstGeom>
        </p:spPr>
      </p:pic>
      <p:sp>
        <p:nvSpPr>
          <p:cNvPr id="8" name="Text 4"/>
          <p:cNvSpPr/>
          <p:nvPr/>
        </p:nvSpPr>
        <p:spPr>
          <a:xfrm>
            <a:off x="7818120" y="2423160"/>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DATE</a:t>
            </a:r>
            <a:endParaRPr lang="en-US" sz="1000" dirty="0"/>
          </a:p>
        </p:txBody>
      </p:sp>
      <p:sp>
        <p:nvSpPr>
          <p:cNvPr id="9" name="Text 5"/>
          <p:cNvSpPr/>
          <p:nvPr/>
        </p:nvSpPr>
        <p:spPr>
          <a:xfrm>
            <a:off x="7818120" y="2743200"/>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7 October 2025</a:t>
            </a:r>
            <a:endParaRPr lang="en-US" sz="2000" dirty="0"/>
          </a:p>
        </p:txBody>
      </p:sp>
      <p:sp>
        <p:nvSpPr>
          <p:cNvPr id="10" name="Text 6"/>
          <p:cNvSpPr/>
          <p:nvPr/>
        </p:nvSpPr>
        <p:spPr>
          <a:xfrm>
            <a:off x="7818120" y="3557016"/>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CHECKPOINT</a:t>
            </a:r>
            <a:endParaRPr lang="en-US" sz="1000" dirty="0"/>
          </a:p>
        </p:txBody>
      </p:sp>
      <p:sp>
        <p:nvSpPr>
          <p:cNvPr id="11" name="Text 7"/>
          <p:cNvSpPr/>
          <p:nvPr/>
        </p:nvSpPr>
        <p:spPr>
          <a:xfrm>
            <a:off x="7818120" y="3877056"/>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250,000,000</a:t>
            </a:r>
            <a:endParaRPr lang="en-US" sz="2000" dirty="0"/>
          </a:p>
        </p:txBody>
      </p:sp>
      <p:sp>
        <p:nvSpPr>
          <p:cNvPr id="12" name="Text 8"/>
          <p:cNvSpPr/>
          <p:nvPr/>
        </p:nvSpPr>
        <p:spPr>
          <a:xfrm>
            <a:off x="7818120" y="4690872"/>
            <a:ext cx="3474720" cy="228600"/>
          </a:xfrm>
          <a:prstGeom prst="rect">
            <a:avLst/>
          </a:prstGeom>
          <a:noFill/>
          <a:ln/>
        </p:spPr>
        <p:txBody>
          <a:bodyPr wrap="square" lIns="0" tIns="0" rIns="0" bIns="0" rtlCol="0" anchor="ctr"/>
          <a:lstStyle/>
          <a:p>
            <a:pPr indent="0" marL="0">
              <a:buNone/>
            </a:pPr>
            <a:r>
              <a:rPr lang="en-US" sz="1000" spc="100" kern="0" dirty="0">
                <a:solidFill>
                  <a:srgbClr val="2338FF"/>
                </a:solidFill>
                <a:latin typeface="JetBrains Mono" pitchFamily="34" charset="0"/>
                <a:ea typeface="JetBrains Mono" pitchFamily="34" charset="-122"/>
                <a:cs typeface="JetBrains Mono" pitchFamily="34" charset="-120"/>
              </a:rPr>
              <a:t>RESULT</a:t>
            </a:r>
            <a:endParaRPr lang="en-US" sz="1000" dirty="0"/>
          </a:p>
        </p:txBody>
      </p:sp>
      <p:sp>
        <p:nvSpPr>
          <p:cNvPr id="13" name="Text 9"/>
          <p:cNvSpPr/>
          <p:nvPr/>
        </p:nvSpPr>
        <p:spPr>
          <a:xfrm>
            <a:off x="7818120" y="5010912"/>
            <a:ext cx="3474720" cy="731520"/>
          </a:xfrm>
          <a:prstGeom prst="rect">
            <a:avLst/>
          </a:prstGeom>
          <a:noFill/>
          <a:ln/>
        </p:spPr>
        <p:txBody>
          <a:bodyPr wrap="square" lIns="0" tIns="0" rIns="0" bIns="0" rtlCol="0" anchor="ctr"/>
          <a:lstStyle/>
          <a:p>
            <a:pPr indent="0" marL="0">
              <a:buNone/>
            </a:pPr>
            <a:r>
              <a:rPr lang="en-US" sz="2000" dirty="0">
                <a:solidFill>
                  <a:srgbClr val="131725"/>
                </a:solidFill>
                <a:latin typeface="DM Sans" pitchFamily="34" charset="0"/>
                <a:ea typeface="DM Sans" pitchFamily="34" charset="-122"/>
                <a:cs typeface="DM Sans" pitchFamily="34" charset="-120"/>
              </a:rPr>
              <a:t>GraphQL found the receipt.</a:t>
            </a:r>
            <a:endParaRPr lang="en-US" sz="2000" dirty="0"/>
          </a:p>
        </p:txBody>
      </p:sp>
      <p:sp>
        <p:nvSpPr>
          <p:cNvPr id="14" name="Text 10"/>
          <p:cNvSpPr/>
          <p:nvPr/>
        </p:nvSpPr>
        <p:spPr>
          <a:xfrm>
            <a:off x="777240" y="6080760"/>
            <a:ext cx="10607040" cy="201168"/>
          </a:xfrm>
          <a:prstGeom prst="rect">
            <a:avLst/>
          </a:prstGeom>
          <a:noFill/>
          <a:ln/>
        </p:spPr>
        <p:txBody>
          <a:bodyPr wrap="square" lIns="0" tIns="0" rIns="0" bIns="0" rtlCol="0" anchor="ctr"/>
          <a:lstStyle/>
          <a:p>
            <a:pPr indent="0" marL="0">
              <a:buNone/>
            </a:pPr>
            <a:r>
              <a:rPr lang="en-US" sz="1000" dirty="0">
                <a:solidFill>
                  <a:srgbClr val="69738B"/>
                </a:solidFill>
                <a:latin typeface="DM Sans" pitchFamily="34" charset="0"/>
                <a:ea typeface="DM Sans" pitchFamily="34" charset="-122"/>
                <a:cs typeface="DM Sans" pitchFamily="34" charset="-120"/>
              </a:rPr>
              <a:t>Verified 15 October 2026   /   Transaction dated 7 October 2025   /   Checkpoint 250,000,000</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TESTNET / OBSERVED 15 OCTOBER 2026 ]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Design inside the service limits.</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26</a:t>
            </a:r>
            <a:endParaRPr lang="en-US" sz="1000" dirty="0"/>
          </a:p>
        </p:txBody>
      </p:sp>
      <p:sp>
        <p:nvSpPr>
          <p:cNvPr id="7" name="Shape 4"/>
          <p:cNvSpPr/>
          <p:nvPr/>
        </p:nvSpPr>
        <p:spPr>
          <a:xfrm>
            <a:off x="777240" y="2286000"/>
            <a:ext cx="3393440" cy="3337560"/>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PAGINATION</a:t>
            </a:r>
            <a:endParaRPr lang="en-US" sz="1100" dirty="0"/>
          </a:p>
        </p:txBody>
      </p:sp>
      <p:sp>
        <p:nvSpPr>
          <p:cNvPr id="9" name="Text 6"/>
          <p:cNvSpPr/>
          <p:nvPr/>
        </p:nvSpPr>
        <p:spPr>
          <a:xfrm>
            <a:off x="100584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20 default / 50 max</a:t>
            </a:r>
            <a:endParaRPr lang="en-US" sz="2500" dirty="0"/>
          </a:p>
        </p:txBody>
      </p:sp>
      <p:sp>
        <p:nvSpPr>
          <p:cNvPr id="10" name="Text 7"/>
          <p:cNvSpPr/>
          <p:nvPr/>
        </p:nvSpPr>
        <p:spPr>
          <a:xfrm>
            <a:off x="100584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Observed for Query.transactions. Page through longer history.</a:t>
            </a:r>
            <a:endParaRPr lang="en-US" sz="1900" dirty="0"/>
          </a:p>
        </p:txBody>
      </p:sp>
      <p:sp>
        <p:nvSpPr>
          <p:cNvPr id="11" name="Shape 8"/>
          <p:cNvSpPr/>
          <p:nvPr/>
        </p:nvSpPr>
        <p:spPr>
          <a:xfrm>
            <a:off x="4399280" y="2286000"/>
            <a:ext cx="3393440" cy="3337560"/>
          </a:xfrm>
          <a:prstGeom prst="rect">
            <a:avLst/>
          </a:prstGeom>
          <a:solidFill>
            <a:srgbClr val="FFFFFF"/>
          </a:solidFill>
          <a:ln w="12700">
            <a:solidFill>
              <a:srgbClr val="FFFFFF">
                <a:alpha val="0"/>
              </a:srgbClr>
            </a:solidFill>
            <a:prstDash val="solid"/>
          </a:ln>
        </p:spPr>
      </p:sp>
      <p:sp>
        <p:nvSpPr>
          <p:cNvPr id="12" name="Text 9"/>
          <p:cNvSpPr/>
          <p:nvPr/>
        </p:nvSpPr>
        <p:spPr>
          <a:xfrm>
            <a:off x="4627880" y="2496312"/>
            <a:ext cx="293624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QUERY BUDGET</a:t>
            </a:r>
            <a:endParaRPr lang="en-US" sz="1100" dirty="0"/>
          </a:p>
        </p:txBody>
      </p:sp>
      <p:sp>
        <p:nvSpPr>
          <p:cNvPr id="13" name="Text 10"/>
          <p:cNvSpPr/>
          <p:nvPr/>
        </p:nvSpPr>
        <p:spPr>
          <a:xfrm>
            <a:off x="4627880" y="2889504"/>
            <a:ext cx="2936240" cy="96012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40 seconds</a:t>
            </a:r>
            <a:endParaRPr lang="en-US" sz="2500" dirty="0"/>
          </a:p>
        </p:txBody>
      </p:sp>
      <p:sp>
        <p:nvSpPr>
          <p:cNvPr id="14" name="Text 11"/>
          <p:cNvSpPr/>
          <p:nvPr/>
        </p:nvSpPr>
        <p:spPr>
          <a:xfrm>
            <a:off x="4627880" y="4005072"/>
            <a:ext cx="2936240" cy="1371600"/>
          </a:xfrm>
          <a:prstGeom prst="rect">
            <a:avLst/>
          </a:prstGeom>
          <a:noFill/>
          <a:ln/>
        </p:spPr>
        <p:txBody>
          <a:bodyPr wrap="square" lIns="0" tIns="0" rIns="0" bIns="0" rtlCol="0" anchor="ctr"/>
          <a:lstStyle/>
          <a:p>
            <a:pPr indent="0" marL="0">
              <a:buNone/>
            </a:pPr>
            <a:r>
              <a:rPr lang="en-US" sz="1900" dirty="0">
                <a:solidFill>
                  <a:srgbClr val="69738B"/>
                </a:solidFill>
                <a:latin typeface="DM Sans" pitchFamily="34" charset="0"/>
                <a:ea typeface="DM Sans" pitchFamily="34" charset="-122"/>
                <a:cs typeface="DM Sans" pitchFamily="34" charset="-120"/>
              </a:rPr>
              <a:t>Observed query timeout. Use small field selections.</a:t>
            </a:r>
            <a:endParaRPr lang="en-US" sz="1900" dirty="0"/>
          </a:p>
        </p:txBody>
      </p:sp>
      <p:sp>
        <p:nvSpPr>
          <p:cNvPr id="15" name="Shape 12"/>
          <p:cNvSpPr/>
          <p:nvPr/>
        </p:nvSpPr>
        <p:spPr>
          <a:xfrm>
            <a:off x="8021320" y="2286000"/>
            <a:ext cx="3393440" cy="3337560"/>
          </a:xfrm>
          <a:prstGeom prst="rect">
            <a:avLst/>
          </a:prstGeom>
          <a:solidFill>
            <a:srgbClr val="2338FF"/>
          </a:solidFill>
          <a:ln w="12700">
            <a:solidFill>
              <a:srgbClr val="2338FF">
                <a:alpha val="0"/>
              </a:srgbClr>
            </a:solidFill>
            <a:prstDash val="solid"/>
          </a:ln>
        </p:spPr>
      </p:sp>
      <p:sp>
        <p:nvSpPr>
          <p:cNvPr id="16" name="Text 13"/>
          <p:cNvSpPr/>
          <p:nvPr/>
        </p:nvSpPr>
        <p:spPr>
          <a:xfrm>
            <a:off x="8249920" y="2496312"/>
            <a:ext cx="293624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PRODUCTION</a:t>
            </a:r>
            <a:endParaRPr lang="en-US" sz="1100" dirty="0"/>
          </a:p>
        </p:txBody>
      </p:sp>
      <p:sp>
        <p:nvSpPr>
          <p:cNvPr id="17" name="Text 14"/>
          <p:cNvSpPr/>
          <p:nvPr/>
        </p:nvSpPr>
        <p:spPr>
          <a:xfrm>
            <a:off x="8249920" y="2889504"/>
            <a:ext cx="2936240" cy="96012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Choose a provider.</a:t>
            </a:r>
            <a:endParaRPr lang="en-US" sz="2500" dirty="0"/>
          </a:p>
        </p:txBody>
      </p:sp>
      <p:sp>
        <p:nvSpPr>
          <p:cNvPr id="18" name="Text 15"/>
          <p:cNvSpPr/>
          <p:nvPr/>
        </p:nvSpPr>
        <p:spPr>
          <a:xfrm>
            <a:off x="8249920" y="4005072"/>
            <a:ext cx="2936240" cy="1371600"/>
          </a:xfrm>
          <a:prstGeom prst="rect">
            <a:avLst/>
          </a:prstGeom>
          <a:noFill/>
          <a:ln/>
        </p:spPr>
        <p:txBody>
          <a:bodyPr wrap="square" lIns="0" tIns="0" rIns="0" bIns="0" rtlCol="0" anchor="ctr"/>
          <a:lstStyle/>
          <a:p>
            <a:pPr indent="0" marL="0">
              <a:buNone/>
            </a:pPr>
            <a:r>
              <a:rPr lang="en-US" sz="1900" dirty="0">
                <a:solidFill>
                  <a:srgbClr val="DFE4FF"/>
                </a:solidFill>
                <a:latin typeface="DM Sans" pitchFamily="34" charset="0"/>
                <a:ea typeface="DM Sans" pitchFamily="34" charset="-122"/>
                <a:cs typeface="DM Sans" pitchFamily="34" charset="-120"/>
              </a:rPr>
              <a:t>Check quotas, retention, auth, uptime and subscription support.</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MIGRATION/ / THREE RUNNABLE EXAMPLES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FFFFFF"/>
                </a:solidFill>
                <a:latin typeface="DM Sans" pitchFamily="34" charset="0"/>
                <a:ea typeface="DM Sans" pitchFamily="34" charset="-122"/>
                <a:cs typeface="DM Sans" pitchFamily="34" charset="-120"/>
              </a:rPr>
              <a:t>Migrate the intention, not just the method.</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27</a:t>
            </a:r>
            <a:endParaRPr lang="en-US" sz="1000" dirty="0"/>
          </a:p>
        </p:txBody>
      </p:sp>
      <p:sp>
        <p:nvSpPr>
          <p:cNvPr id="7" name="Shape 4"/>
          <p:cNvSpPr/>
          <p:nvPr/>
        </p:nvSpPr>
        <p:spPr>
          <a:xfrm>
            <a:off x="777240" y="2267712"/>
            <a:ext cx="10637520" cy="3794760"/>
          </a:xfrm>
          <a:prstGeom prst="rect">
            <a:avLst/>
          </a:prstGeom>
          <a:solidFill>
            <a:srgbClr val="111529"/>
          </a:solidFill>
          <a:ln w="12700">
            <a:solidFill>
              <a:srgbClr val="111529">
                <a:alpha val="0"/>
              </a:srgbClr>
            </a:solidFill>
            <a:prstDash val="solid"/>
          </a:ln>
        </p:spPr>
      </p:sp>
      <p:sp>
        <p:nvSpPr>
          <p:cNvPr id="8" name="Text 5"/>
          <p:cNvSpPr/>
          <p:nvPr/>
        </p:nvSpPr>
        <p:spPr>
          <a:xfrm>
            <a:off x="1033272" y="2432304"/>
            <a:ext cx="10125456" cy="3520440"/>
          </a:xfrm>
          <a:prstGeom prst="rect">
            <a:avLst/>
          </a:prstGeom>
          <a:noFill/>
          <a:ln/>
        </p:spPr>
        <p:txBody>
          <a:bodyPr wrap="square" lIns="0" tIns="0" rIns="0" bIns="0" rtlCol="0" anchor="t"/>
          <a:lstStyle/>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migrate:legacy   # inspect the JSON-RPC error body</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migrate:grpc     # current balance through gRPC</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pnpm migrate:graphql  # structured indexed query</a:t>
            </a:r>
            <a:endParaRPr lang="en-US" sz="2000" dirty="0"/>
          </a:p>
          <a:p>
            <a:pPr indent="0" marL="0">
              <a:buNone/>
            </a:pP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gRPC SDK shape used by the app:</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const { balance } = await client.getBalance({</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owner: address, coinType: '0x2::sui::SUI'</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a:t>
            </a:r>
            <a:endParaRPr lang="en-US" sz="2000" dirty="0"/>
          </a:p>
          <a:p>
            <a:pPr indent="0" marL="0">
              <a:buNone/>
            </a:pPr>
            <a:r>
              <a:rPr lang="en-US" sz="2000" dirty="0">
                <a:solidFill>
                  <a:srgbClr val="D9E1FF"/>
                </a:solidFill>
                <a:latin typeface="JetBrains Mono" pitchFamily="34" charset="0"/>
                <a:ea typeface="JetBrains Mono" pitchFamily="34" charset="-122"/>
                <a:cs typeface="JetBrains Mono" pitchFamily="34" charset="-120"/>
              </a:rPr>
              <a:t>// balance.balance includes coin and address balances.</a:t>
            </a:r>
            <a:endParaRPr lang="en-US" sz="2000" dirty="0"/>
          </a:p>
        </p:txBody>
      </p:sp>
      <p:sp>
        <p:nvSpPr>
          <p:cNvPr id="9" name="Text 6"/>
          <p:cNvSpPr/>
          <p:nvPr/>
        </p:nvSpPr>
        <p:spPr>
          <a:xfrm>
            <a:off x="777240" y="6053328"/>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DM Sans" pitchFamily="34" charset="0"/>
                <a:ea typeface="DM Sans" pitchFamily="34" charset="-122"/>
                <a:cs typeface="DM Sans" pitchFamily="34" charset="-120"/>
              </a:rPr>
              <a:t>Execute and read current state with gRPC. Query indexed history with GraphQL.</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REFRESH / SWITCH / RESET / UPGRADE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The lifecycle is part of the demo.</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28</a:t>
            </a:r>
            <a:endParaRPr lang="en-US" sz="1000" dirty="0"/>
          </a:p>
        </p:txBody>
      </p:sp>
      <p:sp>
        <p:nvSpPr>
          <p:cNvPr id="7" name="Shape 4"/>
          <p:cNvSpPr/>
          <p:nvPr/>
        </p:nvSpPr>
        <p:spPr>
          <a:xfrm>
            <a:off x="777240" y="2286000"/>
            <a:ext cx="5204460" cy="1664208"/>
          </a:xfrm>
          <a:prstGeom prst="rect">
            <a:avLst/>
          </a:prstGeom>
          <a:solidFill>
            <a:srgbClr val="FFFFFF"/>
          </a:solidFill>
          <a:ln w="12700">
            <a:solidFill>
              <a:srgbClr val="FFFFFF">
                <a:alpha val="0"/>
              </a:srgbClr>
            </a:solidFill>
            <a:prstDash val="solid"/>
          </a:ln>
        </p:spPr>
      </p:sp>
      <p:sp>
        <p:nvSpPr>
          <p:cNvPr id="8" name="Text 5"/>
          <p:cNvSpPr/>
          <p:nvPr/>
        </p:nvSpPr>
        <p:spPr>
          <a:xfrm>
            <a:off x="1005840" y="24963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REFRESH</a:t>
            </a:r>
            <a:endParaRPr lang="en-US" sz="1100" dirty="0"/>
          </a:p>
        </p:txBody>
      </p:sp>
      <p:sp>
        <p:nvSpPr>
          <p:cNvPr id="9" name="Text 6"/>
          <p:cNvSpPr/>
          <p:nvPr/>
        </p:nvSpPr>
        <p:spPr>
          <a:xfrm>
            <a:off x="1005840" y="28895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Resume explicitly.</a:t>
            </a:r>
            <a:endParaRPr lang="en-US" sz="2300" dirty="0"/>
          </a:p>
        </p:txBody>
      </p:sp>
      <p:sp>
        <p:nvSpPr>
          <p:cNvPr id="10" name="Text 7"/>
          <p:cNvSpPr/>
          <p:nvPr/>
        </p:nvSpPr>
        <p:spPr>
          <a:xfrm>
            <a:off x="1005840" y="33101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Open till restores the saved per-shop position.</a:t>
            </a:r>
            <a:endParaRPr lang="en-US" sz="1500" dirty="0"/>
          </a:p>
        </p:txBody>
      </p:sp>
      <p:sp>
        <p:nvSpPr>
          <p:cNvPr id="11" name="Shape 8"/>
          <p:cNvSpPr/>
          <p:nvPr/>
        </p:nvSpPr>
        <p:spPr>
          <a:xfrm>
            <a:off x="6210300" y="2286000"/>
            <a:ext cx="5204460" cy="1664208"/>
          </a:xfrm>
          <a:prstGeom prst="rect">
            <a:avLst/>
          </a:prstGeom>
          <a:solidFill>
            <a:srgbClr val="2338FF"/>
          </a:solidFill>
          <a:ln w="12700">
            <a:solidFill>
              <a:srgbClr val="2338FF">
                <a:alpha val="0"/>
              </a:srgbClr>
            </a:solidFill>
            <a:prstDash val="solid"/>
          </a:ln>
        </p:spPr>
      </p:sp>
      <p:sp>
        <p:nvSpPr>
          <p:cNvPr id="12" name="Text 9"/>
          <p:cNvSpPr/>
          <p:nvPr/>
        </p:nvSpPr>
        <p:spPr>
          <a:xfrm>
            <a:off x="6438900" y="2496312"/>
            <a:ext cx="4747260" cy="274320"/>
          </a:xfrm>
          <a:prstGeom prst="rect">
            <a:avLst/>
          </a:prstGeom>
          <a:noFill/>
          <a:ln/>
        </p:spPr>
        <p:txBody>
          <a:bodyPr wrap="square" lIns="0" tIns="0" rIns="0" bIns="0" rtlCol="0" anchor="ctr"/>
          <a:lstStyle/>
          <a:p>
            <a:pPr indent="0" marL="0">
              <a:buNone/>
            </a:pPr>
            <a:r>
              <a:rPr lang="en-US" sz="1100" dirty="0">
                <a:solidFill>
                  <a:srgbClr val="BFC9FF"/>
                </a:solidFill>
                <a:latin typeface="JetBrains Mono" pitchFamily="34" charset="0"/>
                <a:ea typeface="JetBrains Mono" pitchFamily="34" charset="-122"/>
                <a:cs typeface="JetBrains Mono" pitchFamily="34" charset="-120"/>
              </a:rPr>
              <a:t>SWITCH ACCOUNT</a:t>
            </a:r>
            <a:endParaRPr lang="en-US" sz="1100" dirty="0"/>
          </a:p>
        </p:txBody>
      </p:sp>
      <p:sp>
        <p:nvSpPr>
          <p:cNvPr id="13" name="Text 10"/>
          <p:cNvSpPr/>
          <p:nvPr/>
        </p:nvSpPr>
        <p:spPr>
          <a:xfrm>
            <a:off x="6438900" y="2889504"/>
            <a:ext cx="4747260" cy="365760"/>
          </a:xfrm>
          <a:prstGeom prst="rect">
            <a:avLst/>
          </a:prstGeom>
          <a:noFill/>
          <a:ln/>
        </p:spPr>
        <p:txBody>
          <a:bodyPr wrap="square" lIns="0" tIns="0" rIns="0" bIns="0" rtlCol="0" anchor="ctr"/>
          <a:lstStyle/>
          <a:p>
            <a:pPr indent="0" marL="0">
              <a:buNone/>
            </a:pPr>
            <a:r>
              <a:rPr lang="en-US" sz="2300" dirty="0">
                <a:solidFill>
                  <a:srgbClr val="FFFFFF"/>
                </a:solidFill>
                <a:latin typeface="DM Sans" pitchFamily="34" charset="0"/>
                <a:ea typeface="DM Sans" pitchFamily="34" charset="-122"/>
                <a:cs typeface="DM Sans" pitchFamily="34" charset="-120"/>
              </a:rPr>
              <a:t>Switch the shop too.</a:t>
            </a:r>
            <a:endParaRPr lang="en-US" sz="2300" dirty="0"/>
          </a:p>
        </p:txBody>
      </p:sp>
      <p:sp>
        <p:nvSpPr>
          <p:cNvPr id="14" name="Text 11"/>
          <p:cNvSpPr/>
          <p:nvPr/>
        </p:nvSpPr>
        <p:spPr>
          <a:xfrm>
            <a:off x="6438900" y="3310128"/>
            <a:ext cx="4747260" cy="530352"/>
          </a:xfrm>
          <a:prstGeom prst="rect">
            <a:avLst/>
          </a:prstGeom>
          <a:noFill/>
          <a:ln/>
        </p:spPr>
        <p:txBody>
          <a:bodyPr wrap="square" lIns="0" tIns="0" rIns="0" bIns="0" rtlCol="0" anchor="ctr"/>
          <a:lstStyle/>
          <a:p>
            <a:pPr indent="0" marL="0">
              <a:buNone/>
            </a:pPr>
            <a:r>
              <a:rPr lang="en-US" sz="1500" dirty="0">
                <a:solidFill>
                  <a:srgbClr val="DFE4FF"/>
                </a:solidFill>
                <a:latin typeface="DM Sans" pitchFamily="34" charset="0"/>
                <a:ea typeface="DM Sans" pitchFamily="34" charset="-122"/>
                <a:cs typeface="DM Sans" pitchFamily="34" charset="-120"/>
              </a:rPr>
              <a:t>A connected payer gets its own personal receiving address.</a:t>
            </a:r>
            <a:endParaRPr lang="en-US" sz="1500" dirty="0"/>
          </a:p>
        </p:txBody>
      </p:sp>
      <p:sp>
        <p:nvSpPr>
          <p:cNvPr id="15" name="Shape 12"/>
          <p:cNvSpPr/>
          <p:nvPr/>
        </p:nvSpPr>
        <p:spPr>
          <a:xfrm>
            <a:off x="777240" y="4114800"/>
            <a:ext cx="5204460" cy="1664208"/>
          </a:xfrm>
          <a:prstGeom prst="rect">
            <a:avLst/>
          </a:prstGeom>
          <a:solidFill>
            <a:srgbClr val="FFFFFF"/>
          </a:solidFill>
          <a:ln w="12700">
            <a:solidFill>
              <a:srgbClr val="FFFFFF">
                <a:alpha val="0"/>
              </a:srgbClr>
            </a:solidFill>
            <a:prstDash val="solid"/>
          </a:ln>
        </p:spPr>
      </p:sp>
      <p:sp>
        <p:nvSpPr>
          <p:cNvPr id="16" name="Text 13"/>
          <p:cNvSpPr/>
          <p:nvPr/>
        </p:nvSpPr>
        <p:spPr>
          <a:xfrm>
            <a:off x="100584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RESET SESSION</a:t>
            </a:r>
            <a:endParaRPr lang="en-US" sz="1100" dirty="0"/>
          </a:p>
        </p:txBody>
      </p:sp>
      <p:sp>
        <p:nvSpPr>
          <p:cNvPr id="17" name="Text 14"/>
          <p:cNvSpPr/>
          <p:nvPr/>
        </p:nvSpPr>
        <p:spPr>
          <a:xfrm>
            <a:off x="100584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Clear tracking only.</a:t>
            </a:r>
            <a:endParaRPr lang="en-US" sz="2300" dirty="0"/>
          </a:p>
        </p:txBody>
      </p:sp>
      <p:sp>
        <p:nvSpPr>
          <p:cNvPr id="18" name="Text 15"/>
          <p:cNvSpPr/>
          <p:nvPr/>
        </p:nvSpPr>
        <p:spPr>
          <a:xfrm>
            <a:off x="100584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Existing onchain funds and wallet keys stay in place.</a:t>
            </a:r>
            <a:endParaRPr lang="en-US" sz="1500" dirty="0"/>
          </a:p>
        </p:txBody>
      </p:sp>
      <p:sp>
        <p:nvSpPr>
          <p:cNvPr id="19" name="Shape 16"/>
          <p:cNvSpPr/>
          <p:nvPr/>
        </p:nvSpPr>
        <p:spPr>
          <a:xfrm>
            <a:off x="6210300" y="4114800"/>
            <a:ext cx="5204460" cy="1664208"/>
          </a:xfrm>
          <a:prstGeom prst="rect">
            <a:avLst/>
          </a:prstGeom>
          <a:solidFill>
            <a:srgbClr val="FFFFFF"/>
          </a:solidFill>
          <a:ln w="12700">
            <a:solidFill>
              <a:srgbClr val="FFFFFF">
                <a:alpha val="0"/>
              </a:srgbClr>
            </a:solidFill>
            <a:prstDash val="solid"/>
          </a:ln>
        </p:spPr>
      </p:sp>
      <p:sp>
        <p:nvSpPr>
          <p:cNvPr id="20" name="Text 17"/>
          <p:cNvSpPr/>
          <p:nvPr/>
        </p:nvSpPr>
        <p:spPr>
          <a:xfrm>
            <a:off x="6438900" y="4325112"/>
            <a:ext cx="4747260" cy="274320"/>
          </a:xfrm>
          <a:prstGeom prst="rect">
            <a:avLst/>
          </a:prstGeom>
          <a:noFill/>
          <a:ln/>
        </p:spPr>
        <p:txBody>
          <a:bodyPr wrap="square" lIns="0" tIns="0" rIns="0" bIns="0" rtlCol="0" anchor="ctr"/>
          <a:lstStyle/>
          <a:p>
            <a:pPr indent="0" marL="0">
              <a:buNone/>
            </a:pPr>
            <a:r>
              <a:rPr lang="en-US" sz="1100" dirty="0">
                <a:solidFill>
                  <a:srgbClr val="2338FF"/>
                </a:solidFill>
                <a:latin typeface="JetBrains Mono" pitchFamily="34" charset="0"/>
                <a:ea typeface="JetBrains Mono" pitchFamily="34" charset="-122"/>
                <a:cs typeface="JetBrains Mono" pitchFamily="34" charset="-120"/>
              </a:rPr>
              <a:t>UPGRADE</a:t>
            </a:r>
            <a:endParaRPr lang="en-US" sz="1100" dirty="0"/>
          </a:p>
        </p:txBody>
      </p:sp>
      <p:sp>
        <p:nvSpPr>
          <p:cNvPr id="21" name="Text 18"/>
          <p:cNvSpPr/>
          <p:nvPr/>
        </p:nvSpPr>
        <p:spPr>
          <a:xfrm>
            <a:off x="6438900" y="4718304"/>
            <a:ext cx="4747260" cy="365760"/>
          </a:xfrm>
          <a:prstGeom prst="rect">
            <a:avLst/>
          </a:prstGeom>
          <a:noFill/>
          <a:ln/>
        </p:spPr>
        <p:txBody>
          <a:bodyPr wrap="square" lIns="0" tIns="0" rIns="0" bIns="0" rtlCol="0" anchor="ctr"/>
          <a:lstStyle/>
          <a:p>
            <a:pPr indent="0" marL="0">
              <a:buNone/>
            </a:pPr>
            <a:r>
              <a:rPr lang="en-US" sz="2300" dirty="0">
                <a:solidFill>
                  <a:srgbClr val="131725"/>
                </a:solidFill>
                <a:latin typeface="DM Sans" pitchFamily="34" charset="0"/>
                <a:ea typeface="DM Sans" pitchFamily="34" charset="-122"/>
                <a:cs typeface="DM Sans" pitchFamily="34" charset="-120"/>
              </a:rPr>
              <a:t>Treat cursors carefully.</a:t>
            </a:r>
            <a:endParaRPr lang="en-US" sz="2300" dirty="0"/>
          </a:p>
        </p:txBody>
      </p:sp>
      <p:sp>
        <p:nvSpPr>
          <p:cNvPr id="22" name="Text 19"/>
          <p:cNvSpPr/>
          <p:nvPr/>
        </p:nvSpPr>
        <p:spPr>
          <a:xfrm>
            <a:off x="6438900" y="5138928"/>
            <a:ext cx="4747260" cy="530352"/>
          </a:xfrm>
          <a:prstGeom prst="rect">
            <a:avLst/>
          </a:prstGeom>
          <a:noFill/>
          <a:ln/>
        </p:spPr>
        <p:txBody>
          <a:bodyPr wrap="square" lIns="0" tIns="0" rIns="0" bIns="0" rtlCol="0" anchor="ctr"/>
          <a:lstStyle/>
          <a:p>
            <a:pPr indent="0" marL="0">
              <a:buNone/>
            </a:pPr>
            <a:r>
              <a:rPr lang="en-US" sz="1500" dirty="0">
                <a:solidFill>
                  <a:srgbClr val="69738B"/>
                </a:solidFill>
                <a:latin typeface="DM Sans" pitchFamily="34" charset="0"/>
                <a:ea typeface="DM Sans" pitchFamily="34" charset="-122"/>
                <a:cs typeface="DM Sans" pitchFamily="34" charset="-120"/>
              </a:rPr>
              <a:t>Version local state. Rebuild if query semantics change.</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8"/>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69738B"/>
                </a:solidFill>
                <a:latin typeface="JetBrains Mono" pitchFamily="34" charset="0"/>
                <a:ea typeface="JetBrains Mono" pitchFamily="34" charset="-122"/>
                <a:cs typeface="JetBrains Mono" pitchFamily="34" charset="-120"/>
              </a:rPr>
              <a:t>[ STUDENT CHALLENGE ]</a:t>
            </a:r>
            <a:endParaRPr lang="en-US" sz="1000" dirty="0"/>
          </a:p>
        </p:txBody>
      </p:sp>
      <p:sp>
        <p:nvSpPr>
          <p:cNvPr id="3" name="Text 1"/>
          <p:cNvSpPr/>
          <p:nvPr/>
        </p:nvSpPr>
        <p:spPr>
          <a:xfrm>
            <a:off x="777240" y="932688"/>
            <a:ext cx="10637520" cy="1143000"/>
          </a:xfrm>
          <a:prstGeom prst="rect">
            <a:avLst/>
          </a:prstGeom>
          <a:noFill/>
          <a:ln/>
        </p:spPr>
        <p:txBody>
          <a:bodyPr wrap="square" lIns="0" tIns="0" rIns="0" bIns="0" rtlCol="0" anchor="ctr"/>
          <a:lstStyle/>
          <a:p>
            <a:pPr indent="0" marL="0">
              <a:buNone/>
            </a:pPr>
            <a:r>
              <a:rPr lang="en-US" sz="3700" dirty="0">
                <a:solidFill>
                  <a:srgbClr val="131725"/>
                </a:solidFill>
                <a:latin typeface="DM Sans" pitchFamily="34" charset="0"/>
                <a:ea typeface="DM Sans" pitchFamily="34" charset="-122"/>
                <a:cs typeface="DM Sans" pitchFamily="34" charset="-120"/>
              </a:rPr>
              <a:t>Your turn: prove all four.</a:t>
            </a:r>
            <a:endParaRPr lang="en-US" sz="3700" dirty="0"/>
          </a:p>
        </p:txBody>
      </p:sp>
      <p:sp>
        <p:nvSpPr>
          <p:cNvPr id="4" name="Text 2"/>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69738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5" name="Text 3"/>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69738B"/>
                </a:solidFill>
                <a:latin typeface="JetBrains Mono" pitchFamily="34" charset="0"/>
                <a:ea typeface="JetBrains Mono" pitchFamily="34" charset="-122"/>
                <a:cs typeface="JetBrains Mono" pitchFamily="34" charset="-120"/>
              </a:rPr>
              <a:t>29</a:t>
            </a:r>
            <a:endParaRPr lang="en-US" sz="1000" dirty="0"/>
          </a:p>
        </p:txBody>
      </p:sp>
      <p:sp>
        <p:nvSpPr>
          <p:cNvPr id="7" name="Shape 4"/>
          <p:cNvSpPr/>
          <p:nvPr/>
        </p:nvSpPr>
        <p:spPr>
          <a:xfrm>
            <a:off x="777240" y="2606040"/>
            <a:ext cx="2474214" cy="2468880"/>
          </a:xfrm>
          <a:prstGeom prst="rect">
            <a:avLst/>
          </a:prstGeom>
          <a:solidFill>
            <a:srgbClr val="FFFFFF"/>
          </a:solidFill>
          <a:ln w="12700">
            <a:solidFill>
              <a:srgbClr val="FFFFFF">
                <a:alpha val="0"/>
              </a:srgbClr>
            </a:solidFill>
            <a:prstDash val="solid"/>
          </a:ln>
        </p:spPr>
      </p:sp>
      <p:sp>
        <p:nvSpPr>
          <p:cNvPr id="8" name="Text 5"/>
          <p:cNvSpPr/>
          <p:nvPr/>
        </p:nvSpPr>
        <p:spPr>
          <a:xfrm>
            <a:off x="978408"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01</a:t>
            </a:r>
            <a:endParaRPr lang="en-US" sz="1300" dirty="0"/>
          </a:p>
        </p:txBody>
      </p:sp>
      <p:sp>
        <p:nvSpPr>
          <p:cNvPr id="9" name="Text 6"/>
          <p:cNvSpPr/>
          <p:nvPr/>
        </p:nvSpPr>
        <p:spPr>
          <a:xfrm>
            <a:off x="978408"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Isolation</a:t>
            </a:r>
            <a:endParaRPr lang="en-US" sz="2500" dirty="0"/>
          </a:p>
        </p:txBody>
      </p:sp>
      <p:sp>
        <p:nvSpPr>
          <p:cNvPr id="10" name="Text 7"/>
          <p:cNvSpPr/>
          <p:nvPr/>
        </p:nvSpPr>
        <p:spPr>
          <a:xfrm>
            <a:off x="978408"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Two browsers show different shops</a:t>
            </a:r>
            <a:endParaRPr lang="en-US" sz="1600" dirty="0"/>
          </a:p>
        </p:txBody>
      </p:sp>
      <p:sp>
        <p:nvSpPr>
          <p:cNvPr id="11" name="Shape 8"/>
          <p:cNvSpPr/>
          <p:nvPr/>
        </p:nvSpPr>
        <p:spPr>
          <a:xfrm>
            <a:off x="3498342" y="2606040"/>
            <a:ext cx="2474214" cy="2468880"/>
          </a:xfrm>
          <a:prstGeom prst="rect">
            <a:avLst/>
          </a:prstGeom>
          <a:solidFill>
            <a:srgbClr val="FFFFFF"/>
          </a:solidFill>
          <a:ln w="12700">
            <a:solidFill>
              <a:srgbClr val="FFFFFF">
                <a:alpha val="0"/>
              </a:srgbClr>
            </a:solidFill>
            <a:prstDash val="solid"/>
          </a:ln>
        </p:spPr>
      </p:sp>
      <p:sp>
        <p:nvSpPr>
          <p:cNvPr id="12" name="Text 9"/>
          <p:cNvSpPr/>
          <p:nvPr/>
        </p:nvSpPr>
        <p:spPr>
          <a:xfrm>
            <a:off x="3699510"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02</a:t>
            </a:r>
            <a:endParaRPr lang="en-US" sz="1300" dirty="0"/>
          </a:p>
        </p:txBody>
      </p:sp>
      <p:sp>
        <p:nvSpPr>
          <p:cNvPr id="13" name="Text 10"/>
          <p:cNvSpPr/>
          <p:nvPr/>
        </p:nvSpPr>
        <p:spPr>
          <a:xfrm>
            <a:off x="3699510"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Payment</a:t>
            </a:r>
            <a:endParaRPr lang="en-US" sz="2500" dirty="0"/>
          </a:p>
        </p:txBody>
      </p:sp>
      <p:sp>
        <p:nvSpPr>
          <p:cNvPr id="14" name="Text 11"/>
          <p:cNvSpPr/>
          <p:nvPr/>
        </p:nvSpPr>
        <p:spPr>
          <a:xfrm>
            <a:off x="3699510"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A receipt matches a real digest</a:t>
            </a:r>
            <a:endParaRPr lang="en-US" sz="1600" dirty="0"/>
          </a:p>
        </p:txBody>
      </p:sp>
      <p:sp>
        <p:nvSpPr>
          <p:cNvPr id="15" name="Shape 12"/>
          <p:cNvSpPr/>
          <p:nvPr/>
        </p:nvSpPr>
        <p:spPr>
          <a:xfrm>
            <a:off x="6219444" y="2606040"/>
            <a:ext cx="2474214" cy="2468880"/>
          </a:xfrm>
          <a:prstGeom prst="rect">
            <a:avLst/>
          </a:prstGeom>
          <a:solidFill>
            <a:srgbClr val="FFFFFF"/>
          </a:solidFill>
          <a:ln w="12700">
            <a:solidFill>
              <a:srgbClr val="FFFFFF">
                <a:alpha val="0"/>
              </a:srgbClr>
            </a:solidFill>
            <a:prstDash val="solid"/>
          </a:ln>
        </p:spPr>
      </p:sp>
      <p:sp>
        <p:nvSpPr>
          <p:cNvPr id="16" name="Text 13"/>
          <p:cNvSpPr/>
          <p:nvPr/>
        </p:nvSpPr>
        <p:spPr>
          <a:xfrm>
            <a:off x="6420612" y="2816352"/>
            <a:ext cx="2071878" cy="320040"/>
          </a:xfrm>
          <a:prstGeom prst="rect">
            <a:avLst/>
          </a:prstGeom>
          <a:noFill/>
          <a:ln/>
        </p:spPr>
        <p:txBody>
          <a:bodyPr wrap="square" lIns="0" tIns="0" rIns="0" bIns="0" rtlCol="0" anchor="ctr"/>
          <a:lstStyle/>
          <a:p>
            <a:pPr indent="0" marL="0">
              <a:buNone/>
            </a:pPr>
            <a:r>
              <a:rPr lang="en-US" sz="1300" dirty="0">
                <a:solidFill>
                  <a:srgbClr val="2338FF"/>
                </a:solidFill>
                <a:latin typeface="JetBrains Mono" pitchFamily="34" charset="0"/>
                <a:ea typeface="JetBrains Mono" pitchFamily="34" charset="-122"/>
                <a:cs typeface="JetBrains Mono" pitchFamily="34" charset="-120"/>
              </a:rPr>
              <a:t>03</a:t>
            </a:r>
            <a:endParaRPr lang="en-US" sz="1300" dirty="0"/>
          </a:p>
        </p:txBody>
      </p:sp>
      <p:sp>
        <p:nvSpPr>
          <p:cNvPr id="17" name="Text 14"/>
          <p:cNvSpPr/>
          <p:nvPr/>
        </p:nvSpPr>
        <p:spPr>
          <a:xfrm>
            <a:off x="6420612" y="3429000"/>
            <a:ext cx="2071878" cy="594360"/>
          </a:xfrm>
          <a:prstGeom prst="rect">
            <a:avLst/>
          </a:prstGeom>
          <a:noFill/>
          <a:ln/>
        </p:spPr>
        <p:txBody>
          <a:bodyPr wrap="square" lIns="0" tIns="0" rIns="0" bIns="0" rtlCol="0" anchor="ctr"/>
          <a:lstStyle/>
          <a:p>
            <a:pPr indent="0" marL="0">
              <a:buNone/>
            </a:pPr>
            <a:r>
              <a:rPr lang="en-US" sz="2500" dirty="0">
                <a:solidFill>
                  <a:srgbClr val="131725"/>
                </a:solidFill>
                <a:latin typeface="DM Sans" pitchFamily="34" charset="0"/>
                <a:ea typeface="DM Sans" pitchFamily="34" charset="-122"/>
                <a:cs typeface="DM Sans" pitchFamily="34" charset="-120"/>
              </a:rPr>
              <a:t>Recovery</a:t>
            </a:r>
            <a:endParaRPr lang="en-US" sz="2500" dirty="0"/>
          </a:p>
        </p:txBody>
      </p:sp>
      <p:sp>
        <p:nvSpPr>
          <p:cNvPr id="18" name="Text 15"/>
          <p:cNvSpPr/>
          <p:nvPr/>
        </p:nvSpPr>
        <p:spPr>
          <a:xfrm>
            <a:off x="6420612" y="4114800"/>
            <a:ext cx="2071878" cy="768096"/>
          </a:xfrm>
          <a:prstGeom prst="rect">
            <a:avLst/>
          </a:prstGeom>
          <a:noFill/>
          <a:ln/>
        </p:spPr>
        <p:txBody>
          <a:bodyPr wrap="square" lIns="0" tIns="0" rIns="0" bIns="0" rtlCol="0" anchor="ctr"/>
          <a:lstStyle/>
          <a:p>
            <a:pPr indent="0" marL="0">
              <a:buNone/>
            </a:pPr>
            <a:r>
              <a:rPr lang="en-US" sz="1600" dirty="0">
                <a:solidFill>
                  <a:srgbClr val="69738B"/>
                </a:solidFill>
                <a:latin typeface="DM Sans" pitchFamily="34" charset="0"/>
                <a:ea typeface="DM Sans" pitchFamily="34" charset="-122"/>
                <a:cs typeface="DM Sans" pitchFamily="34" charset="-120"/>
              </a:rPr>
              <a:t>Pause, pay, resume and reload</a:t>
            </a:r>
            <a:endParaRPr lang="en-US" sz="1600" dirty="0"/>
          </a:p>
        </p:txBody>
      </p:sp>
      <p:sp>
        <p:nvSpPr>
          <p:cNvPr id="19" name="Shape 16"/>
          <p:cNvSpPr/>
          <p:nvPr/>
        </p:nvSpPr>
        <p:spPr>
          <a:xfrm>
            <a:off x="8940546" y="2606040"/>
            <a:ext cx="2474214" cy="2468880"/>
          </a:xfrm>
          <a:prstGeom prst="rect">
            <a:avLst/>
          </a:prstGeom>
          <a:solidFill>
            <a:srgbClr val="2338FF"/>
          </a:solidFill>
          <a:ln w="12700">
            <a:solidFill>
              <a:srgbClr val="2338FF">
                <a:alpha val="0"/>
              </a:srgbClr>
            </a:solidFill>
            <a:prstDash val="solid"/>
          </a:ln>
        </p:spPr>
      </p:sp>
      <p:sp>
        <p:nvSpPr>
          <p:cNvPr id="20" name="Text 17"/>
          <p:cNvSpPr/>
          <p:nvPr/>
        </p:nvSpPr>
        <p:spPr>
          <a:xfrm>
            <a:off x="9141714" y="2816352"/>
            <a:ext cx="2071878" cy="320040"/>
          </a:xfrm>
          <a:prstGeom prst="rect">
            <a:avLst/>
          </a:prstGeom>
          <a:noFill/>
          <a:ln/>
        </p:spPr>
        <p:txBody>
          <a:bodyPr wrap="square" lIns="0" tIns="0" rIns="0" bIns="0" rtlCol="0" anchor="ctr"/>
          <a:lstStyle/>
          <a:p>
            <a:pPr indent="0" marL="0">
              <a:buNone/>
            </a:pPr>
            <a:r>
              <a:rPr lang="en-US" sz="1300" dirty="0">
                <a:solidFill>
                  <a:srgbClr val="C4CEFF"/>
                </a:solidFill>
                <a:latin typeface="JetBrains Mono" pitchFamily="34" charset="0"/>
                <a:ea typeface="JetBrains Mono" pitchFamily="34" charset="-122"/>
                <a:cs typeface="JetBrains Mono" pitchFamily="34" charset="-120"/>
              </a:rPr>
              <a:t>04</a:t>
            </a:r>
            <a:endParaRPr lang="en-US" sz="1300" dirty="0"/>
          </a:p>
        </p:txBody>
      </p:sp>
      <p:sp>
        <p:nvSpPr>
          <p:cNvPr id="21" name="Text 18"/>
          <p:cNvSpPr/>
          <p:nvPr/>
        </p:nvSpPr>
        <p:spPr>
          <a:xfrm>
            <a:off x="9141714" y="3429000"/>
            <a:ext cx="2071878" cy="594360"/>
          </a:xfrm>
          <a:prstGeom prst="rect">
            <a:avLst/>
          </a:prstGeom>
          <a:noFill/>
          <a:ln/>
        </p:spPr>
        <p:txBody>
          <a:bodyPr wrap="square" lIns="0" tIns="0" rIns="0" bIns="0" rtlCol="0" anchor="ctr"/>
          <a:lstStyle/>
          <a:p>
            <a:pPr indent="0" marL="0">
              <a:buNone/>
            </a:pPr>
            <a:r>
              <a:rPr lang="en-US" sz="2500" dirty="0">
                <a:solidFill>
                  <a:srgbClr val="FFFFFF"/>
                </a:solidFill>
                <a:latin typeface="DM Sans" pitchFamily="34" charset="0"/>
                <a:ea typeface="DM Sans" pitchFamily="34" charset="-122"/>
                <a:cs typeface="DM Sans" pitchFamily="34" charset="-120"/>
              </a:rPr>
              <a:t>History</a:t>
            </a:r>
            <a:endParaRPr lang="en-US" sz="2500" dirty="0"/>
          </a:p>
        </p:txBody>
      </p:sp>
      <p:sp>
        <p:nvSpPr>
          <p:cNvPr id="22" name="Text 19"/>
          <p:cNvSpPr/>
          <p:nvPr/>
        </p:nvSpPr>
        <p:spPr>
          <a:xfrm>
            <a:off x="9141714" y="4114800"/>
            <a:ext cx="2071878" cy="768096"/>
          </a:xfrm>
          <a:prstGeom prst="rect">
            <a:avLst/>
          </a:prstGeom>
          <a:noFill/>
          <a:ln/>
        </p:spPr>
        <p:txBody>
          <a:bodyPr wrap="square" lIns="0" tIns="0" rIns="0" bIns="0" rtlCol="0" anchor="ctr"/>
          <a:lstStyle/>
          <a:p>
            <a:pPr indent="0" marL="0">
              <a:buNone/>
            </a:pPr>
            <a:r>
              <a:rPr lang="en-US" sz="1600" dirty="0">
                <a:solidFill>
                  <a:srgbClr val="D4DCFF"/>
                </a:solidFill>
                <a:latin typeface="DM Sans" pitchFamily="34" charset="0"/>
                <a:ea typeface="DM Sans" pitchFamily="34" charset="-122"/>
                <a:cs typeface="DM Sans" pitchFamily="34" charset="-120"/>
              </a:rPr>
              <a:t>Find the October 2025 receipt</a:t>
            </a:r>
            <a:endParaRPr lang="en-US" sz="1600" dirty="0"/>
          </a:p>
        </p:txBody>
      </p:sp>
      <p:sp>
        <p:nvSpPr>
          <p:cNvPr id="23" name="Text 20"/>
          <p:cNvSpPr/>
          <p:nvPr/>
        </p:nvSpPr>
        <p:spPr>
          <a:xfrm>
            <a:off x="777240" y="5468112"/>
            <a:ext cx="10515600" cy="502920"/>
          </a:xfrm>
          <a:prstGeom prst="rect">
            <a:avLst/>
          </a:prstGeom>
          <a:noFill/>
          <a:ln/>
        </p:spPr>
        <p:txBody>
          <a:bodyPr wrap="square" lIns="0" tIns="0" rIns="0" bIns="0" rtlCol="0" anchor="ctr"/>
          <a:lstStyle/>
          <a:p>
            <a:pPr indent="0" marL="0">
              <a:buNone/>
            </a:pPr>
            <a:r>
              <a:rPr lang="en-US" sz="2000" dirty="0">
                <a:solidFill>
                  <a:srgbClr val="69738B"/>
                </a:solidFill>
                <a:latin typeface="DM Sans" pitchFamily="34" charset="0"/>
                <a:ea typeface="DM Sans" pitchFamily="34" charset="-122"/>
                <a:cs typeface="DM Sans" pitchFamily="34" charset="-120"/>
              </a:rPr>
              <a:t>Explain why the payer can lose slightly more SUI than the shop receives.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80F"/>
        </a:solidFill>
      </p:bgPr>
    </p:bg>
    <p:spTree>
      <p:nvGrpSpPr>
        <p:cNvPr id="1" name=""/>
        <p:cNvGrpSpPr/>
        <p:nvPr/>
      </p:nvGrpSpPr>
      <p:grpSpPr>
        <a:xfrm>
          <a:off x="0" y="0"/>
          <a:ext cx="0" cy="0"/>
          <a:chOff x="0" y="0"/>
          <a:chExt cx="0" cy="0"/>
        </a:xfrm>
      </p:grpSpPr>
      <p:sp>
        <p:nvSpPr>
          <p:cNvPr id="2" name="Text 0"/>
          <p:cNvSpPr/>
          <p:nvPr/>
        </p:nvSpPr>
        <p:spPr>
          <a:xfrm>
            <a:off x="777240" y="502920"/>
            <a:ext cx="10637520" cy="274320"/>
          </a:xfrm>
          <a:prstGeom prst="rect">
            <a:avLst/>
          </a:prstGeom>
          <a:noFill/>
          <a:ln/>
        </p:spPr>
        <p:txBody>
          <a:bodyPr wrap="square" lIns="0" tIns="0" rIns="0" bIns="0" rtlCol="0" anchor="ctr"/>
          <a:lstStyle/>
          <a:p>
            <a:pPr indent="0" marL="0">
              <a:buNone/>
            </a:pPr>
            <a:r>
              <a:rPr lang="en-US" sz="1000" spc="150" kern="0" dirty="0">
                <a:solidFill>
                  <a:srgbClr val="ACB8DB"/>
                </a:solidFill>
                <a:latin typeface="JetBrains Mono" pitchFamily="34" charset="0"/>
                <a:ea typeface="JetBrains Mono" pitchFamily="34" charset="-122"/>
                <a:cs typeface="JetBrains Mono" pitchFamily="34" charset="-120"/>
              </a:rPr>
              <a:t>[ TAKE IT WITH YOU ]</a:t>
            </a:r>
            <a:endParaRPr lang="en-US" sz="1000" dirty="0"/>
          </a:p>
        </p:txBody>
      </p:sp>
      <p:sp>
        <p:nvSpPr>
          <p:cNvPr id="3" name="Text 1"/>
          <p:cNvSpPr/>
          <p:nvPr/>
        </p:nvSpPr>
        <p:spPr>
          <a:xfrm>
            <a:off x="777240" y="6437376"/>
            <a:ext cx="7315200" cy="182880"/>
          </a:xfrm>
          <a:prstGeom prst="rect">
            <a:avLst/>
          </a:prstGeom>
          <a:noFill/>
          <a:ln/>
        </p:spPr>
        <p:txBody>
          <a:bodyPr wrap="square" lIns="0" tIns="0" rIns="0" bIns="0" rtlCol="0" anchor="ctr"/>
          <a:lstStyle/>
          <a:p>
            <a:pPr indent="0" marL="0">
              <a:buNone/>
            </a:pPr>
            <a:r>
              <a:rPr lang="en-US" sz="800" spc="100" kern="0" dirty="0">
                <a:solidFill>
                  <a:srgbClr val="ACB8DB"/>
                </a:solidFill>
                <a:latin typeface="JetBrains Mono" pitchFamily="34" charset="0"/>
                <a:ea typeface="JetBrains Mono" pitchFamily="34" charset="-122"/>
                <a:cs typeface="JetBrains Mono" pitchFamily="34" charset="-120"/>
              </a:rPr>
              <a:t>SUIHUB LAGOS / ACCOUNT LAYER WEEK</a:t>
            </a:r>
            <a:endParaRPr lang="en-US" sz="800" dirty="0"/>
          </a:p>
        </p:txBody>
      </p:sp>
      <p:sp>
        <p:nvSpPr>
          <p:cNvPr id="4" name="Text 2"/>
          <p:cNvSpPr/>
          <p:nvPr/>
        </p:nvSpPr>
        <p:spPr>
          <a:xfrm>
            <a:off x="10698480" y="6419088"/>
            <a:ext cx="685800" cy="210312"/>
          </a:xfrm>
          <a:prstGeom prst="rect">
            <a:avLst/>
          </a:prstGeom>
          <a:noFill/>
          <a:ln/>
        </p:spPr>
        <p:txBody>
          <a:bodyPr wrap="square" lIns="0" tIns="0" rIns="0" bIns="0" rtlCol="0" anchor="ctr"/>
          <a:lstStyle/>
          <a:p>
            <a:pPr algn="r" indent="0" marL="0">
              <a:buNone/>
            </a:pPr>
            <a:r>
              <a:rPr lang="en-US" sz="1000" dirty="0">
                <a:solidFill>
                  <a:srgbClr val="ACB8DB"/>
                </a:solidFill>
                <a:latin typeface="JetBrains Mono" pitchFamily="34" charset="0"/>
                <a:ea typeface="JetBrains Mono" pitchFamily="34" charset="-122"/>
                <a:cs typeface="JetBrains Mono" pitchFamily="34" charset="-120"/>
              </a:rPr>
              <a:t>30</a:t>
            </a:r>
            <a:endParaRPr lang="en-US" sz="1000" dirty="0"/>
          </a:p>
        </p:txBody>
      </p:sp>
      <p:sp>
        <p:nvSpPr>
          <p:cNvPr id="6" name="Text 3"/>
          <p:cNvSpPr/>
          <p:nvPr/>
        </p:nvSpPr>
        <p:spPr>
          <a:xfrm>
            <a:off x="777240" y="1508760"/>
            <a:ext cx="10515600" cy="2286000"/>
          </a:xfrm>
          <a:prstGeom prst="rect">
            <a:avLst/>
          </a:prstGeom>
          <a:noFill/>
          <a:ln/>
        </p:spPr>
        <p:txBody>
          <a:bodyPr wrap="square" lIns="0" tIns="0" rIns="0" bIns="0" rtlCol="0" anchor="ctr"/>
          <a:lstStyle/>
          <a:p>
            <a:pPr indent="0" marL="0">
              <a:buNone/>
            </a:pPr>
            <a:r>
              <a:rPr lang="en-US" sz="6200" dirty="0">
                <a:solidFill>
                  <a:srgbClr val="FFFFFF"/>
                </a:solidFill>
                <a:latin typeface="DM Sans" pitchFamily="34" charset="0"/>
                <a:ea typeface="DM Sans" pitchFamily="34" charset="-122"/>
                <a:cs typeface="DM Sans" pitchFamily="34" charset="-120"/>
              </a:rPr>
              <a:t>Make it live.</a:t>
            </a:r>
            <a:endParaRPr lang="en-US" sz="6200" dirty="0"/>
          </a:p>
          <a:p>
            <a:pPr indent="0" marL="0">
              <a:buNone/>
            </a:pPr>
            <a:r>
              <a:rPr lang="en-US" sz="6200" dirty="0">
                <a:solidFill>
                  <a:srgbClr val="FFFFFF"/>
                </a:solidFill>
                <a:latin typeface="DM Sans" pitchFamily="34" charset="0"/>
                <a:ea typeface="DM Sans" pitchFamily="34" charset="-122"/>
                <a:cs typeface="DM Sans" pitchFamily="34" charset="-120"/>
              </a:rPr>
              <a:t>Make it recover.</a:t>
            </a:r>
            <a:endParaRPr lang="en-US" sz="6200" dirty="0"/>
          </a:p>
        </p:txBody>
      </p:sp>
      <p:sp>
        <p:nvSpPr>
          <p:cNvPr id="7" name="Text 4">
            <a:hlinkClick r:id="rId1" tooltip=""/>
          </p:cNvPr>
          <p:cNvSpPr/>
          <p:nvPr/>
        </p:nvSpPr>
        <p:spPr>
          <a:xfrm>
            <a:off x="777240" y="4297680"/>
            <a:ext cx="10515600" cy="548640"/>
          </a:xfrm>
          <a:prstGeom prst="rect">
            <a:avLst/>
          </a:prstGeom>
          <a:noFill/>
          <a:ln/>
        </p:spPr>
        <p:txBody>
          <a:bodyPr wrap="square" lIns="0" tIns="0" rIns="0" bIns="0" rtlCol="0" anchor="ctr"/>
          <a:lstStyle/>
          <a:p>
            <a:pPr indent="0" marL="0">
              <a:buNone/>
            </a:pPr>
            <a:r>
              <a:rPr lang="en-US" sz="2900" u="sng" dirty="0">
                <a:solidFill>
                  <a:srgbClr val="9DADFF"/>
                </a:solidFill>
                <a:latin typeface="DM Sans" pitchFamily="34" charset="0"/>
                <a:ea typeface="DM Sans" pitchFamily="34" charset="-122"/>
                <a:cs typeface="DM Sans"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day3-till.vercel.app</a:t>
            </a:r>
            <a:endParaRPr lang="en-US" sz="2900" dirty="0"/>
          </a:p>
        </p:txBody>
      </p:sp>
      <p:sp>
        <p:nvSpPr>
          <p:cNvPr id="8" name="Text 5">
            <a:hlinkClick r:id="rId2" tooltip=""/>
          </p:cNvPr>
          <p:cNvSpPr/>
          <p:nvPr/>
        </p:nvSpPr>
        <p:spPr>
          <a:xfrm>
            <a:off x="777240" y="5010912"/>
            <a:ext cx="10515600" cy="384048"/>
          </a:xfrm>
          <a:prstGeom prst="rect">
            <a:avLst/>
          </a:prstGeom>
          <a:noFill/>
          <a:ln/>
        </p:spPr>
        <p:txBody>
          <a:bodyPr wrap="square" lIns="0" tIns="0" rIns="0" bIns="0" rtlCol="0" anchor="ctr"/>
          <a:lstStyle/>
          <a:p>
            <a:pPr indent="0" marL="0">
              <a:buNone/>
            </a:pPr>
            <a:r>
              <a:rPr lang="en-US" sz="1900" u="sng" dirty="0">
                <a:solidFill>
                  <a:srgbClr val="ACB8DB"/>
                </a:solidFill>
                <a:latin typeface="DM Sans" pitchFamily="34" charset="0"/>
                <a:ea typeface="DM Sans" pitchFamily="34" charset="-122"/>
                <a:cs typeface="DM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github.com/Nuel-osas/day3-till</a:t>
            </a:r>
            <a:endParaRPr lang="en-US" sz="1900" dirty="0"/>
          </a:p>
        </p:txBody>
      </p:sp>
      <p:sp>
        <p:nvSpPr>
          <p:cNvPr id="9" name="Text 6"/>
          <p:cNvSpPr/>
          <p:nvPr/>
        </p:nvSpPr>
        <p:spPr>
          <a:xfrm>
            <a:off x="777240" y="5833872"/>
            <a:ext cx="10515600" cy="228600"/>
          </a:xfrm>
          <a:prstGeom prst="rect">
            <a:avLst/>
          </a:prstGeom>
          <a:noFill/>
          <a:ln/>
        </p:spPr>
        <p:txBody>
          <a:bodyPr wrap="square" lIns="0" tIns="0" rIns="0" bIns="0" rtlCol="0" anchor="ctr"/>
          <a:lstStyle/>
          <a:p>
            <a:pPr indent="0" marL="0">
              <a:buNone/>
            </a:pPr>
            <a:r>
              <a:rPr lang="en-US" sz="1100" dirty="0">
                <a:solidFill>
                  <a:srgbClr val="ACB8DB"/>
                </a:solidFill>
                <a:latin typeface="JetBrains Mono" pitchFamily="34" charset="0"/>
                <a:ea typeface="JetBrains Mono" pitchFamily="34" charset="-122"/>
                <a:cs typeface="JetBrains Mono" pitchFamily="34" charset="-120"/>
              </a:rPr>
              <a:t>YOUR NEXT BUILD / A LIVE FEED WITH A MEMORY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SuiHub Lagos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Sui | Till Lab</dc:title>
  <dc:subject>Account Layer Week, Day 3</dc:subject>
  <dc:creator>Ruru | SuiHub Lagos</dc:creator>
  <cp:lastModifiedBy>Ruru | SuiHub Lagos</cp:lastModifiedBy>
  <cp:revision>1</cp:revision>
  <dcterms:created xsi:type="dcterms:W3CDTF">2026-10-15T17:21:47Z</dcterms:created>
  <dcterms:modified xsi:type="dcterms:W3CDTF">2026-10-15T17:21:47Z</dcterms:modified>
</cp:coreProperties>
</file>
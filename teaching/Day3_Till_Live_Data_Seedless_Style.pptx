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build Till: a live payments screen. Days 1 and 2 dealt with identity and permission. Day 3 makes the resulting activity visible. Start by opening the live app; everyone will get a personal payer and a personal shop. All payments in this class use Sui testnet. No Move deployment is required for Till.
Today’s route: choose a data layer, subscribe, send a payment, pause and recover, persist receipts, find history and migrate a legacy call. The demo is observation, not an allowance or a recurring-payment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https://day3-till.vercel.app. Explain the visual hierarchy: personal payer and shop, money flow, stream status, payment feed, test payment controls. The app uses real testnet transactions. A green receipt is created from an indexed successful positive net balance change to the watched shop. The balance cards read gRPC independently of the subscription.
Class setup: choose Demo payer or My wallet, get test SUI for the payer, and open the till before sending. Browser keys stay local and each payer has a separate receiving shop. The shop needs no gas to receive. A connected wallet signs on sui:testnet. Keep the app open while teaching; the next screenshots refer to these same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 serves the full node interface, including transaction execution. GraphQL is an indexed service with expressive selections and subscriptions. Archival storage keeps history beyond a node retention window; an arbitrary gRPC endpoint does not automatically query it. A custom indexer owns a derived model in your database. Source: https://docs.sui.io/develop/accessing-data/graphql/graphql-rpc
Choose by workload: wallets use gRPC plus GraphQL activity history; shops use subscriptions plus a small writer; games execute through gRPC and stream domain events; analytics use a checkpoint indexer. SQLite or Postgres can keep a focused feed. Use the Rust indexing framework for checkpoint backfills, parallel transformations, schema ownership and reprocessing at chain scale. Source: https://docs.sui.io/concepts/custom-indexing-framework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actual subscription in the repository. affectedAddress narrows candidates to this shop. after is a stream cursor; afterCheckpoint establishes an opening boundary when there is no cursor yet. The payload includes only the fields used to derive receipts. Balance changes are bounded to 50 here, sufficient for the small demo transactions but not a universal accounting guarantee. Source: live schema introspection, 15 October 2026; https://github.com/MystenLabs/sui/blob/main/crates/sui-indexer-alt-graphql/schema.graphql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Transactions, events and checkpoints are the subscription roots. Transaction filters also include function, kind, afterCheckpoint, atCheckpoint and beforeCheckpoint. Events accept sender, module, type and checkpoint boundaries. POST { query, variables } to /graphql/subscriptions with Accept: text/event-stream. This is not a websocket. The shared src/lib/sse.ts parser handles keepalive comments, split CRLF frames, multiline data and empty complete events. GraphQL errors can arrive inside HTTP 200 and must trigger failure/retry, not a false Live state. Sources: live schema checked 15 October 2026; https://github.com/MystenLabs/sui/blob/main/crates/sui-indexer-alt-graphql/schema.graphql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both balances before and after a transfer. The payer’s net debit includes gas; it need not equal exactly the payment. The shop receives the payment amount. Both cards include coin-object balances and address balances. Their latest change is measured between gRPC reads, so concurrent activity can affect it. The app labels the delta as latest change, not exact transaction accounting.
Live demo: wait for Live, send 0.01 test SUI, then inspect the feed and View receipt. Confirmation can precede GraphQL indexing. The receipt requires SUCCESS and a positive net balance change to the shop; sum each coin with BigInt before formatting. Outgoing transfers and failures are not sales. The class screenshot payment is 9dc36To1WB6PxSqHFyzbsYGSMtJ7JBVDSfuxkxnNUksv on testnet.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recovered tag is assigned to a payment whose chain timestamp predates the connection start. It is an instructional approximation using browser time, not a protocol flag. The important assertions are the transaction digest appearing once and the totals remaining correct. Refresh the page, click Open till again, and show that replay does not duplicate the already stored payment.
Live exercise: click Pause feed, send another payment, then Resume feed. This aborts only the subscription; chain activity and independent balance reads continue. After recovery, refresh the page and reopen the till. Ask the class to check that the digest appears once and the total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app could miss a payment if it disconnected before its first matching delivery: no cursor had been saved. The upgraded app captures the latest indexed checkpoint before opening the stream and persists it. When there is no cursor, it sends afterCheckpoint. Once a cursor exists, after takes over. Do not parse or manufacture a cursor; treat it as opaque and keep it scoped to the shop and query.
Persist each cursor together with its receipts in one versioned per-shop snapshot. Advancing the cursor first could lose a receipt on a crash. Deduplicate by digest plus normalized coin type. The browser list retains at most 500 records, so it is not a complete ledger. Ordering follows checkpoint, transaction position and, for events, event position. Treat cursors as opaque. Reconnect with backoff; cancel old retries when the account or shop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writer excerpt with log lines omitted and arguments wrapped. INSERT OR IGNORE handles the primary key on digest and coin_type. Save the watermark even when a matching transaction produces no incoming receipt. Demonstrate stopping and restarting the indexer. Its stored cursor resumes the same feed. A failure between insert and watermark must roll both back. The code is for one shop per database file.
Terminal walkthrough: use Node 24, run pnpm install, copy .env.example to .env, set SHOP_ADDRESS and FROM_CHECKPOINT from the UI, then run pnpm indexer. Stop the writer, send a payment, restart, and run pnpm totals in another terminal. Use one TILL_DB per shop. The tested writer backfilled three receipts totalling 0.03 SUI and resumed its watermark without duplicates. Amounts are stored as text and summed with BigInt. SQLite runs locally; the Vercel app does not host this long-running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default testnet digest is ArCwXsZUTywBuM4GbNX4CVMERmBBgeYY2mgmJJjdHa3a. Rechecked on 15 October 2026: the public full node gRPC lookup returned not found; GraphQL returned SUCCESS at checkpoint 250000000, timestamp 2025-10-07T22:04:44.571Z. The scripts/receipt.ts command demonstrates both responses. Not-found alone does not prove the cause for an arbitrary digest; this known old example has corroborating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observed public testnet settings, not protocol constants: Query.transactions default page 20 and maximum 50, query timeout 40000 ms, maximum depth 20 and nodes 300. Page nested connections for complete accounting; Till selects the first 50 balance changes per transaction. Per-subscriber throttling applies, but its threshold was not measured. In both local and production tests, balance::send_funds deposits changed onchain balances but appeared in the affectedAddress feed only after Catch up now. Present this as measured provider behaviour and re-test before class. HTTP 200 may contain a GraphQL or JSON-RPC error. The faucet can be slow or rate-limited; refresh balances before retrying. Browser storage can be blocked or cleared, which affects persistence and demo keys. The app labels these boundaries rather than fabricating receipts. Source: https://docs.sui.io/develop/accessing-data/graphql/graphql-rpc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three scripts in migration/. They show the old call and two replacements. Do not assume only renaming a method will migrate response types, pagination and error handling. In this SDK the unified balance includes address balance, which matters because faucet v3 and balance::send_funds can use that storage. Review every response shape against the installed SDK types. JSON-RPC availability depends on the provider. Source: https://docs.sui.io/develop/accessing-data/json-rpc-migration; installed @mysten/sui 2.36.0.
Dates for context: GraphQL subscriptions were announced for mainnet and testnet on 21 September 2026. Foundation mainnet JSON-RPC disablement began the week of 27 July; source removal was planned for mid-October. The public testnet endpoint returned -32601 inside HTTP 200 on 15 October. Other providers may differ. Sources: https://www.sui.io/blog/graphql-on-sui-now-supports-real-time-subscriptions and https://docs.sui.io/develop/accessing-data/json-rpc-migration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keys are local to this browser profile. Clearing site storage loses access to demo funds; the UI reset only clears receipts and cursor. If changing subscriptions, filters or storage formats, version snapshots and select an intentional historical opening checkpoint. Cursor compatibility is not guaranteed across arbitrary query changes. Rotating a payer or shop means funding and sharing a new address; keep old data for reconciliation. Shared server signing has been retired with HTTP 410.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several minutes. Ask them to report their own shop address and one transaction digest, not any private key. Bonus: test an address-balance deposit and compare live versus catch-up. Bonus: run the SQLite writer and restart it. If the faucet is rate-limited, use the linked public testnet faucet and refresh the balances. Do not silently substitute fake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students to explain the separation between sending a payment, receiving a live delivery and storing it durably. Live app: https://day3-till.vercel.app. Repository: https://github.com/Nuel-osas/day3-till. The deck source, screenshots and test evidence are included under teaching/. Primary references: https://www.sui.io/blog/graphql-on-sui-now-supports-real-time-subscriptions ; https://docs.sui.io/develop/accessing-data/graphql/graphql-rpc ; https://docs.sui.io/develop/accessing-data/json-rpc-migration ; https://github.com/MystenLabs/sui/blob/main/crates/sui-indexer-alt-graphql/schema.graphql ; https://docs.sui.io/concepts/custom-indexing-framework. Checked 15 October 2026. The connected-wallet boundary is checked with a Wallet Standard fixture; a physical wallet extension approval remains a manual classroom check.
Verified production testnet receipts: live coin transfer H1fQ22Q5V6yt37GaiySNqGhUJR7ki4b35Te9Qcja9Bqn; paused then recovered 66XRjyGEKngFwGZntzULDr6v4hrwFPnR8ZmY9fmPW6Zh; address-balance catch-up 5crvrKsvQGU3emZvNCEJgKjpAwENtCHHxfY4UMy11Dcc. See teaching/VERIFICATION.md for explorer links and the exact test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ay3-till.vercel.app" TargetMode="External"/><Relationship Id="rId2" Type="http://schemas.openxmlformats.org/officeDocument/2006/relationships/hyperlink" Target="https://github.com/Nuel-osas/day3-till" TargetMode="Externa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ACCOUNT LAYER WEEK / DAY 03 ]</a:t>
            </a:r>
            <a:endParaRPr lang="en-US" sz="1000" dirty="0"/>
          </a:p>
        </p:txBody>
      </p:sp>
      <p:sp>
        <p:nvSpPr>
          <p:cNvPr id="3" name="Text 1"/>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4" name="Text 2"/>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01</a:t>
            </a:r>
            <a:endParaRPr lang="en-US" sz="1000" dirty="0"/>
          </a:p>
        </p:txBody>
      </p:sp>
      <p:sp>
        <p:nvSpPr>
          <p:cNvPr id="6" name="Shape 3"/>
          <p:cNvSpPr/>
          <p:nvPr/>
        </p:nvSpPr>
        <p:spPr>
          <a:xfrm>
            <a:off x="7909560" y="0"/>
            <a:ext cx="4288536" cy="6858000"/>
          </a:xfrm>
          <a:prstGeom prst="rect">
            <a:avLst/>
          </a:prstGeom>
          <a:solidFill>
            <a:srgbClr val="101E69"/>
          </a:solidFill>
          <a:ln w="12700">
            <a:solidFill>
              <a:srgbClr val="101E69">
                <a:alpha val="0"/>
              </a:srgbClr>
            </a:solidFill>
            <a:prstDash val="solid"/>
          </a:ln>
        </p:spPr>
      </p:sp>
      <p:sp>
        <p:nvSpPr>
          <p:cNvPr id="7" name="Shape 4"/>
          <p:cNvSpPr/>
          <p:nvPr/>
        </p:nvSpPr>
        <p:spPr>
          <a:xfrm>
            <a:off x="10607040" y="0"/>
            <a:ext cx="1591056" cy="6858000"/>
          </a:xfrm>
          <a:prstGeom prst="rect">
            <a:avLst/>
          </a:prstGeom>
          <a:solidFill>
            <a:srgbClr val="2338FF"/>
          </a:solidFill>
          <a:ln w="12700">
            <a:solidFill>
              <a:srgbClr val="2338FF">
                <a:alpha val="0"/>
              </a:srgbClr>
            </a:solidFill>
            <a:prstDash val="solid"/>
          </a:ln>
        </p:spPr>
      </p:sp>
      <p:sp>
        <p:nvSpPr>
          <p:cNvPr id="8" name="Text 5"/>
          <p:cNvSpPr/>
          <p:nvPr/>
        </p:nvSpPr>
        <p:spPr>
          <a:xfrm>
            <a:off x="777240" y="1600200"/>
            <a:ext cx="8961120" cy="2697480"/>
          </a:xfrm>
          <a:prstGeom prst="rect">
            <a:avLst/>
          </a:prstGeom>
          <a:noFill/>
          <a:ln/>
        </p:spPr>
        <p:txBody>
          <a:bodyPr wrap="square" lIns="0" tIns="0" rIns="0" bIns="0" rtlCol="0" anchor="ctr"/>
          <a:lstStyle/>
          <a:p>
            <a:pPr indent="0" marL="0">
              <a:buNone/>
            </a:pPr>
            <a:r>
              <a:rPr lang="en-US" sz="7200" dirty="0">
                <a:solidFill>
                  <a:srgbClr val="FFFFFF"/>
                </a:solidFill>
                <a:latin typeface="DM Sans" pitchFamily="34" charset="0"/>
                <a:ea typeface="DM Sans" pitchFamily="34" charset="-122"/>
                <a:cs typeface="DM Sans" pitchFamily="34" charset="-120"/>
              </a:rPr>
              <a:t>Real-time</a:t>
            </a:r>
            <a:endParaRPr lang="en-US" sz="7200" dirty="0"/>
          </a:p>
          <a:p>
            <a:pPr indent="0" marL="0">
              <a:buNone/>
            </a:pPr>
            <a:r>
              <a:rPr lang="en-US" sz="7200" dirty="0">
                <a:solidFill>
                  <a:srgbClr val="FFFFFF"/>
                </a:solidFill>
                <a:latin typeface="DM Sans" pitchFamily="34" charset="0"/>
                <a:ea typeface="DM Sans" pitchFamily="34" charset="-122"/>
                <a:cs typeface="DM Sans" pitchFamily="34" charset="-120"/>
              </a:rPr>
              <a:t>Sui.</a:t>
            </a:r>
            <a:endParaRPr lang="en-US" sz="7200" dirty="0"/>
          </a:p>
        </p:txBody>
      </p:sp>
      <p:sp>
        <p:nvSpPr>
          <p:cNvPr id="9" name="Text 6"/>
          <p:cNvSpPr/>
          <p:nvPr/>
        </p:nvSpPr>
        <p:spPr>
          <a:xfrm>
            <a:off x="777240" y="4389120"/>
            <a:ext cx="8686800" cy="1051560"/>
          </a:xfrm>
          <a:prstGeom prst="rect">
            <a:avLst/>
          </a:prstGeom>
          <a:noFill/>
          <a:ln/>
        </p:spPr>
        <p:txBody>
          <a:bodyPr wrap="square" lIns="0" tIns="0" rIns="0" bIns="0" rtlCol="0" anchor="ctr"/>
          <a:lstStyle/>
          <a:p>
            <a:pPr indent="0" marL="0">
              <a:buNone/>
            </a:pPr>
            <a:r>
              <a:rPr lang="en-US" sz="2900" dirty="0">
                <a:solidFill>
                  <a:srgbClr val="ACB8DB"/>
                </a:solidFill>
                <a:latin typeface="DM Sans" pitchFamily="34" charset="0"/>
                <a:ea typeface="DM Sans" pitchFamily="34" charset="-122"/>
                <a:cs typeface="DM Sans" pitchFamily="34" charset="-120"/>
              </a:rPr>
              <a:t>A payment happens.</a:t>
            </a:r>
            <a:endParaRPr lang="en-US" sz="2900" dirty="0"/>
          </a:p>
          <a:p>
            <a:pPr indent="0" marL="0">
              <a:buNone/>
            </a:pPr>
            <a:r>
              <a:rPr lang="en-US" sz="2900" dirty="0">
                <a:solidFill>
                  <a:srgbClr val="ACB8DB"/>
                </a:solidFill>
                <a:latin typeface="DM Sans" pitchFamily="34" charset="0"/>
                <a:ea typeface="DM Sans" pitchFamily="34" charset="-122"/>
                <a:cs typeface="DM Sans" pitchFamily="34" charset="-120"/>
              </a:rPr>
              <a:t>Your app should know.</a:t>
            </a:r>
            <a:endParaRPr lang="en-US" sz="2900" dirty="0"/>
          </a:p>
        </p:txBody>
      </p:sp>
      <p:sp>
        <p:nvSpPr>
          <p:cNvPr id="10" name="Text 7"/>
          <p:cNvSpPr/>
          <p:nvPr/>
        </p:nvSpPr>
        <p:spPr>
          <a:xfrm>
            <a:off x="777240" y="5833872"/>
            <a:ext cx="10058400" cy="274320"/>
          </a:xfrm>
          <a:prstGeom prst="rect">
            <a:avLst/>
          </a:prstGeom>
          <a:noFill/>
          <a:ln/>
        </p:spPr>
        <p:txBody>
          <a:bodyPr wrap="square" lIns="0" tIns="0" rIns="0" bIns="0" rtlCol="0" anchor="ctr"/>
          <a:lstStyle/>
          <a:p>
            <a:pPr indent="0" marL="0">
              <a:buNone/>
            </a:pPr>
            <a:r>
              <a:rPr lang="en-US" sz="1200" dirty="0">
                <a:solidFill>
                  <a:srgbClr val="9BAFFF"/>
                </a:solidFill>
                <a:latin typeface="JetBrains Mono" pitchFamily="34" charset="0"/>
                <a:ea typeface="JetBrains Mono" pitchFamily="34" charset="-122"/>
                <a:cs typeface="JetBrains Mono" pitchFamily="34" charset="-120"/>
              </a:rPr>
              <a:t>GRAPHQL SUBSCRIPTIONS / THE NEW DATA STACK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TODAY’S DEMO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Meet your live till.</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02</a:t>
            </a:r>
            <a:endParaRPr lang="en-US" sz="1000" dirty="0"/>
          </a:p>
        </p:txBody>
      </p:sp>
      <p:pic>
        <p:nvPicPr>
          <p:cNvPr id="7" name="Image 0" descr="/Users/emmanuelosadebe/Documents/SUI-HUB-CLASSES/account-layer-week/day3-till/teaching/assets/overview.png">    </p:cNvPr>
          <p:cNvPicPr>
            <a:picLocks noChangeAspect="1"/>
          </p:cNvPicPr>
          <p:nvPr/>
        </p:nvPicPr>
        <p:blipFill>
          <a:blip r:embed="rId1"/>
          <a:stretch>
            <a:fillRect/>
          </a:stretch>
        </p:blipFill>
        <p:spPr>
          <a:xfrm>
            <a:off x="937129" y="2194560"/>
            <a:ext cx="6263901" cy="3703320"/>
          </a:xfrm>
          <a:prstGeom prst="rect">
            <a:avLst/>
          </a:prstGeom>
        </p:spPr>
      </p:pic>
      <p:sp>
        <p:nvSpPr>
          <p:cNvPr id="8" name="Text 4"/>
          <p:cNvSpPr/>
          <p:nvPr/>
        </p:nvSpPr>
        <p:spPr>
          <a:xfrm>
            <a:off x="7818120" y="2423160"/>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PERSONAL</a:t>
            </a:r>
            <a:endParaRPr lang="en-US" sz="1000" dirty="0"/>
          </a:p>
        </p:txBody>
      </p:sp>
      <p:sp>
        <p:nvSpPr>
          <p:cNvPr id="9" name="Text 5"/>
          <p:cNvSpPr/>
          <p:nvPr/>
        </p:nvSpPr>
        <p:spPr>
          <a:xfrm>
            <a:off x="7818120" y="2743200"/>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Your payer. Your shop.</a:t>
            </a:r>
            <a:endParaRPr lang="en-US" sz="2000" dirty="0"/>
          </a:p>
        </p:txBody>
      </p:sp>
      <p:sp>
        <p:nvSpPr>
          <p:cNvPr id="10" name="Text 6"/>
          <p:cNvSpPr/>
          <p:nvPr/>
        </p:nvSpPr>
        <p:spPr>
          <a:xfrm>
            <a:off x="7818120" y="3557016"/>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LIVE</a:t>
            </a:r>
            <a:endParaRPr lang="en-US" sz="1000" dirty="0"/>
          </a:p>
        </p:txBody>
      </p:sp>
      <p:sp>
        <p:nvSpPr>
          <p:cNvPr id="11" name="Text 7"/>
          <p:cNvSpPr/>
          <p:nvPr/>
        </p:nvSpPr>
        <p:spPr>
          <a:xfrm>
            <a:off x="7818120" y="3877056"/>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A receipt from the stream.</a:t>
            </a:r>
            <a:endParaRPr lang="en-US" sz="2000" dirty="0"/>
          </a:p>
        </p:txBody>
      </p:sp>
      <p:sp>
        <p:nvSpPr>
          <p:cNvPr id="12" name="Text 8"/>
          <p:cNvSpPr/>
          <p:nvPr/>
        </p:nvSpPr>
        <p:spPr>
          <a:xfrm>
            <a:off x="7818120" y="4690872"/>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RECOVERABLE</a:t>
            </a:r>
            <a:endParaRPr lang="en-US" sz="1000" dirty="0"/>
          </a:p>
        </p:txBody>
      </p:sp>
      <p:sp>
        <p:nvSpPr>
          <p:cNvPr id="13" name="Text 9"/>
          <p:cNvSpPr/>
          <p:nvPr/>
        </p:nvSpPr>
        <p:spPr>
          <a:xfrm>
            <a:off x="7818120" y="5010912"/>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A saved place to resume.</a:t>
            </a:r>
            <a:endParaRPr lang="en-US" sz="2000" dirty="0"/>
          </a:p>
        </p:txBody>
      </p:sp>
      <p:sp>
        <p:nvSpPr>
          <p:cNvPr id="14" name="Text 10"/>
          <p:cNvSpPr/>
          <p:nvPr/>
        </p:nvSpPr>
        <p:spPr>
          <a:xfrm>
            <a:off x="777240" y="6080760"/>
            <a:ext cx="10607040" cy="201168"/>
          </a:xfrm>
          <a:prstGeom prst="rect">
            <a:avLst/>
          </a:prstGeom>
          <a:noFill/>
          <a:ln/>
        </p:spPr>
        <p:txBody>
          <a:bodyPr wrap="square" lIns="0" tIns="0" rIns="0" bIns="0" rtlCol="0" anchor="ctr"/>
          <a:lstStyle/>
          <a:p>
            <a:pPr indent="0" marL="0">
              <a:buNone/>
            </a:pPr>
            <a:r>
              <a:rPr lang="en-US" sz="1000" dirty="0">
                <a:solidFill>
                  <a:srgbClr val="69738B"/>
                </a:solidFill>
                <a:latin typeface="DM Sans" pitchFamily="34" charset="0"/>
                <a:ea typeface="DM Sans" pitchFamily="34" charset="-122"/>
                <a:cs typeface="DM Sans" pitchFamily="34" charset="-120"/>
              </a:rPr>
              <a:t>Live app: day3-till.vercel.app   /   Real testnet transactions. Personal student wallets.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THE DATA STACK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Four layers. Four different jobs.</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03</a:t>
            </a:r>
            <a:endParaRPr lang="en-US" sz="1000" dirty="0"/>
          </a:p>
        </p:txBody>
      </p:sp>
      <p:sp>
        <p:nvSpPr>
          <p:cNvPr id="7" name="Shape 4"/>
          <p:cNvSpPr/>
          <p:nvPr/>
        </p:nvSpPr>
        <p:spPr>
          <a:xfrm>
            <a:off x="777240" y="2286000"/>
            <a:ext cx="5204460" cy="1664208"/>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01 / gRPC</a:t>
            </a:r>
            <a:endParaRPr lang="en-US" sz="1100" dirty="0"/>
          </a:p>
        </p:txBody>
      </p:sp>
      <p:sp>
        <p:nvSpPr>
          <p:cNvPr id="9" name="Text 6"/>
          <p:cNvSpPr/>
          <p:nvPr/>
        </p:nvSpPr>
        <p:spPr>
          <a:xfrm>
            <a:off x="100584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Read and act now.</a:t>
            </a:r>
            <a:endParaRPr lang="en-US" sz="2300" dirty="0"/>
          </a:p>
        </p:txBody>
      </p:sp>
      <p:sp>
        <p:nvSpPr>
          <p:cNvPr id="10" name="Text 7"/>
          <p:cNvSpPr/>
          <p:nvPr/>
        </p:nvSpPr>
        <p:spPr>
          <a:xfrm>
            <a:off x="100584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Balances, objects, execution and checkpoints.</a:t>
            </a:r>
            <a:endParaRPr lang="en-US" sz="1500" dirty="0"/>
          </a:p>
        </p:txBody>
      </p:sp>
      <p:sp>
        <p:nvSpPr>
          <p:cNvPr id="11" name="Shape 8"/>
          <p:cNvSpPr/>
          <p:nvPr/>
        </p:nvSpPr>
        <p:spPr>
          <a:xfrm>
            <a:off x="6210300" y="2286000"/>
            <a:ext cx="5204460" cy="1664208"/>
          </a:xfrm>
          <a:prstGeom prst="rect">
            <a:avLst/>
          </a:prstGeom>
          <a:solidFill>
            <a:srgbClr val="2338FF"/>
          </a:solidFill>
          <a:ln w="12700">
            <a:solidFill>
              <a:srgbClr val="2338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02 / GRAPHQL</a:t>
            </a:r>
            <a:endParaRPr lang="en-US" sz="1100" dirty="0"/>
          </a:p>
        </p:txBody>
      </p:sp>
      <p:sp>
        <p:nvSpPr>
          <p:cNvPr id="13" name="Text 10"/>
          <p:cNvSpPr/>
          <p:nvPr/>
        </p:nvSpPr>
        <p:spPr>
          <a:xfrm>
            <a:off x="6438900" y="2889504"/>
            <a:ext cx="4747260" cy="36576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Ask for a screen.</a:t>
            </a:r>
            <a:endParaRPr lang="en-US" sz="2300" dirty="0"/>
          </a:p>
        </p:txBody>
      </p:sp>
      <p:sp>
        <p:nvSpPr>
          <p:cNvPr id="14" name="Text 11"/>
          <p:cNvSpPr/>
          <p:nvPr/>
        </p:nvSpPr>
        <p:spPr>
          <a:xfrm>
            <a:off x="6438900" y="3310128"/>
            <a:ext cx="4747260" cy="530352"/>
          </a:xfrm>
          <a:prstGeom prst="rect">
            <a:avLst/>
          </a:prstGeom>
          <a:noFill/>
          <a:ln/>
        </p:spPr>
        <p:txBody>
          <a:bodyPr wrap="square" lIns="0" tIns="0" rIns="0" bIns="0" rtlCol="0" anchor="ctr"/>
          <a:lstStyle/>
          <a:p>
            <a:pPr indent="0" marL="0">
              <a:buNone/>
            </a:pPr>
            <a:r>
              <a:rPr lang="en-US" sz="1500" dirty="0">
                <a:solidFill>
                  <a:srgbClr val="DFE4FF"/>
                </a:solidFill>
                <a:latin typeface="DM Sans" pitchFamily="34" charset="0"/>
                <a:ea typeface="DM Sans" pitchFamily="34" charset="-122"/>
                <a:cs typeface="DM Sans" pitchFamily="34" charset="-120"/>
              </a:rPr>
              <a:t>Filtered history, selected fields and subscriptions.</a:t>
            </a:r>
            <a:endParaRPr lang="en-US" sz="1500" dirty="0"/>
          </a:p>
        </p:txBody>
      </p:sp>
      <p:sp>
        <p:nvSpPr>
          <p:cNvPr id="15" name="Shape 12"/>
          <p:cNvSpPr/>
          <p:nvPr/>
        </p:nvSpPr>
        <p:spPr>
          <a:xfrm>
            <a:off x="777240" y="4114800"/>
            <a:ext cx="5204460" cy="1664208"/>
          </a:xfrm>
          <a:prstGeom prst="rect">
            <a:avLst/>
          </a:prstGeom>
          <a:solidFill>
            <a:srgbClr val="FFFFFF"/>
          </a:solidFill>
          <a:ln w="12700">
            <a:solidFill>
              <a:srgbClr val="FFFFFF">
                <a:alpha val="0"/>
              </a:srgbClr>
            </a:solidFill>
            <a:prstDash val="solid"/>
          </a:ln>
        </p:spPr>
      </p:sp>
      <p:sp>
        <p:nvSpPr>
          <p:cNvPr id="16" name="Text 13"/>
          <p:cNvSpPr/>
          <p:nvPr/>
        </p:nvSpPr>
        <p:spPr>
          <a:xfrm>
            <a:off x="100584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03 / ARCHIVE</a:t>
            </a:r>
            <a:endParaRPr lang="en-US" sz="1100" dirty="0"/>
          </a:p>
        </p:txBody>
      </p:sp>
      <p:sp>
        <p:nvSpPr>
          <p:cNvPr id="17" name="Text 14"/>
          <p:cNvSpPr/>
          <p:nvPr/>
        </p:nvSpPr>
        <p:spPr>
          <a:xfrm>
            <a:off x="100584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Keep the past.</a:t>
            </a:r>
            <a:endParaRPr lang="en-US" sz="2300" dirty="0"/>
          </a:p>
        </p:txBody>
      </p:sp>
      <p:sp>
        <p:nvSpPr>
          <p:cNvPr id="18" name="Text 15"/>
          <p:cNvSpPr/>
          <p:nvPr/>
        </p:nvSpPr>
        <p:spPr>
          <a:xfrm>
            <a:off x="100584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History beyond a full node’s retention.</a:t>
            </a:r>
            <a:endParaRPr lang="en-US" sz="1500" dirty="0"/>
          </a:p>
        </p:txBody>
      </p:sp>
      <p:sp>
        <p:nvSpPr>
          <p:cNvPr id="19" name="Shape 16"/>
          <p:cNvSpPr/>
          <p:nvPr/>
        </p:nvSpPr>
        <p:spPr>
          <a:xfrm>
            <a:off x="6210300" y="4114800"/>
            <a:ext cx="5204460" cy="1664208"/>
          </a:xfrm>
          <a:prstGeom prst="rect">
            <a:avLst/>
          </a:prstGeom>
          <a:solidFill>
            <a:srgbClr val="FFFFFF"/>
          </a:solidFill>
          <a:ln w="12700">
            <a:solidFill>
              <a:srgbClr val="FFFFFF">
                <a:alpha val="0"/>
              </a:srgbClr>
            </a:solidFill>
            <a:prstDash val="solid"/>
          </a:ln>
        </p:spPr>
      </p:sp>
      <p:sp>
        <p:nvSpPr>
          <p:cNvPr id="20" name="Text 17"/>
          <p:cNvSpPr/>
          <p:nvPr/>
        </p:nvSpPr>
        <p:spPr>
          <a:xfrm>
            <a:off x="643890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04 / YOUR INDEXER</a:t>
            </a:r>
            <a:endParaRPr lang="en-US" sz="1100" dirty="0"/>
          </a:p>
        </p:txBody>
      </p:sp>
      <p:sp>
        <p:nvSpPr>
          <p:cNvPr id="21" name="Text 18"/>
          <p:cNvSpPr/>
          <p:nvPr/>
        </p:nvSpPr>
        <p:spPr>
          <a:xfrm>
            <a:off x="643890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Own the data model.</a:t>
            </a:r>
            <a:endParaRPr lang="en-US" sz="2300" dirty="0"/>
          </a:p>
        </p:txBody>
      </p:sp>
      <p:sp>
        <p:nvSpPr>
          <p:cNvPr id="22" name="Text 19"/>
          <p:cNvSpPr/>
          <p:nvPr/>
        </p:nvSpPr>
        <p:spPr>
          <a:xfrm>
            <a:off x="643890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Durable aggregates, joins and reprocessing.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SRC/LIB/TILL.TS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One document. Any shop.</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04</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1452" dirty="0">
                <a:solidFill>
                  <a:srgbClr val="D9E1FF"/>
                </a:solidFill>
                <a:latin typeface="JetBrains Mono" pitchFamily="34" charset="0"/>
                <a:ea typeface="JetBrains Mono" pitchFamily="34" charset="-122"/>
                <a:cs typeface="JetBrains Mono" pitchFamily="34" charset="-120"/>
              </a:rPr>
              <a:t>subscription Till($shop: SuiAddress!, $after: String, $afterCheckpoint: UInt53)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transactions(</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filter: { affectedAddress: $shop, afterCheckpoint: $afterCheckpoint }, after: $after</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cursor</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node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digest sender { address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effects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status timestamp checkpoint { sequenceNumber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balanceChanges(first: 50) { nodes { owner { address } coinType { repr } amount }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a:t>
            </a:r>
            <a:endParaRPr lang="en-US" sz="1452"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Select a small payload. Every matching transaction carries a cursor.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SUBSCRIPTIONS + TRANSPORT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Choose a filter. Open the stream.</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05</a:t>
            </a:r>
            <a:endParaRPr lang="en-US" sz="1000" dirty="0"/>
          </a:p>
        </p:txBody>
      </p:sp>
      <p:sp>
        <p:nvSpPr>
          <p:cNvPr id="7" name="Shape 4"/>
          <p:cNvSpPr/>
          <p:nvPr/>
        </p:nvSpPr>
        <p:spPr>
          <a:xfrm>
            <a:off x="777240" y="2286000"/>
            <a:ext cx="5204460" cy="1664208"/>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TRANSACTIONS</a:t>
            </a:r>
            <a:endParaRPr lang="en-US" sz="1100" dirty="0"/>
          </a:p>
        </p:txBody>
      </p:sp>
      <p:sp>
        <p:nvSpPr>
          <p:cNvPr id="9" name="Text 6"/>
          <p:cNvSpPr/>
          <p:nvPr/>
        </p:nvSpPr>
        <p:spPr>
          <a:xfrm>
            <a:off x="100584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Who or what?</a:t>
            </a:r>
            <a:endParaRPr lang="en-US" sz="2300" dirty="0"/>
          </a:p>
        </p:txBody>
      </p:sp>
      <p:sp>
        <p:nvSpPr>
          <p:cNvPr id="10" name="Text 7"/>
          <p:cNvSpPr/>
          <p:nvPr/>
        </p:nvSpPr>
        <p:spPr>
          <a:xfrm>
            <a:off x="100584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affectedAddress · affectedObject · sentAddress</a:t>
            </a:r>
            <a:endParaRPr lang="en-US" sz="1500" dirty="0"/>
          </a:p>
        </p:txBody>
      </p:sp>
      <p:sp>
        <p:nvSpPr>
          <p:cNvPr id="11" name="Shape 8"/>
          <p:cNvSpPr/>
          <p:nvPr/>
        </p:nvSpPr>
        <p:spPr>
          <a:xfrm>
            <a:off x="6210300" y="2286000"/>
            <a:ext cx="5204460" cy="1664208"/>
          </a:xfrm>
          <a:prstGeom prst="rect">
            <a:avLst/>
          </a:prstGeom>
          <a:solidFill>
            <a:srgbClr val="FFFFFF"/>
          </a:solidFill>
          <a:ln w="12700">
            <a:solidFill>
              <a:srgbClr val="FFFF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EVENTS</a:t>
            </a:r>
            <a:endParaRPr lang="en-US" sz="1100" dirty="0"/>
          </a:p>
        </p:txBody>
      </p:sp>
      <p:sp>
        <p:nvSpPr>
          <p:cNvPr id="13" name="Text 10"/>
          <p:cNvSpPr/>
          <p:nvPr/>
        </p:nvSpPr>
        <p:spPr>
          <a:xfrm>
            <a:off x="643890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Which event?</a:t>
            </a:r>
            <a:endParaRPr lang="en-US" sz="2300" dirty="0"/>
          </a:p>
        </p:txBody>
      </p:sp>
      <p:sp>
        <p:nvSpPr>
          <p:cNvPr id="14" name="Text 11"/>
          <p:cNvSpPr/>
          <p:nvPr/>
        </p:nvSpPr>
        <p:spPr>
          <a:xfrm>
            <a:off x="643890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sender · module · type + checkpoint bounds.</a:t>
            </a:r>
            <a:endParaRPr lang="en-US" sz="1500" dirty="0"/>
          </a:p>
        </p:txBody>
      </p:sp>
      <p:sp>
        <p:nvSpPr>
          <p:cNvPr id="15" name="Shape 12"/>
          <p:cNvSpPr/>
          <p:nvPr/>
        </p:nvSpPr>
        <p:spPr>
          <a:xfrm>
            <a:off x="777240" y="4114800"/>
            <a:ext cx="5204460" cy="1664208"/>
          </a:xfrm>
          <a:prstGeom prst="rect">
            <a:avLst/>
          </a:prstGeom>
          <a:solidFill>
            <a:srgbClr val="FFFFFF"/>
          </a:solidFill>
          <a:ln w="12700">
            <a:solidFill>
              <a:srgbClr val="FFFFFF">
                <a:alpha val="0"/>
              </a:srgbClr>
            </a:solidFill>
            <a:prstDash val="solid"/>
          </a:ln>
        </p:spPr>
      </p:sp>
      <p:sp>
        <p:nvSpPr>
          <p:cNvPr id="16" name="Text 13"/>
          <p:cNvSpPr/>
          <p:nvPr/>
        </p:nvSpPr>
        <p:spPr>
          <a:xfrm>
            <a:off x="100584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CHECKPOINTS</a:t>
            </a:r>
            <a:endParaRPr lang="en-US" sz="1100" dirty="0"/>
          </a:p>
        </p:txBody>
      </p:sp>
      <p:sp>
        <p:nvSpPr>
          <p:cNvPr id="17" name="Text 14"/>
          <p:cNvSpPr/>
          <p:nvPr/>
        </p:nvSpPr>
        <p:spPr>
          <a:xfrm>
            <a:off x="100584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Follow chain progress.</a:t>
            </a:r>
            <a:endParaRPr lang="en-US" sz="2300" dirty="0"/>
          </a:p>
        </p:txBody>
      </p:sp>
      <p:sp>
        <p:nvSpPr>
          <p:cNvPr id="18" name="Text 15"/>
          <p:cNvSpPr/>
          <p:nvPr/>
        </p:nvSpPr>
        <p:spPr>
          <a:xfrm>
            <a:off x="100584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Ordered delivery with a saved resume position.</a:t>
            </a:r>
            <a:endParaRPr lang="en-US" sz="1500" dirty="0"/>
          </a:p>
        </p:txBody>
      </p:sp>
      <p:sp>
        <p:nvSpPr>
          <p:cNvPr id="19" name="Shape 16"/>
          <p:cNvSpPr/>
          <p:nvPr/>
        </p:nvSpPr>
        <p:spPr>
          <a:xfrm>
            <a:off x="6210300" y="4114800"/>
            <a:ext cx="5204460" cy="1664208"/>
          </a:xfrm>
          <a:prstGeom prst="rect">
            <a:avLst/>
          </a:prstGeom>
          <a:solidFill>
            <a:srgbClr val="2338FF"/>
          </a:solidFill>
          <a:ln w="12700">
            <a:solidFill>
              <a:srgbClr val="2338FF">
                <a:alpha val="0"/>
              </a:srgbClr>
            </a:solidFill>
            <a:prstDash val="solid"/>
          </a:ln>
        </p:spPr>
      </p:sp>
      <p:sp>
        <p:nvSpPr>
          <p:cNvPr id="20" name="Text 17"/>
          <p:cNvSpPr/>
          <p:nvPr/>
        </p:nvSpPr>
        <p:spPr>
          <a:xfrm>
            <a:off x="6438900" y="43251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SSE OVER POST</a:t>
            </a:r>
            <a:endParaRPr lang="en-US" sz="1100" dirty="0"/>
          </a:p>
        </p:txBody>
      </p:sp>
      <p:sp>
        <p:nvSpPr>
          <p:cNvPr id="21" name="Text 18"/>
          <p:cNvSpPr/>
          <p:nvPr/>
        </p:nvSpPr>
        <p:spPr>
          <a:xfrm>
            <a:off x="6438900" y="4718304"/>
            <a:ext cx="4747260" cy="36576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Use fetch to listen.</a:t>
            </a:r>
            <a:endParaRPr lang="en-US" sz="2300" dirty="0"/>
          </a:p>
        </p:txBody>
      </p:sp>
      <p:sp>
        <p:nvSpPr>
          <p:cNvPr id="22" name="Text 19"/>
          <p:cNvSpPr/>
          <p:nvPr/>
        </p:nvSpPr>
        <p:spPr>
          <a:xfrm>
            <a:off x="6438900" y="5138928"/>
            <a:ext cx="4747260" cy="530352"/>
          </a:xfrm>
          <a:prstGeom prst="rect">
            <a:avLst/>
          </a:prstGeom>
          <a:noFill/>
          <a:ln/>
        </p:spPr>
        <p:txBody>
          <a:bodyPr wrap="square" lIns="0" tIns="0" rIns="0" bIns="0" rtlCol="0" anchor="ctr"/>
          <a:lstStyle/>
          <a:p>
            <a:pPr indent="0" marL="0">
              <a:buNone/>
            </a:pPr>
            <a:r>
              <a:rPr lang="en-US" sz="1500" dirty="0">
                <a:solidFill>
                  <a:srgbClr val="DFE4FF"/>
                </a:solidFill>
                <a:latin typeface="DM Sans" pitchFamily="34" charset="0"/>
                <a:ea typeface="DM Sans" pitchFamily="34" charset="-122"/>
                <a:cs typeface="DM Sans" pitchFamily="34" charset="-120"/>
              </a:rPr>
              <a:t>EventSource cannot send the GraphQL query body.</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RED OUT / GREEN IN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Watch the money move.</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06</a:t>
            </a:r>
            <a:endParaRPr lang="en-US" sz="1000" dirty="0"/>
          </a:p>
        </p:txBody>
      </p:sp>
      <p:pic>
        <p:nvPicPr>
          <p:cNvPr id="7" name="Image 0" descr="/Users/emmanuelosadebe/Documents/SUI-HUB-CLASSES/account-layer-week/day3-till/teaching/assets/balances.png">    </p:cNvPr>
          <p:cNvPicPr>
            <a:picLocks noChangeAspect="1"/>
          </p:cNvPicPr>
          <p:nvPr/>
        </p:nvPicPr>
        <p:blipFill>
          <a:blip r:embed="rId1"/>
          <a:stretch>
            <a:fillRect/>
          </a:stretch>
        </p:blipFill>
        <p:spPr>
          <a:xfrm>
            <a:off x="777240" y="2922002"/>
            <a:ext cx="10643616" cy="1654075"/>
          </a:xfrm>
          <a:prstGeom prst="rect">
            <a:avLst/>
          </a:prstGeom>
        </p:spPr>
      </p:pic>
      <p:sp>
        <p:nvSpPr>
          <p:cNvPr id="8" name="Text 4"/>
          <p:cNvSpPr/>
          <p:nvPr/>
        </p:nvSpPr>
        <p:spPr>
          <a:xfrm>
            <a:off x="777240" y="2331720"/>
            <a:ext cx="5029200" cy="274320"/>
          </a:xfrm>
          <a:prstGeom prst="rect">
            <a:avLst/>
          </a:prstGeom>
          <a:noFill/>
          <a:ln/>
        </p:spPr>
        <p:txBody>
          <a:bodyPr wrap="square" lIns="0" tIns="0" rIns="0" bIns="0" rtlCol="0" anchor="ctr"/>
          <a:lstStyle/>
          <a:p>
            <a:pPr indent="0" marL="0">
              <a:buNone/>
            </a:pPr>
            <a:r>
              <a:rPr lang="en-US" sz="1200" dirty="0">
                <a:solidFill>
                  <a:srgbClr val="C5424E"/>
                </a:solidFill>
                <a:latin typeface="JetBrains Mono" pitchFamily="34" charset="0"/>
                <a:ea typeface="JetBrains Mono" pitchFamily="34" charset="-122"/>
                <a:cs typeface="JetBrains Mono" pitchFamily="34" charset="-120"/>
              </a:rPr>
              <a:t>PAYER / MONEY OUT</a:t>
            </a:r>
            <a:endParaRPr lang="en-US" sz="1200" dirty="0"/>
          </a:p>
        </p:txBody>
      </p:sp>
      <p:sp>
        <p:nvSpPr>
          <p:cNvPr id="9" name="Text 5"/>
          <p:cNvSpPr/>
          <p:nvPr/>
        </p:nvSpPr>
        <p:spPr>
          <a:xfrm>
            <a:off x="6400800" y="2331720"/>
            <a:ext cx="5029200" cy="274320"/>
          </a:xfrm>
          <a:prstGeom prst="rect">
            <a:avLst/>
          </a:prstGeom>
          <a:noFill/>
          <a:ln/>
        </p:spPr>
        <p:txBody>
          <a:bodyPr wrap="square" lIns="0" tIns="0" rIns="0" bIns="0" rtlCol="0" anchor="ctr"/>
          <a:lstStyle/>
          <a:p>
            <a:pPr indent="0" marL="0">
              <a:buNone/>
            </a:pPr>
            <a:r>
              <a:rPr lang="en-US" sz="1200" dirty="0">
                <a:solidFill>
                  <a:srgbClr val="078256"/>
                </a:solidFill>
                <a:latin typeface="JetBrains Mono" pitchFamily="34" charset="0"/>
                <a:ea typeface="JetBrains Mono" pitchFamily="34" charset="-122"/>
                <a:cs typeface="JetBrains Mono" pitchFamily="34" charset="-120"/>
              </a:rPr>
              <a:t>SHOP / MONEY IN</a:t>
            </a:r>
            <a:endParaRPr lang="en-US" sz="1200" dirty="0"/>
          </a:p>
        </p:txBody>
      </p:sp>
      <p:sp>
        <p:nvSpPr>
          <p:cNvPr id="10" name="Text 6"/>
          <p:cNvSpPr/>
          <p:nvPr/>
        </p:nvSpPr>
        <p:spPr>
          <a:xfrm>
            <a:off x="777240" y="5166360"/>
            <a:ext cx="5029200" cy="457200"/>
          </a:xfrm>
          <a:prstGeom prst="rect">
            <a:avLst/>
          </a:prstGeom>
          <a:noFill/>
          <a:ln/>
        </p:spPr>
        <p:txBody>
          <a:bodyPr wrap="square" lIns="0" tIns="0" rIns="0" bIns="0" rtlCol="0" anchor="ctr"/>
          <a:lstStyle/>
          <a:p>
            <a:pPr indent="0" marL="0">
              <a:buNone/>
            </a:pPr>
            <a:r>
              <a:rPr lang="en-US" sz="2800" dirty="0">
                <a:solidFill>
                  <a:srgbClr val="C5424E"/>
                </a:solidFill>
                <a:latin typeface="DM Sans" pitchFamily="34" charset="0"/>
                <a:ea typeface="DM Sans" pitchFamily="34" charset="-122"/>
                <a:cs typeface="DM Sans" pitchFamily="34" charset="-120"/>
              </a:rPr>
              <a:t>Payment + gas</a:t>
            </a:r>
            <a:endParaRPr lang="en-US" sz="2800" dirty="0"/>
          </a:p>
        </p:txBody>
      </p:sp>
      <p:sp>
        <p:nvSpPr>
          <p:cNvPr id="11" name="Text 7"/>
          <p:cNvSpPr/>
          <p:nvPr/>
        </p:nvSpPr>
        <p:spPr>
          <a:xfrm>
            <a:off x="6400800" y="5166360"/>
            <a:ext cx="5029200" cy="457200"/>
          </a:xfrm>
          <a:prstGeom prst="rect">
            <a:avLst/>
          </a:prstGeom>
          <a:noFill/>
          <a:ln/>
        </p:spPr>
        <p:txBody>
          <a:bodyPr wrap="square" lIns="0" tIns="0" rIns="0" bIns="0" rtlCol="0" anchor="ctr"/>
          <a:lstStyle/>
          <a:p>
            <a:pPr indent="0" marL="0">
              <a:buNone/>
            </a:pPr>
            <a:r>
              <a:rPr lang="en-US" sz="2800" dirty="0">
                <a:solidFill>
                  <a:srgbClr val="078256"/>
                </a:solidFill>
                <a:latin typeface="DM Sans" pitchFamily="34" charset="0"/>
                <a:ea typeface="DM Sans" pitchFamily="34" charset="-122"/>
                <a:cs typeface="DM Sans" pitchFamily="34" charset="-120"/>
              </a:rPr>
              <a:t>Payment received</a:t>
            </a:r>
            <a:endParaRPr lang="en-US" sz="2800" dirty="0"/>
          </a:p>
        </p:txBody>
      </p:sp>
      <p:sp>
        <p:nvSpPr>
          <p:cNvPr id="12" name="Text 8"/>
          <p:cNvSpPr/>
          <p:nvPr/>
        </p:nvSpPr>
        <p:spPr>
          <a:xfrm>
            <a:off x="777240" y="6080760"/>
            <a:ext cx="10607040" cy="201168"/>
          </a:xfrm>
          <a:prstGeom prst="rect">
            <a:avLst/>
          </a:prstGeom>
          <a:noFill/>
          <a:ln/>
        </p:spPr>
        <p:txBody>
          <a:bodyPr wrap="square" lIns="0" tIns="0" rIns="0" bIns="0" rtlCol="0" anchor="ctr"/>
          <a:lstStyle/>
          <a:p>
            <a:pPr indent="0" marL="0">
              <a:buNone/>
            </a:pPr>
            <a:r>
              <a:rPr lang="en-US" sz="1000" dirty="0">
                <a:solidFill>
                  <a:srgbClr val="69738B"/>
                </a:solidFill>
                <a:latin typeface="DM Sans" pitchFamily="34" charset="0"/>
                <a:ea typeface="DM Sans" pitchFamily="34" charset="-122"/>
                <a:cs typeface="DM Sans" pitchFamily="34" charset="-120"/>
              </a:rPr>
              <a:t>Payer ↓ payment + gas   /   Shop ↑ received value   /   Balances refresh independently of the feed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LIVE DEMO / RECOVERY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It catches up from where you stopped.</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07</a:t>
            </a:r>
            <a:endParaRPr lang="en-US" sz="1000" dirty="0"/>
          </a:p>
        </p:txBody>
      </p:sp>
      <p:pic>
        <p:nvPicPr>
          <p:cNvPr id="7" name="Image 0" descr="/Users/emmanuelosadebe/Documents/SUI-HUB-CLASSES/account-layer-week/day3-till/teaching/assets/recovery.png">    </p:cNvPr>
          <p:cNvPicPr>
            <a:picLocks noChangeAspect="1"/>
          </p:cNvPicPr>
          <p:nvPr/>
        </p:nvPicPr>
        <p:blipFill>
          <a:blip r:embed="rId1"/>
          <a:stretch>
            <a:fillRect/>
          </a:stretch>
        </p:blipFill>
        <p:spPr>
          <a:xfrm>
            <a:off x="2002370" y="2194560"/>
            <a:ext cx="4133419" cy="3703320"/>
          </a:xfrm>
          <a:prstGeom prst="rect">
            <a:avLst/>
          </a:prstGeom>
        </p:spPr>
      </p:pic>
      <p:sp>
        <p:nvSpPr>
          <p:cNvPr id="8" name="Text 4"/>
          <p:cNvSpPr/>
          <p:nvPr/>
        </p:nvSpPr>
        <p:spPr>
          <a:xfrm>
            <a:off x="7818120" y="2423160"/>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01 / PAUSE</a:t>
            </a:r>
            <a:endParaRPr lang="en-US" sz="1000" dirty="0"/>
          </a:p>
        </p:txBody>
      </p:sp>
      <p:sp>
        <p:nvSpPr>
          <p:cNvPr id="9" name="Text 5"/>
          <p:cNvSpPr/>
          <p:nvPr/>
        </p:nvSpPr>
        <p:spPr>
          <a:xfrm>
            <a:off x="7818120" y="2743200"/>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The listener stops.</a:t>
            </a:r>
            <a:endParaRPr lang="en-US" sz="2000" dirty="0"/>
          </a:p>
        </p:txBody>
      </p:sp>
      <p:sp>
        <p:nvSpPr>
          <p:cNvPr id="10" name="Text 6"/>
          <p:cNvSpPr/>
          <p:nvPr/>
        </p:nvSpPr>
        <p:spPr>
          <a:xfrm>
            <a:off x="7818120" y="3557016"/>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02 / PAY</a:t>
            </a:r>
            <a:endParaRPr lang="en-US" sz="1000" dirty="0"/>
          </a:p>
        </p:txBody>
      </p:sp>
      <p:sp>
        <p:nvSpPr>
          <p:cNvPr id="11" name="Text 7"/>
          <p:cNvSpPr/>
          <p:nvPr/>
        </p:nvSpPr>
        <p:spPr>
          <a:xfrm>
            <a:off x="7818120" y="3877056"/>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The chain keeps going.</a:t>
            </a:r>
            <a:endParaRPr lang="en-US" sz="2000" dirty="0"/>
          </a:p>
        </p:txBody>
      </p:sp>
      <p:sp>
        <p:nvSpPr>
          <p:cNvPr id="12" name="Text 8"/>
          <p:cNvSpPr/>
          <p:nvPr/>
        </p:nvSpPr>
        <p:spPr>
          <a:xfrm>
            <a:off x="7818120" y="4690872"/>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03 / RESUME</a:t>
            </a:r>
            <a:endParaRPr lang="en-US" sz="1000" dirty="0"/>
          </a:p>
        </p:txBody>
      </p:sp>
      <p:sp>
        <p:nvSpPr>
          <p:cNvPr id="13" name="Text 9"/>
          <p:cNvSpPr/>
          <p:nvPr/>
        </p:nvSpPr>
        <p:spPr>
          <a:xfrm>
            <a:off x="7818120" y="5010912"/>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Missed receipts return.</a:t>
            </a:r>
            <a:endParaRPr lang="en-US" sz="2000" dirty="0"/>
          </a:p>
        </p:txBody>
      </p:sp>
      <p:sp>
        <p:nvSpPr>
          <p:cNvPr id="14" name="Text 10"/>
          <p:cNvSpPr/>
          <p:nvPr/>
        </p:nvSpPr>
        <p:spPr>
          <a:xfrm>
            <a:off x="777240" y="6080760"/>
            <a:ext cx="10607040" cy="201168"/>
          </a:xfrm>
          <a:prstGeom prst="rect">
            <a:avLst/>
          </a:prstGeom>
          <a:noFill/>
          <a:ln/>
        </p:spPr>
        <p:txBody>
          <a:bodyPr wrap="square" lIns="0" tIns="0" rIns="0" bIns="0" rtlCol="0" anchor="ctr"/>
          <a:lstStyle/>
          <a:p>
            <a:pPr indent="0" marL="0">
              <a:buNone/>
            </a:pPr>
            <a:r>
              <a:rPr lang="en-US" sz="1000" dirty="0">
                <a:solidFill>
                  <a:srgbClr val="69738B"/>
                </a:solidFill>
                <a:latin typeface="DM Sans" pitchFamily="34" charset="0"/>
                <a:ea typeface="DM Sans" pitchFamily="34" charset="-122"/>
                <a:cs typeface="DM Sans" pitchFamily="34" charset="-120"/>
              </a:rPr>
              <a:t>Saved position → historical catch-up → live delivery on the same connection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RESUME STRATEGY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No cursor yet? Keep a checkpoint.</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08</a:t>
            </a:r>
            <a:endParaRPr lang="en-US" sz="1000" dirty="0"/>
          </a:p>
        </p:txBody>
      </p:sp>
      <p:sp>
        <p:nvSpPr>
          <p:cNvPr id="7" name="Shape 4"/>
          <p:cNvSpPr/>
          <p:nvPr/>
        </p:nvSpPr>
        <p:spPr>
          <a:xfrm>
            <a:off x="777240" y="2606040"/>
            <a:ext cx="2474214" cy="2468880"/>
          </a:xfrm>
          <a:prstGeom prst="rect">
            <a:avLst/>
          </a:prstGeom>
          <a:solidFill>
            <a:srgbClr val="FFFFFF"/>
          </a:solidFill>
          <a:ln w="12700">
            <a:solidFill>
              <a:srgbClr val="FFFFFF">
                <a:alpha val="0"/>
              </a:srgbClr>
            </a:solidFill>
            <a:prstDash val="solid"/>
          </a:ln>
        </p:spPr>
      </p:sp>
      <p:sp>
        <p:nvSpPr>
          <p:cNvPr id="8" name="Text 5"/>
          <p:cNvSpPr/>
          <p:nvPr/>
        </p:nvSpPr>
        <p:spPr>
          <a:xfrm>
            <a:off x="978408"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01</a:t>
            </a:r>
            <a:endParaRPr lang="en-US" sz="1300" dirty="0"/>
          </a:p>
        </p:txBody>
      </p:sp>
      <p:sp>
        <p:nvSpPr>
          <p:cNvPr id="9" name="Text 6"/>
          <p:cNvSpPr/>
          <p:nvPr/>
        </p:nvSpPr>
        <p:spPr>
          <a:xfrm>
            <a:off x="978408"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First open</a:t>
            </a:r>
            <a:endParaRPr lang="en-US" sz="2500" dirty="0"/>
          </a:p>
        </p:txBody>
      </p:sp>
      <p:sp>
        <p:nvSpPr>
          <p:cNvPr id="10" name="Text 7"/>
          <p:cNvSpPr/>
          <p:nvPr/>
        </p:nvSpPr>
        <p:spPr>
          <a:xfrm>
            <a:off x="978408"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Capture an opening checkpoint</a:t>
            </a:r>
            <a:endParaRPr lang="en-US" sz="1600" dirty="0"/>
          </a:p>
        </p:txBody>
      </p:sp>
      <p:sp>
        <p:nvSpPr>
          <p:cNvPr id="11" name="Shape 8"/>
          <p:cNvSpPr/>
          <p:nvPr/>
        </p:nvSpPr>
        <p:spPr>
          <a:xfrm>
            <a:off x="3498342" y="2606040"/>
            <a:ext cx="2474214" cy="2468880"/>
          </a:xfrm>
          <a:prstGeom prst="rect">
            <a:avLst/>
          </a:prstGeom>
          <a:solidFill>
            <a:srgbClr val="FFFFFF"/>
          </a:solidFill>
          <a:ln w="12700">
            <a:solidFill>
              <a:srgbClr val="FFFFFF">
                <a:alpha val="0"/>
              </a:srgbClr>
            </a:solidFill>
            <a:prstDash val="solid"/>
          </a:ln>
        </p:spPr>
      </p:sp>
      <p:sp>
        <p:nvSpPr>
          <p:cNvPr id="12" name="Text 9"/>
          <p:cNvSpPr/>
          <p:nvPr/>
        </p:nvSpPr>
        <p:spPr>
          <a:xfrm>
            <a:off x="3699510"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02</a:t>
            </a:r>
            <a:endParaRPr lang="en-US" sz="1300" dirty="0"/>
          </a:p>
        </p:txBody>
      </p:sp>
      <p:sp>
        <p:nvSpPr>
          <p:cNvPr id="13" name="Text 10"/>
          <p:cNvSpPr/>
          <p:nvPr/>
        </p:nvSpPr>
        <p:spPr>
          <a:xfrm>
            <a:off x="3699510"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First delivery</a:t>
            </a:r>
            <a:endParaRPr lang="en-US" sz="2500" dirty="0"/>
          </a:p>
        </p:txBody>
      </p:sp>
      <p:sp>
        <p:nvSpPr>
          <p:cNvPr id="14" name="Text 11"/>
          <p:cNvSpPr/>
          <p:nvPr/>
        </p:nvSpPr>
        <p:spPr>
          <a:xfrm>
            <a:off x="3699510"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Save the cursor with its payment</a:t>
            </a:r>
            <a:endParaRPr lang="en-US" sz="1600" dirty="0"/>
          </a:p>
        </p:txBody>
      </p:sp>
      <p:sp>
        <p:nvSpPr>
          <p:cNvPr id="15" name="Shape 12"/>
          <p:cNvSpPr/>
          <p:nvPr/>
        </p:nvSpPr>
        <p:spPr>
          <a:xfrm>
            <a:off x="6219444" y="2606040"/>
            <a:ext cx="2474214" cy="2468880"/>
          </a:xfrm>
          <a:prstGeom prst="rect">
            <a:avLst/>
          </a:prstGeom>
          <a:solidFill>
            <a:srgbClr val="FFFFFF"/>
          </a:solidFill>
          <a:ln w="12700">
            <a:solidFill>
              <a:srgbClr val="FFFFFF">
                <a:alpha val="0"/>
              </a:srgbClr>
            </a:solidFill>
            <a:prstDash val="solid"/>
          </a:ln>
        </p:spPr>
      </p:sp>
      <p:sp>
        <p:nvSpPr>
          <p:cNvPr id="16" name="Text 13"/>
          <p:cNvSpPr/>
          <p:nvPr/>
        </p:nvSpPr>
        <p:spPr>
          <a:xfrm>
            <a:off x="6420612"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03</a:t>
            </a:r>
            <a:endParaRPr lang="en-US" sz="1300" dirty="0"/>
          </a:p>
        </p:txBody>
      </p:sp>
      <p:sp>
        <p:nvSpPr>
          <p:cNvPr id="17" name="Text 14"/>
          <p:cNvSpPr/>
          <p:nvPr/>
        </p:nvSpPr>
        <p:spPr>
          <a:xfrm>
            <a:off x="6420612"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Reconnect</a:t>
            </a:r>
            <a:endParaRPr lang="en-US" sz="2500" dirty="0"/>
          </a:p>
        </p:txBody>
      </p:sp>
      <p:sp>
        <p:nvSpPr>
          <p:cNvPr id="18" name="Text 15"/>
          <p:cNvSpPr/>
          <p:nvPr/>
        </p:nvSpPr>
        <p:spPr>
          <a:xfrm>
            <a:off x="6420612"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Use after, or the opening checkpoint</a:t>
            </a:r>
            <a:endParaRPr lang="en-US" sz="1600" dirty="0"/>
          </a:p>
        </p:txBody>
      </p:sp>
      <p:sp>
        <p:nvSpPr>
          <p:cNvPr id="19" name="Shape 16"/>
          <p:cNvSpPr/>
          <p:nvPr/>
        </p:nvSpPr>
        <p:spPr>
          <a:xfrm>
            <a:off x="8940546" y="2606040"/>
            <a:ext cx="2474214" cy="2468880"/>
          </a:xfrm>
          <a:prstGeom prst="rect">
            <a:avLst/>
          </a:prstGeom>
          <a:solidFill>
            <a:srgbClr val="2338FF"/>
          </a:solidFill>
          <a:ln w="12700">
            <a:solidFill>
              <a:srgbClr val="2338FF">
                <a:alpha val="0"/>
              </a:srgbClr>
            </a:solidFill>
            <a:prstDash val="solid"/>
          </a:ln>
        </p:spPr>
      </p:sp>
      <p:sp>
        <p:nvSpPr>
          <p:cNvPr id="20" name="Text 17"/>
          <p:cNvSpPr/>
          <p:nvPr/>
        </p:nvSpPr>
        <p:spPr>
          <a:xfrm>
            <a:off x="9141714" y="2816352"/>
            <a:ext cx="2071878" cy="320040"/>
          </a:xfrm>
          <a:prstGeom prst="rect">
            <a:avLst/>
          </a:prstGeom>
          <a:noFill/>
          <a:ln/>
        </p:spPr>
        <p:txBody>
          <a:bodyPr wrap="square" lIns="0" tIns="0" rIns="0" bIns="0" rtlCol="0" anchor="ctr"/>
          <a:lstStyle/>
          <a:p>
            <a:pPr indent="0" marL="0">
              <a:buNone/>
            </a:pPr>
            <a:r>
              <a:rPr lang="en-US" sz="1300" dirty="0">
                <a:solidFill>
                  <a:srgbClr val="C4CEFF"/>
                </a:solidFill>
                <a:latin typeface="JetBrains Mono" pitchFamily="34" charset="0"/>
                <a:ea typeface="JetBrains Mono" pitchFamily="34" charset="-122"/>
                <a:cs typeface="JetBrains Mono" pitchFamily="34" charset="-120"/>
              </a:rPr>
              <a:t>04</a:t>
            </a:r>
            <a:endParaRPr lang="en-US" sz="1300" dirty="0"/>
          </a:p>
        </p:txBody>
      </p:sp>
      <p:sp>
        <p:nvSpPr>
          <p:cNvPr id="21" name="Text 18"/>
          <p:cNvSpPr/>
          <p:nvPr/>
        </p:nvSpPr>
        <p:spPr>
          <a:xfrm>
            <a:off x="9141714" y="3429000"/>
            <a:ext cx="2071878" cy="59436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Continue</a:t>
            </a:r>
            <a:endParaRPr lang="en-US" sz="2500" dirty="0"/>
          </a:p>
        </p:txBody>
      </p:sp>
      <p:sp>
        <p:nvSpPr>
          <p:cNvPr id="22" name="Text 19"/>
          <p:cNvSpPr/>
          <p:nvPr/>
        </p:nvSpPr>
        <p:spPr>
          <a:xfrm>
            <a:off x="9141714" y="4114800"/>
            <a:ext cx="2071878" cy="768096"/>
          </a:xfrm>
          <a:prstGeom prst="rect">
            <a:avLst/>
          </a:prstGeom>
          <a:noFill/>
          <a:ln/>
        </p:spPr>
        <p:txBody>
          <a:bodyPr wrap="square" lIns="0" tIns="0" rIns="0" bIns="0" rtlCol="0" anchor="ctr"/>
          <a:lstStyle/>
          <a:p>
            <a:pPr indent="0" marL="0">
              <a:buNone/>
            </a:pPr>
            <a:r>
              <a:rPr lang="en-US" sz="1600" dirty="0">
                <a:solidFill>
                  <a:srgbClr val="D4DCFF"/>
                </a:solidFill>
                <a:latin typeface="DM Sans" pitchFamily="34" charset="0"/>
                <a:ea typeface="DM Sans" pitchFamily="34" charset="-122"/>
                <a:cs typeface="DM Sans" pitchFamily="34" charset="-120"/>
              </a:rPr>
              <a:t>Replay first. Then follow live.</a:t>
            </a:r>
            <a:endParaRPr lang="en-US" sz="1600" dirty="0"/>
          </a:p>
        </p:txBody>
      </p:sp>
      <p:sp>
        <p:nvSpPr>
          <p:cNvPr id="23" name="Text 20"/>
          <p:cNvSpPr/>
          <p:nvPr/>
        </p:nvSpPr>
        <p:spPr>
          <a:xfrm>
            <a:off x="777240" y="5468112"/>
            <a:ext cx="10515600" cy="502920"/>
          </a:xfrm>
          <a:prstGeom prst="rect">
            <a:avLst/>
          </a:prstGeom>
          <a:noFill/>
          <a:ln/>
        </p:spPr>
        <p:txBody>
          <a:bodyPr wrap="square" lIns="0" tIns="0" rIns="0" bIns="0" rtlCol="0" anchor="ctr"/>
          <a:lstStyle/>
          <a:p>
            <a:pPr indent="0" marL="0">
              <a:buNone/>
            </a:pP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INDEXER/INDEXER.TS / EXCERPT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The cursor belongs in the same commit.</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09</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1567" dirty="0">
                <a:solidFill>
                  <a:srgbClr val="D9E1FF"/>
                </a:solidFill>
                <a:latin typeface="JetBrains Mono" pitchFamily="34" charset="0"/>
                <a:ea typeface="JetBrains Mono" pitchFamily="34" charset="-122"/>
                <a:cs typeface="JetBrains Mono" pitchFamily="34" charset="-120"/>
              </a:rPr>
              <a:t>db.exec('BEGIN');</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try {</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for (const p of payments) {</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insert.run(p.digest, p.coinType, p.amount,</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p.sender, p.checkpoint, p.timestamp, p.cursor);</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saveCursor.run(shop, d.transactions.cursor,</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new Date().toISOString());</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db.exec('COMMIT');</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catch (e) {</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db.exec('ROLLBACK');</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throw e;</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a:t>
            </a:r>
            <a:endParaRPr lang="en-US" sz="1567"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pnpm indexer → pnpm totals   /   PRIMARY KEY (digest, coin_type)   /   One commit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[ 04 / ARCHIVED RECEIPT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A full node can forget. History remains.</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10</a:t>
            </a:r>
            <a:endParaRPr lang="en-US" sz="1000" dirty="0"/>
          </a:p>
        </p:txBody>
      </p:sp>
      <p:pic>
        <p:nvPicPr>
          <p:cNvPr id="7" name="Image 0" descr="/Users/emmanuelosadebe/Documents/SUI-HUB-CLASSES/account-layer-week/day3-till/teaching/assets/receipt.png">    </p:cNvPr>
          <p:cNvPicPr>
            <a:picLocks noChangeAspect="1"/>
          </p:cNvPicPr>
          <p:nvPr/>
        </p:nvPicPr>
        <p:blipFill>
          <a:blip r:embed="rId1"/>
          <a:stretch>
            <a:fillRect/>
          </a:stretch>
        </p:blipFill>
        <p:spPr>
          <a:xfrm>
            <a:off x="777240" y="2444191"/>
            <a:ext cx="6583680" cy="3204058"/>
          </a:xfrm>
          <a:prstGeom prst="rect">
            <a:avLst/>
          </a:prstGeom>
        </p:spPr>
      </p:pic>
      <p:sp>
        <p:nvSpPr>
          <p:cNvPr id="8" name="Text 4"/>
          <p:cNvSpPr/>
          <p:nvPr/>
        </p:nvSpPr>
        <p:spPr>
          <a:xfrm>
            <a:off x="7818120" y="2423160"/>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DATE</a:t>
            </a:r>
            <a:endParaRPr lang="en-US" sz="1000" dirty="0"/>
          </a:p>
        </p:txBody>
      </p:sp>
      <p:sp>
        <p:nvSpPr>
          <p:cNvPr id="9" name="Text 5"/>
          <p:cNvSpPr/>
          <p:nvPr/>
        </p:nvSpPr>
        <p:spPr>
          <a:xfrm>
            <a:off x="7818120" y="2743200"/>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7 October 2025</a:t>
            </a:r>
            <a:endParaRPr lang="en-US" sz="2000" dirty="0"/>
          </a:p>
        </p:txBody>
      </p:sp>
      <p:sp>
        <p:nvSpPr>
          <p:cNvPr id="10" name="Text 6"/>
          <p:cNvSpPr/>
          <p:nvPr/>
        </p:nvSpPr>
        <p:spPr>
          <a:xfrm>
            <a:off x="7818120" y="3557016"/>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CHECKPOINT</a:t>
            </a:r>
            <a:endParaRPr lang="en-US" sz="1000" dirty="0"/>
          </a:p>
        </p:txBody>
      </p:sp>
      <p:sp>
        <p:nvSpPr>
          <p:cNvPr id="11" name="Text 7"/>
          <p:cNvSpPr/>
          <p:nvPr/>
        </p:nvSpPr>
        <p:spPr>
          <a:xfrm>
            <a:off x="7818120" y="3877056"/>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250,000,000</a:t>
            </a:r>
            <a:endParaRPr lang="en-US" sz="2000" dirty="0"/>
          </a:p>
        </p:txBody>
      </p:sp>
      <p:sp>
        <p:nvSpPr>
          <p:cNvPr id="12" name="Text 8"/>
          <p:cNvSpPr/>
          <p:nvPr/>
        </p:nvSpPr>
        <p:spPr>
          <a:xfrm>
            <a:off x="7818120" y="4690872"/>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RESULT</a:t>
            </a:r>
            <a:endParaRPr lang="en-US" sz="1000" dirty="0"/>
          </a:p>
        </p:txBody>
      </p:sp>
      <p:sp>
        <p:nvSpPr>
          <p:cNvPr id="13" name="Text 9"/>
          <p:cNvSpPr/>
          <p:nvPr/>
        </p:nvSpPr>
        <p:spPr>
          <a:xfrm>
            <a:off x="7818120" y="5010912"/>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GraphQL found the receipt.</a:t>
            </a:r>
            <a:endParaRPr lang="en-US" sz="2000" dirty="0"/>
          </a:p>
        </p:txBody>
      </p:sp>
      <p:sp>
        <p:nvSpPr>
          <p:cNvPr id="14" name="Text 10"/>
          <p:cNvSpPr/>
          <p:nvPr/>
        </p:nvSpPr>
        <p:spPr>
          <a:xfrm>
            <a:off x="777240" y="6080760"/>
            <a:ext cx="10607040" cy="201168"/>
          </a:xfrm>
          <a:prstGeom prst="rect">
            <a:avLst/>
          </a:prstGeom>
          <a:noFill/>
          <a:ln/>
        </p:spPr>
        <p:txBody>
          <a:bodyPr wrap="square" lIns="0" tIns="0" rIns="0" bIns="0" rtlCol="0" anchor="ctr"/>
          <a:lstStyle/>
          <a:p>
            <a:pPr indent="0" marL="0">
              <a:buNone/>
            </a:pPr>
            <a:r>
              <a:rPr lang="en-US" sz="1000" dirty="0">
                <a:solidFill>
                  <a:srgbClr val="69738B"/>
                </a:solidFill>
                <a:latin typeface="DM Sans" pitchFamily="34" charset="0"/>
                <a:ea typeface="DM Sans" pitchFamily="34" charset="-122"/>
                <a:cs typeface="DM Sans" pitchFamily="34" charset="-120"/>
              </a:rPr>
              <a:t>Verified 15 October 2026   /   Transaction dated 7 October 2025   /   Checkpoint 250,000,000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GOTCHAS / OBSERVED 15 OCTOBER 2026 ]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Plan for limits and real-world gaps.</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11</a:t>
            </a:r>
            <a:endParaRPr lang="en-US" sz="1000" dirty="0"/>
          </a:p>
        </p:txBody>
      </p:sp>
      <p:sp>
        <p:nvSpPr>
          <p:cNvPr id="7" name="Shape 4"/>
          <p:cNvSpPr/>
          <p:nvPr/>
        </p:nvSpPr>
        <p:spPr>
          <a:xfrm>
            <a:off x="777240" y="2286000"/>
            <a:ext cx="5204460" cy="1664208"/>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PAGINATION</a:t>
            </a:r>
            <a:endParaRPr lang="en-US" sz="1100" dirty="0"/>
          </a:p>
        </p:txBody>
      </p:sp>
      <p:sp>
        <p:nvSpPr>
          <p:cNvPr id="9" name="Text 6"/>
          <p:cNvSpPr/>
          <p:nvPr/>
        </p:nvSpPr>
        <p:spPr>
          <a:xfrm>
            <a:off x="100584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20 default / 50 max</a:t>
            </a:r>
            <a:endParaRPr lang="en-US" sz="2300" dirty="0"/>
          </a:p>
        </p:txBody>
      </p:sp>
      <p:sp>
        <p:nvSpPr>
          <p:cNvPr id="10" name="Text 7"/>
          <p:cNvSpPr/>
          <p:nvPr/>
        </p:nvSpPr>
        <p:spPr>
          <a:xfrm>
            <a:off x="100584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Observed for Query.transactions. Page longer history.</a:t>
            </a:r>
            <a:endParaRPr lang="en-US" sz="1500" dirty="0"/>
          </a:p>
        </p:txBody>
      </p:sp>
      <p:sp>
        <p:nvSpPr>
          <p:cNvPr id="11" name="Shape 8"/>
          <p:cNvSpPr/>
          <p:nvPr/>
        </p:nvSpPr>
        <p:spPr>
          <a:xfrm>
            <a:off x="6210300" y="2286000"/>
            <a:ext cx="5204460" cy="1664208"/>
          </a:xfrm>
          <a:prstGeom prst="rect">
            <a:avLst/>
          </a:prstGeom>
          <a:solidFill>
            <a:srgbClr val="FFFFFF"/>
          </a:solidFill>
          <a:ln w="12700">
            <a:solidFill>
              <a:srgbClr val="FFFF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QUERY TIMEOUT</a:t>
            </a:r>
            <a:endParaRPr lang="en-US" sz="1100" dirty="0"/>
          </a:p>
        </p:txBody>
      </p:sp>
      <p:sp>
        <p:nvSpPr>
          <p:cNvPr id="13" name="Text 10"/>
          <p:cNvSpPr/>
          <p:nvPr/>
        </p:nvSpPr>
        <p:spPr>
          <a:xfrm>
            <a:off x="643890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40 seconds</a:t>
            </a:r>
            <a:endParaRPr lang="en-US" sz="2300" dirty="0"/>
          </a:p>
        </p:txBody>
      </p:sp>
      <p:sp>
        <p:nvSpPr>
          <p:cNvPr id="14" name="Text 11"/>
          <p:cNvSpPr/>
          <p:nvPr/>
        </p:nvSpPr>
        <p:spPr>
          <a:xfrm>
            <a:off x="643890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Keep selections small. Provider settings can change.</a:t>
            </a:r>
            <a:endParaRPr lang="en-US" sz="1500" dirty="0"/>
          </a:p>
        </p:txBody>
      </p:sp>
      <p:sp>
        <p:nvSpPr>
          <p:cNvPr id="15" name="Shape 12"/>
          <p:cNvSpPr/>
          <p:nvPr/>
        </p:nvSpPr>
        <p:spPr>
          <a:xfrm>
            <a:off x="777240" y="4114800"/>
            <a:ext cx="5204460" cy="1664208"/>
          </a:xfrm>
          <a:prstGeom prst="rect">
            <a:avLst/>
          </a:prstGeom>
          <a:solidFill>
            <a:srgbClr val="2338FF"/>
          </a:solidFill>
          <a:ln w="12700">
            <a:solidFill>
              <a:srgbClr val="2338FF">
                <a:alpha val="0"/>
              </a:srgbClr>
            </a:solidFill>
            <a:prstDash val="solid"/>
          </a:ln>
        </p:spPr>
      </p:sp>
      <p:sp>
        <p:nvSpPr>
          <p:cNvPr id="16" name="Text 13"/>
          <p:cNvSpPr/>
          <p:nvPr/>
        </p:nvSpPr>
        <p:spPr>
          <a:xfrm>
            <a:off x="1005840" y="43251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LIVE FILTER GAP</a:t>
            </a:r>
            <a:endParaRPr lang="en-US" sz="1100" dirty="0"/>
          </a:p>
        </p:txBody>
      </p:sp>
      <p:sp>
        <p:nvSpPr>
          <p:cNvPr id="17" name="Text 14"/>
          <p:cNvSpPr/>
          <p:nvPr/>
        </p:nvSpPr>
        <p:spPr>
          <a:xfrm>
            <a:off x="1005840" y="4718304"/>
            <a:ext cx="4747260" cy="36576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Confirmed, but missing?</a:t>
            </a:r>
            <a:endParaRPr lang="en-US" sz="2300" dirty="0"/>
          </a:p>
        </p:txBody>
      </p:sp>
      <p:sp>
        <p:nvSpPr>
          <p:cNvPr id="18" name="Text 15"/>
          <p:cNvSpPr/>
          <p:nvPr/>
        </p:nvSpPr>
        <p:spPr>
          <a:xfrm>
            <a:off x="1005840" y="5138928"/>
            <a:ext cx="4747260" cy="530352"/>
          </a:xfrm>
          <a:prstGeom prst="rect">
            <a:avLst/>
          </a:prstGeom>
          <a:noFill/>
          <a:ln/>
        </p:spPr>
        <p:txBody>
          <a:bodyPr wrap="square" lIns="0" tIns="0" rIns="0" bIns="0" rtlCol="0" anchor="ctr"/>
          <a:lstStyle/>
          <a:p>
            <a:pPr indent="0" marL="0">
              <a:buNone/>
            </a:pPr>
            <a:r>
              <a:rPr lang="en-US" sz="1500" dirty="0">
                <a:solidFill>
                  <a:srgbClr val="DFE4FF"/>
                </a:solidFill>
                <a:latin typeface="DM Sans" pitchFamily="34" charset="0"/>
                <a:ea typeface="DM Sans" pitchFamily="34" charset="-122"/>
                <a:cs typeface="DM Sans" pitchFamily="34" charset="-120"/>
              </a:rPr>
              <a:t>Address-balance deposits appeared after catch-up.</a:t>
            </a:r>
            <a:endParaRPr lang="en-US" sz="1500" dirty="0"/>
          </a:p>
        </p:txBody>
      </p:sp>
      <p:sp>
        <p:nvSpPr>
          <p:cNvPr id="19" name="Shape 16"/>
          <p:cNvSpPr/>
          <p:nvPr/>
        </p:nvSpPr>
        <p:spPr>
          <a:xfrm>
            <a:off x="6210300" y="4114800"/>
            <a:ext cx="5204460" cy="1664208"/>
          </a:xfrm>
          <a:prstGeom prst="rect">
            <a:avLst/>
          </a:prstGeom>
          <a:solidFill>
            <a:srgbClr val="FFFFFF"/>
          </a:solidFill>
          <a:ln w="12700">
            <a:solidFill>
              <a:srgbClr val="FFFFFF">
                <a:alpha val="0"/>
              </a:srgbClr>
            </a:solidFill>
            <a:prstDash val="solid"/>
          </a:ln>
        </p:spPr>
      </p:sp>
      <p:sp>
        <p:nvSpPr>
          <p:cNvPr id="20" name="Text 17"/>
          <p:cNvSpPr/>
          <p:nvPr/>
        </p:nvSpPr>
        <p:spPr>
          <a:xfrm>
            <a:off x="643890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PRODUCTION</a:t>
            </a:r>
            <a:endParaRPr lang="en-US" sz="1100" dirty="0"/>
          </a:p>
        </p:txBody>
      </p:sp>
      <p:sp>
        <p:nvSpPr>
          <p:cNvPr id="21" name="Text 18"/>
          <p:cNvSpPr/>
          <p:nvPr/>
        </p:nvSpPr>
        <p:spPr>
          <a:xfrm>
            <a:off x="643890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Check your provider.</a:t>
            </a:r>
            <a:endParaRPr lang="en-US" sz="2300" dirty="0"/>
          </a:p>
        </p:txBody>
      </p:sp>
      <p:sp>
        <p:nvSpPr>
          <p:cNvPr id="22" name="Text 19"/>
          <p:cNvSpPr/>
          <p:nvPr/>
        </p:nvSpPr>
        <p:spPr>
          <a:xfrm>
            <a:off x="643890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Throttling, retention, quotas, auth and uptime matter.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MIGRATION/ / THREE RUNNABLE EXAMPLES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Migrate the intention, not just the method.</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12</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2000" dirty="0">
                <a:solidFill>
                  <a:srgbClr val="D9E1FF"/>
                </a:solidFill>
                <a:latin typeface="JetBrains Mono" pitchFamily="34" charset="0"/>
                <a:ea typeface="JetBrains Mono" pitchFamily="34" charset="-122"/>
                <a:cs typeface="JetBrains Mono" pitchFamily="34" charset="-120"/>
              </a:rPr>
              <a:t>pnpm migrate:legacy   # inspect the JSON-RPC error body</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pnpm migrate:grpc     # current balance through gRPC</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pnpm migrate:graphql  # structured indexed query</a:t>
            </a:r>
            <a:endParaRPr lang="en-US" sz="2000" dirty="0"/>
          </a:p>
          <a:p>
            <a:pPr indent="0" marL="0">
              <a:buNone/>
            </a:pP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gRPC SDK shape used by the app:</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const { balance } = await client.getBalance({</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owner: address, coinType: '0x2::sui::SUI'</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balance.balance includes coin and address balances.</a:t>
            </a:r>
            <a:endParaRPr lang="en-US" sz="2000"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Execute and read current state with gRPC. Query indexed history with GraphQL.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REFRESH / SWITCH / RESET / UPGRADE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The lifecycle is part of the demo.</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13</a:t>
            </a:r>
            <a:endParaRPr lang="en-US" sz="1000" dirty="0"/>
          </a:p>
        </p:txBody>
      </p:sp>
      <p:sp>
        <p:nvSpPr>
          <p:cNvPr id="7" name="Shape 4"/>
          <p:cNvSpPr/>
          <p:nvPr/>
        </p:nvSpPr>
        <p:spPr>
          <a:xfrm>
            <a:off x="777240" y="2286000"/>
            <a:ext cx="5204460" cy="1664208"/>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REFRESH</a:t>
            </a:r>
            <a:endParaRPr lang="en-US" sz="1100" dirty="0"/>
          </a:p>
        </p:txBody>
      </p:sp>
      <p:sp>
        <p:nvSpPr>
          <p:cNvPr id="9" name="Text 6"/>
          <p:cNvSpPr/>
          <p:nvPr/>
        </p:nvSpPr>
        <p:spPr>
          <a:xfrm>
            <a:off x="100584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Resume explicitly.</a:t>
            </a:r>
            <a:endParaRPr lang="en-US" sz="2300" dirty="0"/>
          </a:p>
        </p:txBody>
      </p:sp>
      <p:sp>
        <p:nvSpPr>
          <p:cNvPr id="10" name="Text 7"/>
          <p:cNvSpPr/>
          <p:nvPr/>
        </p:nvSpPr>
        <p:spPr>
          <a:xfrm>
            <a:off x="100584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Open till restores the saved per-shop position.</a:t>
            </a:r>
            <a:endParaRPr lang="en-US" sz="1500" dirty="0"/>
          </a:p>
        </p:txBody>
      </p:sp>
      <p:sp>
        <p:nvSpPr>
          <p:cNvPr id="11" name="Shape 8"/>
          <p:cNvSpPr/>
          <p:nvPr/>
        </p:nvSpPr>
        <p:spPr>
          <a:xfrm>
            <a:off x="6210300" y="2286000"/>
            <a:ext cx="5204460" cy="1664208"/>
          </a:xfrm>
          <a:prstGeom prst="rect">
            <a:avLst/>
          </a:prstGeom>
          <a:solidFill>
            <a:srgbClr val="2338FF"/>
          </a:solidFill>
          <a:ln w="12700">
            <a:solidFill>
              <a:srgbClr val="2338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SWITCH ACCOUNT</a:t>
            </a:r>
            <a:endParaRPr lang="en-US" sz="1100" dirty="0"/>
          </a:p>
        </p:txBody>
      </p:sp>
      <p:sp>
        <p:nvSpPr>
          <p:cNvPr id="13" name="Text 10"/>
          <p:cNvSpPr/>
          <p:nvPr/>
        </p:nvSpPr>
        <p:spPr>
          <a:xfrm>
            <a:off x="6438900" y="2889504"/>
            <a:ext cx="4747260" cy="36576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Switch the shop too.</a:t>
            </a:r>
            <a:endParaRPr lang="en-US" sz="2300" dirty="0"/>
          </a:p>
        </p:txBody>
      </p:sp>
      <p:sp>
        <p:nvSpPr>
          <p:cNvPr id="14" name="Text 11"/>
          <p:cNvSpPr/>
          <p:nvPr/>
        </p:nvSpPr>
        <p:spPr>
          <a:xfrm>
            <a:off x="6438900" y="3310128"/>
            <a:ext cx="4747260" cy="530352"/>
          </a:xfrm>
          <a:prstGeom prst="rect">
            <a:avLst/>
          </a:prstGeom>
          <a:noFill/>
          <a:ln/>
        </p:spPr>
        <p:txBody>
          <a:bodyPr wrap="square" lIns="0" tIns="0" rIns="0" bIns="0" rtlCol="0" anchor="ctr"/>
          <a:lstStyle/>
          <a:p>
            <a:pPr indent="0" marL="0">
              <a:buNone/>
            </a:pPr>
            <a:r>
              <a:rPr lang="en-US" sz="1500" dirty="0">
                <a:solidFill>
                  <a:srgbClr val="DFE4FF"/>
                </a:solidFill>
                <a:latin typeface="DM Sans" pitchFamily="34" charset="0"/>
                <a:ea typeface="DM Sans" pitchFamily="34" charset="-122"/>
                <a:cs typeface="DM Sans" pitchFamily="34" charset="-120"/>
              </a:rPr>
              <a:t>A connected payer gets its own personal receiving address.</a:t>
            </a:r>
            <a:endParaRPr lang="en-US" sz="1500" dirty="0"/>
          </a:p>
        </p:txBody>
      </p:sp>
      <p:sp>
        <p:nvSpPr>
          <p:cNvPr id="15" name="Shape 12"/>
          <p:cNvSpPr/>
          <p:nvPr/>
        </p:nvSpPr>
        <p:spPr>
          <a:xfrm>
            <a:off x="777240" y="4114800"/>
            <a:ext cx="5204460" cy="1664208"/>
          </a:xfrm>
          <a:prstGeom prst="rect">
            <a:avLst/>
          </a:prstGeom>
          <a:solidFill>
            <a:srgbClr val="FFFFFF"/>
          </a:solidFill>
          <a:ln w="12700">
            <a:solidFill>
              <a:srgbClr val="FFFFFF">
                <a:alpha val="0"/>
              </a:srgbClr>
            </a:solidFill>
            <a:prstDash val="solid"/>
          </a:ln>
        </p:spPr>
      </p:sp>
      <p:sp>
        <p:nvSpPr>
          <p:cNvPr id="16" name="Text 13"/>
          <p:cNvSpPr/>
          <p:nvPr/>
        </p:nvSpPr>
        <p:spPr>
          <a:xfrm>
            <a:off x="100584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RESET SESSION</a:t>
            </a:r>
            <a:endParaRPr lang="en-US" sz="1100" dirty="0"/>
          </a:p>
        </p:txBody>
      </p:sp>
      <p:sp>
        <p:nvSpPr>
          <p:cNvPr id="17" name="Text 14"/>
          <p:cNvSpPr/>
          <p:nvPr/>
        </p:nvSpPr>
        <p:spPr>
          <a:xfrm>
            <a:off x="100584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Clear tracking only.</a:t>
            </a:r>
            <a:endParaRPr lang="en-US" sz="2300" dirty="0"/>
          </a:p>
        </p:txBody>
      </p:sp>
      <p:sp>
        <p:nvSpPr>
          <p:cNvPr id="18" name="Text 15"/>
          <p:cNvSpPr/>
          <p:nvPr/>
        </p:nvSpPr>
        <p:spPr>
          <a:xfrm>
            <a:off x="100584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Existing onchain funds and wallet keys stay in place.</a:t>
            </a:r>
            <a:endParaRPr lang="en-US" sz="1500" dirty="0"/>
          </a:p>
        </p:txBody>
      </p:sp>
      <p:sp>
        <p:nvSpPr>
          <p:cNvPr id="19" name="Shape 16"/>
          <p:cNvSpPr/>
          <p:nvPr/>
        </p:nvSpPr>
        <p:spPr>
          <a:xfrm>
            <a:off x="6210300" y="4114800"/>
            <a:ext cx="5204460" cy="1664208"/>
          </a:xfrm>
          <a:prstGeom prst="rect">
            <a:avLst/>
          </a:prstGeom>
          <a:solidFill>
            <a:srgbClr val="FFFFFF"/>
          </a:solidFill>
          <a:ln w="12700">
            <a:solidFill>
              <a:srgbClr val="FFFFFF">
                <a:alpha val="0"/>
              </a:srgbClr>
            </a:solidFill>
            <a:prstDash val="solid"/>
          </a:ln>
        </p:spPr>
      </p:sp>
      <p:sp>
        <p:nvSpPr>
          <p:cNvPr id="20" name="Text 17"/>
          <p:cNvSpPr/>
          <p:nvPr/>
        </p:nvSpPr>
        <p:spPr>
          <a:xfrm>
            <a:off x="643890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UPGRADE</a:t>
            </a:r>
            <a:endParaRPr lang="en-US" sz="1100" dirty="0"/>
          </a:p>
        </p:txBody>
      </p:sp>
      <p:sp>
        <p:nvSpPr>
          <p:cNvPr id="21" name="Text 18"/>
          <p:cNvSpPr/>
          <p:nvPr/>
        </p:nvSpPr>
        <p:spPr>
          <a:xfrm>
            <a:off x="643890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Treat cursors carefully.</a:t>
            </a:r>
            <a:endParaRPr lang="en-US" sz="2300" dirty="0"/>
          </a:p>
        </p:txBody>
      </p:sp>
      <p:sp>
        <p:nvSpPr>
          <p:cNvPr id="22" name="Text 19"/>
          <p:cNvSpPr/>
          <p:nvPr/>
        </p:nvSpPr>
        <p:spPr>
          <a:xfrm>
            <a:off x="643890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Version local state. Rebuild if query semantics change.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STUDENT CHALLENGE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Your turn: prove all four.</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14</a:t>
            </a:r>
            <a:endParaRPr lang="en-US" sz="1000" dirty="0"/>
          </a:p>
        </p:txBody>
      </p:sp>
      <p:sp>
        <p:nvSpPr>
          <p:cNvPr id="7" name="Shape 4"/>
          <p:cNvSpPr/>
          <p:nvPr/>
        </p:nvSpPr>
        <p:spPr>
          <a:xfrm>
            <a:off x="777240" y="2606040"/>
            <a:ext cx="2474214" cy="2468880"/>
          </a:xfrm>
          <a:prstGeom prst="rect">
            <a:avLst/>
          </a:prstGeom>
          <a:solidFill>
            <a:srgbClr val="FFFFFF"/>
          </a:solidFill>
          <a:ln w="12700">
            <a:solidFill>
              <a:srgbClr val="FFFFFF">
                <a:alpha val="0"/>
              </a:srgbClr>
            </a:solidFill>
            <a:prstDash val="solid"/>
          </a:ln>
        </p:spPr>
      </p:sp>
      <p:sp>
        <p:nvSpPr>
          <p:cNvPr id="8" name="Text 5"/>
          <p:cNvSpPr/>
          <p:nvPr/>
        </p:nvSpPr>
        <p:spPr>
          <a:xfrm>
            <a:off x="978408"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01</a:t>
            </a:r>
            <a:endParaRPr lang="en-US" sz="1300" dirty="0"/>
          </a:p>
        </p:txBody>
      </p:sp>
      <p:sp>
        <p:nvSpPr>
          <p:cNvPr id="9" name="Text 6"/>
          <p:cNvSpPr/>
          <p:nvPr/>
        </p:nvSpPr>
        <p:spPr>
          <a:xfrm>
            <a:off x="978408"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Isolation</a:t>
            </a:r>
            <a:endParaRPr lang="en-US" sz="2500" dirty="0"/>
          </a:p>
        </p:txBody>
      </p:sp>
      <p:sp>
        <p:nvSpPr>
          <p:cNvPr id="10" name="Text 7"/>
          <p:cNvSpPr/>
          <p:nvPr/>
        </p:nvSpPr>
        <p:spPr>
          <a:xfrm>
            <a:off x="978408"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Two browsers show different shops</a:t>
            </a:r>
            <a:endParaRPr lang="en-US" sz="1600" dirty="0"/>
          </a:p>
        </p:txBody>
      </p:sp>
      <p:sp>
        <p:nvSpPr>
          <p:cNvPr id="11" name="Shape 8"/>
          <p:cNvSpPr/>
          <p:nvPr/>
        </p:nvSpPr>
        <p:spPr>
          <a:xfrm>
            <a:off x="3498342" y="2606040"/>
            <a:ext cx="2474214" cy="2468880"/>
          </a:xfrm>
          <a:prstGeom prst="rect">
            <a:avLst/>
          </a:prstGeom>
          <a:solidFill>
            <a:srgbClr val="FFFFFF"/>
          </a:solidFill>
          <a:ln w="12700">
            <a:solidFill>
              <a:srgbClr val="FFFFFF">
                <a:alpha val="0"/>
              </a:srgbClr>
            </a:solidFill>
            <a:prstDash val="solid"/>
          </a:ln>
        </p:spPr>
      </p:sp>
      <p:sp>
        <p:nvSpPr>
          <p:cNvPr id="12" name="Text 9"/>
          <p:cNvSpPr/>
          <p:nvPr/>
        </p:nvSpPr>
        <p:spPr>
          <a:xfrm>
            <a:off x="3699510"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02</a:t>
            </a:r>
            <a:endParaRPr lang="en-US" sz="1300" dirty="0"/>
          </a:p>
        </p:txBody>
      </p:sp>
      <p:sp>
        <p:nvSpPr>
          <p:cNvPr id="13" name="Text 10"/>
          <p:cNvSpPr/>
          <p:nvPr/>
        </p:nvSpPr>
        <p:spPr>
          <a:xfrm>
            <a:off x="3699510"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Payment</a:t>
            </a:r>
            <a:endParaRPr lang="en-US" sz="2500" dirty="0"/>
          </a:p>
        </p:txBody>
      </p:sp>
      <p:sp>
        <p:nvSpPr>
          <p:cNvPr id="14" name="Text 11"/>
          <p:cNvSpPr/>
          <p:nvPr/>
        </p:nvSpPr>
        <p:spPr>
          <a:xfrm>
            <a:off x="3699510"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A receipt matches a real digest</a:t>
            </a:r>
            <a:endParaRPr lang="en-US" sz="1600" dirty="0"/>
          </a:p>
        </p:txBody>
      </p:sp>
      <p:sp>
        <p:nvSpPr>
          <p:cNvPr id="15" name="Shape 12"/>
          <p:cNvSpPr/>
          <p:nvPr/>
        </p:nvSpPr>
        <p:spPr>
          <a:xfrm>
            <a:off x="6219444" y="2606040"/>
            <a:ext cx="2474214" cy="2468880"/>
          </a:xfrm>
          <a:prstGeom prst="rect">
            <a:avLst/>
          </a:prstGeom>
          <a:solidFill>
            <a:srgbClr val="FFFFFF"/>
          </a:solidFill>
          <a:ln w="12700">
            <a:solidFill>
              <a:srgbClr val="FFFFFF">
                <a:alpha val="0"/>
              </a:srgbClr>
            </a:solidFill>
            <a:prstDash val="solid"/>
          </a:ln>
        </p:spPr>
      </p:sp>
      <p:sp>
        <p:nvSpPr>
          <p:cNvPr id="16" name="Text 13"/>
          <p:cNvSpPr/>
          <p:nvPr/>
        </p:nvSpPr>
        <p:spPr>
          <a:xfrm>
            <a:off x="6420612"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03</a:t>
            </a:r>
            <a:endParaRPr lang="en-US" sz="1300" dirty="0"/>
          </a:p>
        </p:txBody>
      </p:sp>
      <p:sp>
        <p:nvSpPr>
          <p:cNvPr id="17" name="Text 14"/>
          <p:cNvSpPr/>
          <p:nvPr/>
        </p:nvSpPr>
        <p:spPr>
          <a:xfrm>
            <a:off x="6420612"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Recovery</a:t>
            </a:r>
            <a:endParaRPr lang="en-US" sz="2500" dirty="0"/>
          </a:p>
        </p:txBody>
      </p:sp>
      <p:sp>
        <p:nvSpPr>
          <p:cNvPr id="18" name="Text 15"/>
          <p:cNvSpPr/>
          <p:nvPr/>
        </p:nvSpPr>
        <p:spPr>
          <a:xfrm>
            <a:off x="6420612"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Pause, pay, resume and reload</a:t>
            </a:r>
            <a:endParaRPr lang="en-US" sz="1600" dirty="0"/>
          </a:p>
        </p:txBody>
      </p:sp>
      <p:sp>
        <p:nvSpPr>
          <p:cNvPr id="19" name="Shape 16"/>
          <p:cNvSpPr/>
          <p:nvPr/>
        </p:nvSpPr>
        <p:spPr>
          <a:xfrm>
            <a:off x="8940546" y="2606040"/>
            <a:ext cx="2474214" cy="2468880"/>
          </a:xfrm>
          <a:prstGeom prst="rect">
            <a:avLst/>
          </a:prstGeom>
          <a:solidFill>
            <a:srgbClr val="2338FF"/>
          </a:solidFill>
          <a:ln w="12700">
            <a:solidFill>
              <a:srgbClr val="2338FF">
                <a:alpha val="0"/>
              </a:srgbClr>
            </a:solidFill>
            <a:prstDash val="solid"/>
          </a:ln>
        </p:spPr>
      </p:sp>
      <p:sp>
        <p:nvSpPr>
          <p:cNvPr id="20" name="Text 17"/>
          <p:cNvSpPr/>
          <p:nvPr/>
        </p:nvSpPr>
        <p:spPr>
          <a:xfrm>
            <a:off x="9141714" y="2816352"/>
            <a:ext cx="2071878" cy="320040"/>
          </a:xfrm>
          <a:prstGeom prst="rect">
            <a:avLst/>
          </a:prstGeom>
          <a:noFill/>
          <a:ln/>
        </p:spPr>
        <p:txBody>
          <a:bodyPr wrap="square" lIns="0" tIns="0" rIns="0" bIns="0" rtlCol="0" anchor="ctr"/>
          <a:lstStyle/>
          <a:p>
            <a:pPr indent="0" marL="0">
              <a:buNone/>
            </a:pPr>
            <a:r>
              <a:rPr lang="en-US" sz="1300" dirty="0">
                <a:solidFill>
                  <a:srgbClr val="C4CEFF"/>
                </a:solidFill>
                <a:latin typeface="JetBrains Mono" pitchFamily="34" charset="0"/>
                <a:ea typeface="JetBrains Mono" pitchFamily="34" charset="-122"/>
                <a:cs typeface="JetBrains Mono" pitchFamily="34" charset="-120"/>
              </a:rPr>
              <a:t>04</a:t>
            </a:r>
            <a:endParaRPr lang="en-US" sz="1300" dirty="0"/>
          </a:p>
        </p:txBody>
      </p:sp>
      <p:sp>
        <p:nvSpPr>
          <p:cNvPr id="21" name="Text 18"/>
          <p:cNvSpPr/>
          <p:nvPr/>
        </p:nvSpPr>
        <p:spPr>
          <a:xfrm>
            <a:off x="9141714" y="3429000"/>
            <a:ext cx="2071878" cy="59436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History</a:t>
            </a:r>
            <a:endParaRPr lang="en-US" sz="2500" dirty="0"/>
          </a:p>
        </p:txBody>
      </p:sp>
      <p:sp>
        <p:nvSpPr>
          <p:cNvPr id="22" name="Text 19"/>
          <p:cNvSpPr/>
          <p:nvPr/>
        </p:nvSpPr>
        <p:spPr>
          <a:xfrm>
            <a:off x="9141714" y="4114800"/>
            <a:ext cx="2071878" cy="768096"/>
          </a:xfrm>
          <a:prstGeom prst="rect">
            <a:avLst/>
          </a:prstGeom>
          <a:noFill/>
          <a:ln/>
        </p:spPr>
        <p:txBody>
          <a:bodyPr wrap="square" lIns="0" tIns="0" rIns="0" bIns="0" rtlCol="0" anchor="ctr"/>
          <a:lstStyle/>
          <a:p>
            <a:pPr indent="0" marL="0">
              <a:buNone/>
            </a:pPr>
            <a:r>
              <a:rPr lang="en-US" sz="1600" dirty="0">
                <a:solidFill>
                  <a:srgbClr val="D4DCFF"/>
                </a:solidFill>
                <a:latin typeface="DM Sans" pitchFamily="34" charset="0"/>
                <a:ea typeface="DM Sans" pitchFamily="34" charset="-122"/>
                <a:cs typeface="DM Sans" pitchFamily="34" charset="-120"/>
              </a:rPr>
              <a:t>Find the October 2025 receipt</a:t>
            </a:r>
            <a:endParaRPr lang="en-US" sz="1600" dirty="0"/>
          </a:p>
        </p:txBody>
      </p:sp>
      <p:sp>
        <p:nvSpPr>
          <p:cNvPr id="23" name="Text 20"/>
          <p:cNvSpPr/>
          <p:nvPr/>
        </p:nvSpPr>
        <p:spPr>
          <a:xfrm>
            <a:off x="777240" y="5468112"/>
            <a:ext cx="10515600" cy="502920"/>
          </a:xfrm>
          <a:prstGeom prst="rect">
            <a:avLst/>
          </a:prstGeom>
          <a:noFill/>
          <a:ln/>
        </p:spPr>
        <p:txBody>
          <a:bodyPr wrap="square" lIns="0" tIns="0" rIns="0" bIns="0" rtlCol="0" anchor="ctr"/>
          <a:lstStyle/>
          <a:p>
            <a:pPr indent="0" marL="0">
              <a:buNone/>
            </a:pPr>
            <a:r>
              <a:rPr lang="en-US" sz="2000" dirty="0">
                <a:solidFill>
                  <a:srgbClr val="69738B"/>
                </a:solidFill>
                <a:latin typeface="DM Sans" pitchFamily="34" charset="0"/>
                <a:ea typeface="DM Sans" pitchFamily="34" charset="-122"/>
                <a:cs typeface="DM Sans" pitchFamily="34" charset="-120"/>
              </a:rPr>
              <a:t>day3-till.vercel.app   /   Pay, pause, recover, reload. Then inspect an old receipt.</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TAKE IT WITH YOU ]</a:t>
            </a:r>
            <a:endParaRPr lang="en-US" sz="1000" dirty="0"/>
          </a:p>
        </p:txBody>
      </p:sp>
      <p:sp>
        <p:nvSpPr>
          <p:cNvPr id="3" name="Text 1"/>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4" name="Text 2"/>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15</a:t>
            </a:r>
            <a:endParaRPr lang="en-US" sz="1000" dirty="0"/>
          </a:p>
        </p:txBody>
      </p:sp>
      <p:sp>
        <p:nvSpPr>
          <p:cNvPr id="6" name="Text 3"/>
          <p:cNvSpPr/>
          <p:nvPr/>
        </p:nvSpPr>
        <p:spPr>
          <a:xfrm>
            <a:off x="777240" y="1508760"/>
            <a:ext cx="10515600" cy="2286000"/>
          </a:xfrm>
          <a:prstGeom prst="rect">
            <a:avLst/>
          </a:prstGeom>
          <a:noFill/>
          <a:ln/>
        </p:spPr>
        <p:txBody>
          <a:bodyPr wrap="square" lIns="0" tIns="0" rIns="0" bIns="0" rtlCol="0" anchor="ctr"/>
          <a:lstStyle/>
          <a:p>
            <a:pPr indent="0" marL="0">
              <a:buNone/>
            </a:pPr>
            <a:r>
              <a:rPr lang="en-US" sz="6200" dirty="0">
                <a:solidFill>
                  <a:srgbClr val="FFFFFF"/>
                </a:solidFill>
                <a:latin typeface="DM Sans" pitchFamily="34" charset="0"/>
                <a:ea typeface="DM Sans" pitchFamily="34" charset="-122"/>
                <a:cs typeface="DM Sans" pitchFamily="34" charset="-120"/>
              </a:rPr>
              <a:t>Make it live.</a:t>
            </a:r>
            <a:endParaRPr lang="en-US" sz="6200" dirty="0"/>
          </a:p>
          <a:p>
            <a:pPr indent="0" marL="0">
              <a:buNone/>
            </a:pPr>
            <a:r>
              <a:rPr lang="en-US" sz="6200" dirty="0">
                <a:solidFill>
                  <a:srgbClr val="FFFFFF"/>
                </a:solidFill>
                <a:latin typeface="DM Sans" pitchFamily="34" charset="0"/>
                <a:ea typeface="DM Sans" pitchFamily="34" charset="-122"/>
                <a:cs typeface="DM Sans" pitchFamily="34" charset="-120"/>
              </a:rPr>
              <a:t>Make it recover.</a:t>
            </a:r>
            <a:endParaRPr lang="en-US" sz="6200" dirty="0"/>
          </a:p>
        </p:txBody>
      </p:sp>
      <p:sp>
        <p:nvSpPr>
          <p:cNvPr id="7" name="Text 4">
            <a:hlinkClick r:id="rId1" tooltip=""/>
          </p:cNvPr>
          <p:cNvSpPr/>
          <p:nvPr/>
        </p:nvSpPr>
        <p:spPr>
          <a:xfrm>
            <a:off x="777240" y="4297680"/>
            <a:ext cx="10515600" cy="548640"/>
          </a:xfrm>
          <a:prstGeom prst="rect">
            <a:avLst/>
          </a:prstGeom>
          <a:noFill/>
          <a:ln/>
        </p:spPr>
        <p:txBody>
          <a:bodyPr wrap="square" lIns="0" tIns="0" rIns="0" bIns="0" rtlCol="0" anchor="ctr"/>
          <a:lstStyle/>
          <a:p>
            <a:pPr indent="0" marL="0">
              <a:buNone/>
            </a:pPr>
            <a:r>
              <a:rPr lang="en-US" sz="2900" u="sng" dirty="0">
                <a:solidFill>
                  <a:srgbClr val="9DADFF"/>
                </a:solidFill>
                <a:latin typeface="DM Sans" pitchFamily="34" charset="0"/>
                <a:ea typeface="DM Sans" pitchFamily="34" charset="-122"/>
                <a:cs typeface="DM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day3-till.vercel.app</a:t>
            </a:r>
            <a:endParaRPr lang="en-US" sz="2900" dirty="0"/>
          </a:p>
        </p:txBody>
      </p:sp>
      <p:sp>
        <p:nvSpPr>
          <p:cNvPr id="8" name="Text 5">
            <a:hlinkClick r:id="rId2" tooltip=""/>
          </p:cNvPr>
          <p:cNvSpPr/>
          <p:nvPr/>
        </p:nvSpPr>
        <p:spPr>
          <a:xfrm>
            <a:off x="777240" y="5010912"/>
            <a:ext cx="10515600" cy="384048"/>
          </a:xfrm>
          <a:prstGeom prst="rect">
            <a:avLst/>
          </a:prstGeom>
          <a:noFill/>
          <a:ln/>
        </p:spPr>
        <p:txBody>
          <a:bodyPr wrap="square" lIns="0" tIns="0" rIns="0" bIns="0" rtlCol="0" anchor="ctr"/>
          <a:lstStyle/>
          <a:p>
            <a:pPr indent="0" marL="0">
              <a:buNone/>
            </a:pPr>
            <a:r>
              <a:rPr lang="en-US" sz="1900" u="sng" dirty="0">
                <a:solidFill>
                  <a:srgbClr val="ACB8DB"/>
                </a:solidFill>
                <a:latin typeface="DM Sans" pitchFamily="34" charset="0"/>
                <a:ea typeface="DM Sans" pitchFamily="34" charset="-122"/>
                <a:cs typeface="DM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github.com/Nuel-osas/day3-till</a:t>
            </a:r>
            <a:endParaRPr lang="en-US" sz="1900" dirty="0"/>
          </a:p>
        </p:txBody>
      </p:sp>
      <p:sp>
        <p:nvSpPr>
          <p:cNvPr id="9" name="Text 6"/>
          <p:cNvSpPr/>
          <p:nvPr/>
        </p:nvSpPr>
        <p:spPr>
          <a:xfrm>
            <a:off x="777240" y="5833872"/>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JetBrains Mono" pitchFamily="34" charset="0"/>
                <a:ea typeface="JetBrains Mono" pitchFamily="34" charset="-122"/>
                <a:cs typeface="JetBrains Mono" pitchFamily="34" charset="-120"/>
              </a:rPr>
              <a:t>YOUR NEXT BUILD / A LIVE FEED WITH A MEMORY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SuiHub Lagos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Sui | Till Lab</dc:title>
  <dc:subject>Account Layer Week, Day 3</dc:subject>
  <dc:creator>Ruru | SuiHub Lagos</dc:creator>
  <cp:lastModifiedBy>Ruru | SuiHub Lagos</cp:lastModifiedBy>
  <cp:revision>1</cp:revision>
  <dcterms:created xsi:type="dcterms:W3CDTF">2026-10-15T17:37:34Z</dcterms:created>
  <dcterms:modified xsi:type="dcterms:W3CDTF">2026-10-15T17:37:34Z</dcterms:modified>
</cp:coreProperties>
</file>
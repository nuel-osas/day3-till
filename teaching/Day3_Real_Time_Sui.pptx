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Today has three connected outcomes: choose the right Sui data interface, build a reliable live feed through Till, and migrate a read in your own app. This is the advertised GraphQL subscriptions and post-JSON-RPC data-stack session. Till supplies a concrete problem for the architecture.
SHOW / DO
Open the live app and repository before class. Ask students to keep a project with a JSON-RPC read ready. Use Node 24 for the supplied repository, pnpm and testnet funds. No Move code is required.
ASK THE ROOM
Which part of your app still polls or uses JSON-RPC?
EXPECTED ANSWER
Collect one example from a wallet, game, payments screen or backend. Return to it on the final slide.
TRANSITION
Start with the whole Sui stack as it stands after Basecamp.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Sui Basecamp ran in Singapore on 7 and 8 October. The theme was the agentic economy. Before we zoom into data, this is the whole stack as it stands today, layer by layer, with what a builder can actually touch. Days 1 and 2 of this week sit in the accounts and money row. Today sits in the data row, which every other row depends on.
SHOW / DO
Walk top to bottom. Apps and agents: Samsung Wallet brings gasless USDC on Sui to 82 million US Galaxy phones from the last week of October, with Bastion custody; Slush added deposits from 25 chains and yield; DeepBook App exposes an API for agents. Agent payments: Sui Agent Payments lets agents pay per call in stablecoins over HTTP 402 (x402 and MPP), with Alibaba Cloud as the first big partner; the gateway is on testnet and paid calls are invite only. Payment Kit and an open x402 facilitator are public. Sui Agent Pass (policies limiting what an agent can spend, enforced with Seal) was announced with no docs yet. Accounts and money: passkeys and address aliases (Day 1), native allowances (Day 2, testnet), address balances, and Circle CCTP V2 live for native USDC across 29 chains. Throughput: a 40.6M TPS peak inside 10,000+ programmable tunnels, offchain and settled to mainnet; no tunnels SDK yet. Data: JSON-RPC is off on Foundation nodes; gRPC, GraphQL with subscriptions (mainnet 21 September), the archive and the custom indexer replace it. Storage and privacy: Walrus, the new managed Walrus Console with an API and an MCP server, and Seal encryption. Infra and tools: AWS, Google Cloud and Alibaba Cloud for nodes, MystenLabs/skills and the Sui docs MCP.
ASK THE ROOM
Which rows does your current app touch?
EXPECTED ANSWER
Almost every app touches accounts and data. Agent apps add agent payments; media and AI apps add Walrus.
TRANSITION
What does all this change for the way an app reads the chain?
REFERENCES
https://sui.io/basecamp ; https://sui.io/agentpayments ; https://www.sui.io/blog/graphql-on-sui-now-supports-real-time-subscriptions ; agentic-week/basecamp-2026-readout.md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Basecamp did not ship a new data API; the data stack landed in July (JSON-RPC off) and September (subscriptions). What Basecamp changed is who reads the chain and how much. Six consequences for anyone building an app now.
SHOW / DO
One: agents are now clients. With Agent Payments an agent pays per call and acts on what it sees, so it needs a live feed instead of polling every few seconds. Two: Samsung Wallet puts gasless USDC on 82 million phones. A shop screen fed by those payments has to survive a Wi-Fi drop without losing a sale, which is the cursor lesson. Three: address balances and allowances move funds without a coin object. Watch balance changes in transaction effects, not coin objects. In our own tests an address-balance deposit appeared only after catch-up, so always backfill. Four: the 40.6M TPS run happened inside tunnels offchain; only settlements reach mainnet, so your feed sees the settlement, not every tunnel message. Five: Walrus Console and the Google Cloud Arbiter put files, agent memory and proofs on Walrus; index the pointer on Sui and fetch the blob from Walrus. Six: Sui named AWS, Google Cloud and Alibaba Cloud for nodes. Public endpoints are for development; production runs on a provider or your own node, with quotas you check.
ASK THE ROOM
Which of the six hits your app first?
EXPECTED ANSWER
For most of the room: live feeds and cursors (one and two). Payment apps also need three.
TRANSITION
Map each kind of read to the service that should answer it.
REFERENCES
https://sui.io/agentpayments ; https://console.walrus.xyz ; agentic-week/basecamp-2026-readout.md ; teaching/VERIFICATION.md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public Sui Foundation endpoints (fullnode, graphql and archive.mainnet.sui.io) are rate limited and meant for development and public-good access. The migration guide says not to point a production wallet, exchange or indexer at them: run your own full node or contract a provider. Providers now fall into three groups. Full stack: gRPC, GraphQL RPC and the Archival Store as a managed service. gRPC nodes: full-node gRPC only. Indexed data and streams: ready-made APIs and pipelines on top of the chain.
SHOW / DO
Full stack, per the docs table: QuickNode, Ankr, BlockPI, ZAN, Inodra and Triton One offer gRPC, GraphQL and archive on mainnet; ZAN lists all three on testnet too. NodeInfra and 01.ro offer gRPC and GraphQL without archive. The Sui blog named QuickNode, Ankr, BlockPI and ZAN as the four launch partners for the full stack. gRPC only: Alchemy, Dwellir, BlockVision, Natsai, GetBlock. Indexed data and streams, from the Sui Foundation awesome-sui list: Sentio (custom processors), Surflux (APIs and real-time streams), BlockVision (token, NFT and DeFi APIs), Blockberry (Suiscan API), Space and Time (verifiable warehouse), ZettaBlock (SQL to GraphQL or REST), Birdeye (market data), Dubhe Indexer (config-driven events). Honesty points: most providers list GraphQL on mainnet only; the docs still say GraphQL does not support subscriptions, which is out of date (we stream them live on testnet and mainnet), and we have not tested subscriptions on any provider, so ask each one. Archive: full-node gRPC never falls back to the archive, so gRPC clients call an archival endpoint directly.
ASK THE ROOM
Your app needs live payments plus a two-year-old receipt. What do you ask a provider?
EXPECTED ANSWER
Do you serve GraphQL subscriptions over SSE, on which networks, and is the archive connected to your GraphQL or a separate gRPC endpoint? Then quotas and price.
TRANSITION
With the providers in view, map each kind of read to the right service.
REFERENCES
https://docs.sui.io/develop/accessing-data/rpc-providers ; https://github.com/sui-foundation/awesome-sui ; https://www.sui.io/blog/graphql-archival-store-sui-data-stack ; https://docs.sui.io/develop/accessing-data/json-rpc-migration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Foundation mainnet JSON-RPC was disabled in the week of 27 July 2026; source removal was scheduled for mid-October. Availability at other providers can differ. The 21 September announcement adds GraphQL subscriptions. Application responsibilities remain, but can now use different interfaces. NEW SINCE BASECAMP: testnet-v1.82.1 (13 October, protocol 139) removes the JSON-RPC service from the full node and deletes its old database on startup (PR 27907), the code-removal step the migration guide scheduled for mid-October. mainnet-v1.81.1 (7 October, protocol 138) added GraphQL Query.multiGetDynamicFields, derivedObject and multiGetDerivedObjects, and a nullable Balance.coinMetadata field. We have not seen v1.82 on mainnet yet; say testnet first.
SHOW / DO
Classify a screen: read the balance, observe a new payment, retrieve an old receipt. The same app can use more than one interface.
ASK THE ROOM
Would replacing every JSON-RPC URL with one GraphQL URL complete a migration?
EXPECTED ANSWER
No. Request types, selected fields, response shapes, errors, pagination and streaming transport must be adapted.
TRANSITION
The newest piece of that map: subscribe to exactly the activity you need.
REFERENCES
https://docs.sui.io/develop/accessing-data/json-rpc-migration ; https://www.sui.io/blog/graphql-on-sui-now-supports-real-time-subscriptions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This is the full repository subscription, with whitespace adjusted. Cursor is delivery progress. Digest identifies the transaction. Status rejects failures. Owner, coin type and signed amount let the client calculate the shop credit. Checkpoint and timestamp place the receipt in history. NEW SINCE BASECAMP: mainnet-v1.81.1 added a nullable Balance.coinMetadata field to GraphQL, so a balance query can return the coin’s metadata (decimals, symbol) with the amount. Use it to format USDC (6 decimals) instead of hard-coding. The Till subscription still reads balanceChanges, whose nodes carry coinType, so look metadata up once per coin type.
SHOW / DO
Trace paymentsFrom in src/lib/till.ts: SUCCESS, normalize owner, sum signed changes per normalized coin type with BigInt, retain only positive net credits. The writer groups receipts by digest and coin. Illustrative USDC case: 1000000 base units with six decimals means 1 USDC, after confirming metadata. An accepted-USDC-only rule is a further application requirement; the generic parser currently accepts all coins.
ASK THE ROOM
Why sum all changes for a coin instead of selecting the first positive row?
EXPECTED ANSWER
One transaction can contain debits and credits. Net change tells whether the shop gained the asset.
TRANSITION
The query describes what we want. Open a connection that keeps delivering it.
REFERENCES
src/lib/till.ts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request sends the GraphQL document and variables as JSON. The response stays open and sends SSE frames over POST /graphql/subscriptions. Native EventSource cannot send this POST body; websocket clients use a different protocol. Fetch exposes a readable stream. NEW SINCE BASECAMP: the official Data Access page still says GraphQL does not support subscriptions and points to gRPC for streaming. That is out of date: we receive GraphQL subscriptions over SSE on testnet and mainnet. Agents, the Basecamp theme, are exactly the clients that should consume these streams instead of polling. For backends, SuiGrpcClient also offers checkpoint subscriptions.
SHOW / DO
Open src/lib/sse.ts. The shown fetch is a real excerpt, reformatted. Continue into the parser: chunks can split an SSE frame, blank lines end frames, comments can be keepalives, and errors can arrive inside HTTP 200. onNext is awaited before advancing. Seven existing tests include framing and error cases.
ASK THE ROOM
Can each reader.read() be treated as one complete GraphQL message?
EXPECTED ANSWER
No. Network chunks and SSE message boundaries differ. Buffer and parse complete frames.
TRANSITION
A stream can end. Keep the position from which we can safely resume.
REFERENCES
src/lib/sse.ts;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 B, C and D are illustrative teaching labels, not real digests or cursor encodings. Save A and cursor cA. Disconnect while B and C finalize. Reconnect with after cA. The service delivers B and C, then D live. With no cursor yet, a saved opening checkpoint supplies the first boundary through filter.afterCheckpoint, which is exclusive. NEW SINCE BASECAMP: testnet-v1.82.1 fixed subscription resumes: with after or afterCheckpoint the service no longer re-sends checkpoints at or below the resume point when a replica lags (PR 28162). Keep deduplicating by digest anyway: providers and mainnet may run older versions. The same release adds an optional x-sui-consistent-read-checkpoint header on kv-rpc so a gRPC read can wait for a checkpoint, useful for read-your-own-write after a payment (PR 27981).
SHOW / DO
Chain progress continues while the listener is offline. Use Pause feed for the controlled demo. Save the opening checkpoint before the first stream and first payment. Never decode or invent cursors. Scope state to network, shop and query. Within a checkpoint, transactions follow their position; events follow transaction position then event position.
ASK THE ROOM
B reaches the browser but its database commit fails. Which cursor is safe to save?
EXPECTED ANSWER
Keep cA. Replay B on reconnect. The cursor must describe durably processed data, not merely received bytes. Replays are safe because each receipt is stored once by its digest (plus coin type), and in the SQLite writer the rows and the cursor commit in one transaction.
TRANSITION
Now run the whole journey yourself in the lab.
REFERENCES
https://github.com/MystenLabs/sui/blob/main/crates/sui-indexer-alt-graphql/schema.graphql ; src/useTill.ts; indexer/indexer.ts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Use the verified test-SUI fallback explicitly. The event target remains USDC. A funded USDC run, physical wallet approval and audible chime are not yet verified. This runbook does not claim those checks passed. Every student has a separate payer and shop. NEW SINCE BASECAMP: from v1.82 the CLI command sui client faucet supports testnet as well as devnet, using the faucet proof-of-work API (PR 28213). Students with the CLI can fund their payer that way if the in-app faucet is slow. Also new in v1.81: sui client ptb accepts withdrawal(amount) inputs for address balances (PR 27351).
SHOW / DO
1. Clone the repo; use Node 24, pnpm install and pnpm dev, or open the live app. Copy your shop. Request test SUI. Enable sound with a click.
2. Open till and send 0.01 SUI. Match digest, receipt and red/green balance movement; payer pays gas. Check the chime audibly.
3. Pause feed, pay again, Resume. This stops only the listener. For real Wi-Fi loss, use a second device to pay while the till device is offline. The disconnected device cannot submit a network transaction.
4. Reload and reopen; expect no duplicate.
5. Copy .env.example, set SHOP_ADDRESS, FROM_CHECKPOINT to the opening boundary, and separate TILL_DB. Run pnpm indexer. Stop, pay, restart, run pnpm totals. Never share a database across shops.
6. Use the Receipt archive panel with digest ArCwXsZUTywBuM4GbNX4CVMERmBBgeYY2mgmJJjdHa3a (7 October 2025, checkpoint 250000000): the public full node says not found, GraphQL finds it, because full-node gRPC does not fall back to the archive. Record each result. Browser totals alone do not validate the database writer.
ASK THE ROOM
Why does the Wi-Fi-drop test need a second device?
EXPECTED ANSWER
Only the listener is offline; the payer still needs network access.
TRANSITION
Apply these data decisions to an existing JSON-RPC integration.
REFERENCES
README.md; teaching/VERIFICATION.md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old client calls getBalance over JSON-RPC. SuiGrpcClient exposes a typed balance wrapper. Adapt the response; do not reuse the old object shape blindly. Inspect totalBalance, coinBalance and addressBalance. The GraphQL alternative selects Address.balance and joins receipt and event data. NEW SINCE BASECAMP: the frontend side matters as much as the node side. The SDK docs say the legacy @mysten/dapp-kit only supports the deprecated JSON-RPC API and will not receive further updates; migrate to @mysten/dapp-kit-react (with @mysten/dapp-kit-core underneath) and pass a SuiGrpcClient to createDAppKit. With v1.82 removing JSON-RPC from full nodes, an old dApp Kit app will stop reading once its provider upgrades. Also check result shape, total balance, errors and pagination, and obtain fresh API cursors.
SHOW / DO
Open migration/legacy-jsonrpc.ts and migration/migrated-grpc.ts. Panels use their imports, construction and calls, reformatted. Run pnpm migrate:legacy, pnpm migrate:grpc and pnpm migrate:graphql. The old public endpoint previously returned -32601 inside HTTP 200; provider behaviour varies. Other examples replace getTransactionBlock with getTransaction and queryEvents with listEvents. Normalize event type addresses in the gRPC example.
ASK THE ROOM
What changes besides the imported client class?
EXPECTED ANSWER
Result shape, errors, selected fields, pagination and fresh API cursors.
TRANSITION
Each student migrates one call from a project they brought.
REFERENCES
migration/; https://docs.sui.io/develop/accessing-data/json-rpc-migration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final workshop is on students’ own projects. Give students without a project Till’s migration folder. The deliverable is a working change, not a verbal claim of migration. NEW SINCE BASECAMP: at Basecamp, Sui showed Sui Evals, an open benchmark of AI model knowledge of Sui; loading the Sui skills files reportedly raised median scores by about 35 points. MystenLabs/skills and the Sui docs MCP at sui.mcp.kapa.ai are public. Encourage students to point their coding agent at them for the migration, then verify the result themselves.
SHOW / DO
Allow 25 to 35 minutes. Find one JSON-RPC read or polling loop. State the screen’s need, choose the replacement and edit the code. Verify a known balance or transaction. For a feed, demonstrate disconnect and replay. For history, test an old digest and retention path. Name the production provider and quotas. Ask two students to show the diff and explain their choice.
ASK THE ROOM
Show the changed call, its new result, and the failure case you tested.
EXPECTED ANSWER
A reviewable diff, a known-data check and a relevant failure or recovery check. The data-service choice is part of the answer.
TRANSITION
Return to the examples collected on slide 1. Each student should be able to explain which service handles each app responsibility.
REFERENCES
https://github.com/Nuel-osas/day3-till ; https://day3-till.vercel.app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ay3-till.vercel.app"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Nuel-osas/day3-till" TargetMode="External"/><Relationship Id="rId2" Type="http://schemas.openxmlformats.org/officeDocument/2006/relationships/hyperlink" Target="https://day3-till.vercel.app"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B7C3E2"/>
                </a:solidFill>
                <a:latin typeface="JetBrains Mono" pitchFamily="34" charset="0"/>
                <a:ea typeface="JetBrains Mono" pitchFamily="34" charset="-122"/>
                <a:cs typeface="JetBrains Mono" pitchFamily="34" charset="-120"/>
              </a:rPr>
              <a:t>[ DAY 03 / THE CLASS PROMISE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5600" dirty="0">
                <a:solidFill>
                  <a:srgbClr val="FFFFFF"/>
                </a:solidFill>
                <a:latin typeface="DM Sans" pitchFamily="34" charset="0"/>
                <a:ea typeface="DM Sans" pitchFamily="34" charset="-122"/>
                <a:cs typeface="DM Sans" pitchFamily="34" charset="-120"/>
              </a:rPr>
              <a:t>Real-Time Sui</a:t>
            </a:r>
            <a:endParaRPr lang="en-US" sz="56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B7C3E2"/>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B7C3E2"/>
                </a:solidFill>
                <a:latin typeface="JetBrains Mono" pitchFamily="34" charset="0"/>
                <a:ea typeface="JetBrains Mono" pitchFamily="34" charset="-122"/>
                <a:cs typeface="JetBrains Mono" pitchFamily="34" charset="-120"/>
              </a:rPr>
              <a:t>01 / 11</a:t>
            </a:r>
            <a:endParaRPr lang="en-US" sz="900" dirty="0"/>
          </a:p>
        </p:txBody>
      </p:sp>
      <p:sp>
        <p:nvSpPr>
          <p:cNvPr id="7" name="Text 4"/>
          <p:cNvSpPr/>
          <p:nvPr/>
        </p:nvSpPr>
        <p:spPr>
          <a:xfrm>
            <a:off x="685800" y="1874520"/>
            <a:ext cx="10789920" cy="1371600"/>
          </a:xfrm>
          <a:prstGeom prst="rect">
            <a:avLst/>
          </a:prstGeom>
          <a:noFill/>
          <a:ln/>
        </p:spPr>
        <p:txBody>
          <a:bodyPr wrap="square" lIns="0" tIns="0" rIns="0" bIns="0" rtlCol="0" anchor="ctr"/>
          <a:lstStyle/>
          <a:p>
            <a:pPr indent="0" marL="0">
              <a:buNone/>
            </a:pPr>
            <a:r>
              <a:rPr lang="en-US" sz="3700" dirty="0">
                <a:solidFill>
                  <a:srgbClr val="B7C3E2"/>
                </a:solidFill>
                <a:latin typeface="DM Sans" pitchFamily="34" charset="0"/>
                <a:ea typeface="DM Sans" pitchFamily="34" charset="-122"/>
                <a:cs typeface="DM Sans" pitchFamily="34" charset="-120"/>
              </a:rPr>
              <a:t>GraphQL Subscriptions</a:t>
            </a:r>
            <a:endParaRPr lang="en-US" sz="3700" dirty="0"/>
          </a:p>
          <a:p>
            <a:pPr indent="0" marL="0">
              <a:buNone/>
            </a:pPr>
            <a:r>
              <a:rPr lang="en-US" sz="3700" dirty="0">
                <a:solidFill>
                  <a:srgbClr val="B7C3E2"/>
                </a:solidFill>
                <a:latin typeface="DM Sans" pitchFamily="34" charset="0"/>
                <a:ea typeface="DM Sans" pitchFamily="34" charset="-122"/>
                <a:cs typeface="DM Sans" pitchFamily="34" charset="-120"/>
              </a:rPr>
              <a:t>and the Data Stack After JSON-RPC</a:t>
            </a:r>
            <a:endParaRPr lang="en-US" sz="3700" dirty="0"/>
          </a:p>
        </p:txBody>
      </p:sp>
      <p:sp>
        <p:nvSpPr>
          <p:cNvPr id="8" name="Shape 5"/>
          <p:cNvSpPr/>
          <p:nvPr/>
        </p:nvSpPr>
        <p:spPr>
          <a:xfrm>
            <a:off x="685800" y="4133088"/>
            <a:ext cx="3429000" cy="1463040"/>
          </a:xfrm>
          <a:prstGeom prst="rect">
            <a:avLst/>
          </a:prstGeom>
          <a:solidFill>
            <a:srgbClr val="141B32"/>
          </a:solidFill>
          <a:ln w="12700">
            <a:solidFill>
              <a:srgbClr val="141B32">
                <a:alpha val="0"/>
              </a:srgbClr>
            </a:solidFill>
            <a:prstDash val="solid"/>
          </a:ln>
        </p:spPr>
      </p:sp>
      <p:sp>
        <p:nvSpPr>
          <p:cNvPr id="9" name="Text 6"/>
          <p:cNvSpPr/>
          <p:nvPr/>
        </p:nvSpPr>
        <p:spPr>
          <a:xfrm>
            <a:off x="868680" y="4334256"/>
            <a:ext cx="3017520" cy="228600"/>
          </a:xfrm>
          <a:prstGeom prst="rect">
            <a:avLst/>
          </a:prstGeom>
          <a:noFill/>
          <a:ln/>
        </p:spPr>
        <p:txBody>
          <a:bodyPr wrap="square" lIns="0" tIns="0" rIns="0" bIns="0" rtlCol="0" anchor="ctr"/>
          <a:lstStyle/>
          <a:p>
            <a:pPr indent="0" marL="0">
              <a:buNone/>
            </a:pPr>
            <a:r>
              <a:rPr lang="en-US" sz="1100" dirty="0">
                <a:solidFill>
                  <a:srgbClr val="B7C3E2"/>
                </a:solidFill>
                <a:latin typeface="JetBrains Mono" pitchFamily="34" charset="0"/>
                <a:ea typeface="JetBrains Mono" pitchFamily="34" charset="-122"/>
                <a:cs typeface="JetBrains Mono" pitchFamily="34" charset="-120"/>
              </a:rPr>
              <a:t>01 / CHOOSE</a:t>
            </a:r>
            <a:endParaRPr lang="en-US" sz="1100" dirty="0"/>
          </a:p>
        </p:txBody>
      </p:sp>
      <p:sp>
        <p:nvSpPr>
          <p:cNvPr id="10" name="Text 7"/>
          <p:cNvSpPr/>
          <p:nvPr/>
        </p:nvSpPr>
        <p:spPr>
          <a:xfrm>
            <a:off x="868680" y="4645152"/>
            <a:ext cx="3017520" cy="77724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Map the data stack</a:t>
            </a:r>
            <a:endParaRPr lang="en-US" sz="2300" dirty="0"/>
          </a:p>
        </p:txBody>
      </p:sp>
      <p:sp>
        <p:nvSpPr>
          <p:cNvPr id="11" name="Shape 8"/>
          <p:cNvSpPr/>
          <p:nvPr/>
        </p:nvSpPr>
        <p:spPr>
          <a:xfrm>
            <a:off x="4379976" y="4133088"/>
            <a:ext cx="3429000" cy="1463040"/>
          </a:xfrm>
          <a:prstGeom prst="rect">
            <a:avLst/>
          </a:prstGeom>
          <a:solidFill>
            <a:srgbClr val="2338FF"/>
          </a:solidFill>
          <a:ln w="12700">
            <a:solidFill>
              <a:srgbClr val="2338FF">
                <a:alpha val="0"/>
              </a:srgbClr>
            </a:solidFill>
            <a:prstDash val="solid"/>
          </a:ln>
        </p:spPr>
      </p:sp>
      <p:sp>
        <p:nvSpPr>
          <p:cNvPr id="12" name="Text 9"/>
          <p:cNvSpPr/>
          <p:nvPr/>
        </p:nvSpPr>
        <p:spPr>
          <a:xfrm>
            <a:off x="4562856" y="4334256"/>
            <a:ext cx="3017520" cy="228600"/>
          </a:xfrm>
          <a:prstGeom prst="rect">
            <a:avLst/>
          </a:prstGeom>
          <a:noFill/>
          <a:ln/>
        </p:spPr>
        <p:txBody>
          <a:bodyPr wrap="square" lIns="0" tIns="0" rIns="0" bIns="0" rtlCol="0" anchor="ctr"/>
          <a:lstStyle/>
          <a:p>
            <a:pPr indent="0" marL="0">
              <a:buNone/>
            </a:pPr>
            <a:r>
              <a:rPr lang="en-US" sz="1100" dirty="0">
                <a:solidFill>
                  <a:srgbClr val="B7C3E2"/>
                </a:solidFill>
                <a:latin typeface="JetBrains Mono" pitchFamily="34" charset="0"/>
                <a:ea typeface="JetBrains Mono" pitchFamily="34" charset="-122"/>
                <a:cs typeface="JetBrains Mono" pitchFamily="34" charset="-120"/>
              </a:rPr>
              <a:t>02 / BUILD</a:t>
            </a:r>
            <a:endParaRPr lang="en-US" sz="1100" dirty="0"/>
          </a:p>
        </p:txBody>
      </p:sp>
      <p:sp>
        <p:nvSpPr>
          <p:cNvPr id="13" name="Text 10"/>
          <p:cNvSpPr/>
          <p:nvPr/>
        </p:nvSpPr>
        <p:spPr>
          <a:xfrm>
            <a:off x="4562856" y="4645152"/>
            <a:ext cx="3017520" cy="77724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A feed that survives a drop</a:t>
            </a:r>
            <a:endParaRPr lang="en-US" sz="2300" dirty="0"/>
          </a:p>
        </p:txBody>
      </p:sp>
      <p:sp>
        <p:nvSpPr>
          <p:cNvPr id="14" name="Shape 11"/>
          <p:cNvSpPr/>
          <p:nvPr/>
        </p:nvSpPr>
        <p:spPr>
          <a:xfrm>
            <a:off x="8074152" y="4133088"/>
            <a:ext cx="3429000" cy="1463040"/>
          </a:xfrm>
          <a:prstGeom prst="rect">
            <a:avLst/>
          </a:prstGeom>
          <a:solidFill>
            <a:srgbClr val="141B32"/>
          </a:solidFill>
          <a:ln w="12700">
            <a:solidFill>
              <a:srgbClr val="141B32">
                <a:alpha val="0"/>
              </a:srgbClr>
            </a:solidFill>
            <a:prstDash val="solid"/>
          </a:ln>
        </p:spPr>
      </p:sp>
      <p:sp>
        <p:nvSpPr>
          <p:cNvPr id="15" name="Text 12"/>
          <p:cNvSpPr/>
          <p:nvPr/>
        </p:nvSpPr>
        <p:spPr>
          <a:xfrm>
            <a:off x="8257032" y="4334256"/>
            <a:ext cx="3017520" cy="228600"/>
          </a:xfrm>
          <a:prstGeom prst="rect">
            <a:avLst/>
          </a:prstGeom>
          <a:noFill/>
          <a:ln/>
        </p:spPr>
        <p:txBody>
          <a:bodyPr wrap="square" lIns="0" tIns="0" rIns="0" bIns="0" rtlCol="0" anchor="ctr"/>
          <a:lstStyle/>
          <a:p>
            <a:pPr indent="0" marL="0">
              <a:buNone/>
            </a:pPr>
            <a:r>
              <a:rPr lang="en-US" sz="1100" dirty="0">
                <a:solidFill>
                  <a:srgbClr val="B7C3E2"/>
                </a:solidFill>
                <a:latin typeface="JetBrains Mono" pitchFamily="34" charset="0"/>
                <a:ea typeface="JetBrains Mono" pitchFamily="34" charset="-122"/>
                <a:cs typeface="JetBrains Mono" pitchFamily="34" charset="-120"/>
              </a:rPr>
              <a:t>03 / MIGRATE</a:t>
            </a:r>
            <a:endParaRPr lang="en-US" sz="1100" dirty="0"/>
          </a:p>
        </p:txBody>
      </p:sp>
      <p:sp>
        <p:nvSpPr>
          <p:cNvPr id="16" name="Text 13"/>
          <p:cNvSpPr/>
          <p:nvPr/>
        </p:nvSpPr>
        <p:spPr>
          <a:xfrm>
            <a:off x="8257032" y="4645152"/>
            <a:ext cx="3017520" cy="77724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One call in your own app</a:t>
            </a:r>
            <a:endParaRPr lang="en-US" sz="2300" dirty="0"/>
          </a:p>
        </p:txBody>
      </p:sp>
      <p:sp>
        <p:nvSpPr>
          <p:cNvPr id="17" name="Text 14"/>
          <p:cNvSpPr/>
          <p:nvPr/>
        </p:nvSpPr>
        <p:spPr>
          <a:xfrm>
            <a:off x="685800" y="5907024"/>
            <a:ext cx="10789920" cy="320040"/>
          </a:xfrm>
          <a:prstGeom prst="rect">
            <a:avLst/>
          </a:prstGeom>
          <a:noFill/>
          <a:ln/>
        </p:spPr>
        <p:txBody>
          <a:bodyPr wrap="square" lIns="0" tIns="0" rIns="0" bIns="0" rtlCol="0" anchor="ctr"/>
          <a:lstStyle/>
          <a:p>
            <a:pPr indent="0" marL="0">
              <a:buNone/>
            </a:pPr>
            <a:r>
              <a:rPr lang="en-US" sz="1900" dirty="0">
                <a:solidFill>
                  <a:srgbClr val="B7C3E2"/>
                </a:solidFill>
                <a:latin typeface="DM Sans" pitchFamily="34" charset="0"/>
                <a:ea typeface="DM Sans" pitchFamily="34" charset="-122"/>
                <a:cs typeface="DM Sans" pitchFamily="34" charset="-120"/>
              </a:rPr>
              <a:t>A payment screen is the worked example for the whole lesson.</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[ 0 / WHERE WE ARE / 16 OCTOBER 2026 ]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The Sui stack, after Basecamp.</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02 / 11</a:t>
            </a:r>
            <a:endParaRPr lang="en-US" sz="900" dirty="0"/>
          </a:p>
        </p:txBody>
      </p:sp>
      <p:sp>
        <p:nvSpPr>
          <p:cNvPr id="7" name="Shape 4"/>
          <p:cNvSpPr/>
          <p:nvPr/>
        </p:nvSpPr>
        <p:spPr>
          <a:xfrm>
            <a:off x="685800" y="1938528"/>
            <a:ext cx="10817352" cy="457200"/>
          </a:xfrm>
          <a:prstGeom prst="rect">
            <a:avLst/>
          </a:prstGeom>
          <a:solidFill>
            <a:srgbClr val="2338FF"/>
          </a:solidFill>
          <a:ln w="12700">
            <a:solidFill>
              <a:srgbClr val="2338FF">
                <a:alpha val="0"/>
              </a:srgbClr>
            </a:solidFill>
            <a:prstDash val="solid"/>
          </a:ln>
        </p:spPr>
      </p:sp>
      <p:sp>
        <p:nvSpPr>
          <p:cNvPr id="8" name="Text 5"/>
          <p:cNvSpPr/>
          <p:nvPr/>
        </p:nvSpPr>
        <p:spPr>
          <a:xfrm>
            <a:off x="832104" y="2011680"/>
            <a:ext cx="1920240" cy="329184"/>
          </a:xfrm>
          <a:prstGeom prst="rect">
            <a:avLst/>
          </a:prstGeom>
          <a:noFill/>
          <a:ln/>
        </p:spPr>
        <p:txBody>
          <a:bodyPr wrap="square" lIns="0" tIns="0" rIns="0" bIns="0" rtlCol="0" anchor="ctr"/>
          <a:lstStyle/>
          <a:p>
            <a:pPr indent="0" marL="0">
              <a:buNone/>
            </a:pPr>
            <a:r>
              <a:rPr lang="en-US" sz="1400" dirty="0">
                <a:solidFill>
                  <a:srgbClr val="FFFFFF"/>
                </a:solidFill>
                <a:latin typeface="DM Sans" pitchFamily="34" charset="0"/>
                <a:ea typeface="DM Sans" pitchFamily="34" charset="-122"/>
                <a:cs typeface="DM Sans" pitchFamily="34" charset="-120"/>
              </a:rPr>
              <a:t>LAYER</a:t>
            </a:r>
            <a:endParaRPr lang="en-US" sz="1400" dirty="0"/>
          </a:p>
        </p:txBody>
      </p:sp>
      <p:sp>
        <p:nvSpPr>
          <p:cNvPr id="9" name="Text 6"/>
          <p:cNvSpPr/>
          <p:nvPr/>
        </p:nvSpPr>
        <p:spPr>
          <a:xfrm>
            <a:off x="2834640" y="2011680"/>
            <a:ext cx="6172200" cy="329184"/>
          </a:xfrm>
          <a:prstGeom prst="rect">
            <a:avLst/>
          </a:prstGeom>
          <a:noFill/>
          <a:ln/>
        </p:spPr>
        <p:txBody>
          <a:bodyPr wrap="square" lIns="0" tIns="0" rIns="0" bIns="0" rtlCol="0" anchor="ctr"/>
          <a:lstStyle/>
          <a:p>
            <a:pPr indent="0" marL="0">
              <a:buNone/>
            </a:pPr>
            <a:r>
              <a:rPr lang="en-US" sz="1400" dirty="0">
                <a:solidFill>
                  <a:srgbClr val="FFFFFF"/>
                </a:solidFill>
                <a:latin typeface="DM Sans" pitchFamily="34" charset="0"/>
                <a:ea typeface="DM Sans" pitchFamily="34" charset="-122"/>
                <a:cs typeface="DM Sans" pitchFamily="34" charset="-120"/>
              </a:rPr>
              <a:t>WHAT IS THERE NOW</a:t>
            </a:r>
            <a:endParaRPr lang="en-US" sz="1400" dirty="0"/>
          </a:p>
        </p:txBody>
      </p:sp>
      <p:sp>
        <p:nvSpPr>
          <p:cNvPr id="10" name="Text 7"/>
          <p:cNvSpPr/>
          <p:nvPr/>
        </p:nvSpPr>
        <p:spPr>
          <a:xfrm>
            <a:off x="9189720" y="2011680"/>
            <a:ext cx="2130552" cy="329184"/>
          </a:xfrm>
          <a:prstGeom prst="rect">
            <a:avLst/>
          </a:prstGeom>
          <a:noFill/>
          <a:ln/>
        </p:spPr>
        <p:txBody>
          <a:bodyPr wrap="square" lIns="0" tIns="0" rIns="0" bIns="0" rtlCol="0" anchor="ctr"/>
          <a:lstStyle/>
          <a:p>
            <a:pPr indent="0" marL="0">
              <a:buNone/>
            </a:pPr>
            <a:r>
              <a:rPr lang="en-US" sz="1400" dirty="0">
                <a:solidFill>
                  <a:srgbClr val="FFFFFF"/>
                </a:solidFill>
                <a:latin typeface="DM Sans" pitchFamily="34" charset="0"/>
                <a:ea typeface="DM Sans" pitchFamily="34" charset="-122"/>
                <a:cs typeface="DM Sans" pitchFamily="34" charset="-120"/>
              </a:rPr>
              <a:t>STATUS</a:t>
            </a:r>
            <a:endParaRPr lang="en-US" sz="1400" dirty="0"/>
          </a:p>
        </p:txBody>
      </p:sp>
      <p:sp>
        <p:nvSpPr>
          <p:cNvPr id="11" name="Shape 8"/>
          <p:cNvSpPr/>
          <p:nvPr/>
        </p:nvSpPr>
        <p:spPr>
          <a:xfrm>
            <a:off x="685800" y="2450592"/>
            <a:ext cx="10817352" cy="457200"/>
          </a:xfrm>
          <a:prstGeom prst="rect">
            <a:avLst/>
          </a:prstGeom>
          <a:solidFill>
            <a:srgbClr val="FFFFFF"/>
          </a:solidFill>
          <a:ln w="12700">
            <a:solidFill>
              <a:srgbClr val="FFFFFF">
                <a:alpha val="0"/>
              </a:srgbClr>
            </a:solidFill>
            <a:prstDash val="solid"/>
          </a:ln>
        </p:spPr>
      </p:sp>
      <p:sp>
        <p:nvSpPr>
          <p:cNvPr id="12" name="Text 9"/>
          <p:cNvSpPr/>
          <p:nvPr/>
        </p:nvSpPr>
        <p:spPr>
          <a:xfrm>
            <a:off x="832104" y="2523744"/>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Apps + agents</a:t>
            </a:r>
            <a:endParaRPr lang="en-US" sz="1400" dirty="0"/>
          </a:p>
        </p:txBody>
      </p:sp>
      <p:sp>
        <p:nvSpPr>
          <p:cNvPr id="13" name="Text 10"/>
          <p:cNvSpPr/>
          <p:nvPr/>
        </p:nvSpPr>
        <p:spPr>
          <a:xfrm>
            <a:off x="2834640" y="2523744"/>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Samsung Wallet USDC (82M phones) · Slush · DeepBook App API</a:t>
            </a:r>
            <a:endParaRPr lang="en-US" sz="1400" dirty="0"/>
          </a:p>
        </p:txBody>
      </p:sp>
      <p:sp>
        <p:nvSpPr>
          <p:cNvPr id="14" name="Text 11"/>
          <p:cNvSpPr/>
          <p:nvPr/>
        </p:nvSpPr>
        <p:spPr>
          <a:xfrm>
            <a:off x="9189720" y="2523744"/>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 · Samsung late Oct</a:t>
            </a:r>
            <a:endParaRPr lang="en-US" sz="1400" dirty="0"/>
          </a:p>
        </p:txBody>
      </p:sp>
      <p:sp>
        <p:nvSpPr>
          <p:cNvPr id="15" name="Shape 12"/>
          <p:cNvSpPr/>
          <p:nvPr/>
        </p:nvSpPr>
        <p:spPr>
          <a:xfrm>
            <a:off x="685800" y="2962656"/>
            <a:ext cx="10817352" cy="457200"/>
          </a:xfrm>
          <a:prstGeom prst="rect">
            <a:avLst/>
          </a:prstGeom>
          <a:solidFill>
            <a:srgbClr val="E8ECFF"/>
          </a:solidFill>
          <a:ln w="12700">
            <a:solidFill>
              <a:srgbClr val="E8ECFF">
                <a:alpha val="0"/>
              </a:srgbClr>
            </a:solidFill>
            <a:prstDash val="solid"/>
          </a:ln>
        </p:spPr>
      </p:sp>
      <p:sp>
        <p:nvSpPr>
          <p:cNvPr id="16" name="Text 13"/>
          <p:cNvSpPr/>
          <p:nvPr/>
        </p:nvSpPr>
        <p:spPr>
          <a:xfrm>
            <a:off x="832104" y="3035808"/>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Agent payments</a:t>
            </a:r>
            <a:endParaRPr lang="en-US" sz="1400" dirty="0"/>
          </a:p>
        </p:txBody>
      </p:sp>
      <p:sp>
        <p:nvSpPr>
          <p:cNvPr id="17" name="Text 14"/>
          <p:cNvSpPr/>
          <p:nvPr/>
        </p:nvSpPr>
        <p:spPr>
          <a:xfrm>
            <a:off x="2834640" y="3035808"/>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Agent Payments (x402, MPP, Alibaba Cloud) · Payment Kit · Agent Pass</a:t>
            </a:r>
            <a:endParaRPr lang="en-US" sz="1400" dirty="0"/>
          </a:p>
        </p:txBody>
      </p:sp>
      <p:sp>
        <p:nvSpPr>
          <p:cNvPr id="18" name="Text 15"/>
          <p:cNvSpPr/>
          <p:nvPr/>
        </p:nvSpPr>
        <p:spPr>
          <a:xfrm>
            <a:off x="9189720" y="3035808"/>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Testnet · Pass announced</a:t>
            </a:r>
            <a:endParaRPr lang="en-US" sz="1400" dirty="0"/>
          </a:p>
        </p:txBody>
      </p:sp>
      <p:sp>
        <p:nvSpPr>
          <p:cNvPr id="19" name="Shape 16"/>
          <p:cNvSpPr/>
          <p:nvPr/>
        </p:nvSpPr>
        <p:spPr>
          <a:xfrm>
            <a:off x="685800" y="3474720"/>
            <a:ext cx="10817352" cy="457200"/>
          </a:xfrm>
          <a:prstGeom prst="rect">
            <a:avLst/>
          </a:prstGeom>
          <a:solidFill>
            <a:srgbClr val="FFFFFF"/>
          </a:solidFill>
          <a:ln w="12700">
            <a:solidFill>
              <a:srgbClr val="FFFFFF">
                <a:alpha val="0"/>
              </a:srgbClr>
            </a:solidFill>
            <a:prstDash val="solid"/>
          </a:ln>
        </p:spPr>
      </p:sp>
      <p:sp>
        <p:nvSpPr>
          <p:cNvPr id="20" name="Text 17"/>
          <p:cNvSpPr/>
          <p:nvPr/>
        </p:nvSpPr>
        <p:spPr>
          <a:xfrm>
            <a:off x="832104" y="3547872"/>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Accounts + money</a:t>
            </a:r>
            <a:endParaRPr lang="en-US" sz="1400" dirty="0"/>
          </a:p>
        </p:txBody>
      </p:sp>
      <p:sp>
        <p:nvSpPr>
          <p:cNvPr id="21" name="Text 18"/>
          <p:cNvSpPr/>
          <p:nvPr/>
        </p:nvSpPr>
        <p:spPr>
          <a:xfrm>
            <a:off x="2834640" y="3547872"/>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Passkeys + aliases · allowances · address balances · USDC + CCTP V2</a:t>
            </a:r>
            <a:endParaRPr lang="en-US" sz="1400" dirty="0"/>
          </a:p>
        </p:txBody>
      </p:sp>
      <p:sp>
        <p:nvSpPr>
          <p:cNvPr id="22" name="Text 19"/>
          <p:cNvSpPr/>
          <p:nvPr/>
        </p:nvSpPr>
        <p:spPr>
          <a:xfrm>
            <a:off x="9189720" y="3547872"/>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 · allowances testnet</a:t>
            </a:r>
            <a:endParaRPr lang="en-US" sz="1400" dirty="0"/>
          </a:p>
        </p:txBody>
      </p:sp>
      <p:sp>
        <p:nvSpPr>
          <p:cNvPr id="23" name="Shape 20"/>
          <p:cNvSpPr/>
          <p:nvPr/>
        </p:nvSpPr>
        <p:spPr>
          <a:xfrm>
            <a:off x="685800" y="3986784"/>
            <a:ext cx="10817352" cy="457200"/>
          </a:xfrm>
          <a:prstGeom prst="rect">
            <a:avLst/>
          </a:prstGeom>
          <a:solidFill>
            <a:srgbClr val="E8ECFF"/>
          </a:solidFill>
          <a:ln w="12700">
            <a:solidFill>
              <a:srgbClr val="E8ECFF">
                <a:alpha val="0"/>
              </a:srgbClr>
            </a:solidFill>
            <a:prstDash val="solid"/>
          </a:ln>
        </p:spPr>
      </p:sp>
      <p:sp>
        <p:nvSpPr>
          <p:cNvPr id="24" name="Text 21"/>
          <p:cNvSpPr/>
          <p:nvPr/>
        </p:nvSpPr>
        <p:spPr>
          <a:xfrm>
            <a:off x="832104" y="4059936"/>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Throughput</a:t>
            </a:r>
            <a:endParaRPr lang="en-US" sz="1400" dirty="0"/>
          </a:p>
        </p:txBody>
      </p:sp>
      <p:sp>
        <p:nvSpPr>
          <p:cNvPr id="25" name="Text 22"/>
          <p:cNvSpPr/>
          <p:nvPr/>
        </p:nvSpPr>
        <p:spPr>
          <a:xfrm>
            <a:off x="2834640" y="4059936"/>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Programmable Tunnels: 40.6M TPS offchain, settled to mainnet</a:t>
            </a:r>
            <a:endParaRPr lang="en-US" sz="1400" dirty="0"/>
          </a:p>
        </p:txBody>
      </p:sp>
      <p:sp>
        <p:nvSpPr>
          <p:cNvPr id="26" name="Text 23"/>
          <p:cNvSpPr/>
          <p:nvPr/>
        </p:nvSpPr>
        <p:spPr>
          <a:xfrm>
            <a:off x="9189720" y="4059936"/>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 · no SDK yet</a:t>
            </a:r>
            <a:endParaRPr lang="en-US" sz="1400" dirty="0"/>
          </a:p>
        </p:txBody>
      </p:sp>
      <p:sp>
        <p:nvSpPr>
          <p:cNvPr id="27" name="Shape 24"/>
          <p:cNvSpPr/>
          <p:nvPr/>
        </p:nvSpPr>
        <p:spPr>
          <a:xfrm>
            <a:off x="685800" y="4498848"/>
            <a:ext cx="10817352" cy="457200"/>
          </a:xfrm>
          <a:prstGeom prst="rect">
            <a:avLst/>
          </a:prstGeom>
          <a:solidFill>
            <a:srgbClr val="FFFFFF"/>
          </a:solidFill>
          <a:ln w="12700">
            <a:solidFill>
              <a:srgbClr val="FFFFFF">
                <a:alpha val="0"/>
              </a:srgbClr>
            </a:solidFill>
            <a:prstDash val="solid"/>
          </a:ln>
        </p:spPr>
      </p:sp>
      <p:sp>
        <p:nvSpPr>
          <p:cNvPr id="28" name="Text 25"/>
          <p:cNvSpPr/>
          <p:nvPr/>
        </p:nvSpPr>
        <p:spPr>
          <a:xfrm>
            <a:off x="832104" y="4572000"/>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Data  ← TODAY</a:t>
            </a:r>
            <a:endParaRPr lang="en-US" sz="1400" dirty="0"/>
          </a:p>
        </p:txBody>
      </p:sp>
      <p:sp>
        <p:nvSpPr>
          <p:cNvPr id="29" name="Text 26"/>
          <p:cNvSpPr/>
          <p:nvPr/>
        </p:nvSpPr>
        <p:spPr>
          <a:xfrm>
            <a:off x="2834640" y="4572000"/>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gRPC · GraphQL + subscriptions · archive · indexer. JSON-RPC off</a:t>
            </a:r>
            <a:endParaRPr lang="en-US" sz="1400" dirty="0"/>
          </a:p>
        </p:txBody>
      </p:sp>
      <p:sp>
        <p:nvSpPr>
          <p:cNvPr id="30" name="Text 27"/>
          <p:cNvSpPr/>
          <p:nvPr/>
        </p:nvSpPr>
        <p:spPr>
          <a:xfrm>
            <a:off x="9189720" y="4572000"/>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a:t>
            </a:r>
            <a:endParaRPr lang="en-US" sz="1400" dirty="0"/>
          </a:p>
        </p:txBody>
      </p:sp>
      <p:sp>
        <p:nvSpPr>
          <p:cNvPr id="31" name="Shape 28"/>
          <p:cNvSpPr/>
          <p:nvPr/>
        </p:nvSpPr>
        <p:spPr>
          <a:xfrm>
            <a:off x="685800" y="5010912"/>
            <a:ext cx="10817352" cy="457200"/>
          </a:xfrm>
          <a:prstGeom prst="rect">
            <a:avLst/>
          </a:prstGeom>
          <a:solidFill>
            <a:srgbClr val="E8ECFF"/>
          </a:solidFill>
          <a:ln w="12700">
            <a:solidFill>
              <a:srgbClr val="E8ECFF">
                <a:alpha val="0"/>
              </a:srgbClr>
            </a:solidFill>
            <a:prstDash val="solid"/>
          </a:ln>
        </p:spPr>
      </p:sp>
      <p:sp>
        <p:nvSpPr>
          <p:cNvPr id="32" name="Text 29"/>
          <p:cNvSpPr/>
          <p:nvPr/>
        </p:nvSpPr>
        <p:spPr>
          <a:xfrm>
            <a:off x="832104" y="5084064"/>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Storage + privacy</a:t>
            </a:r>
            <a:endParaRPr lang="en-US" sz="1400" dirty="0"/>
          </a:p>
        </p:txBody>
      </p:sp>
      <p:sp>
        <p:nvSpPr>
          <p:cNvPr id="33" name="Text 30"/>
          <p:cNvSpPr/>
          <p:nvPr/>
        </p:nvSpPr>
        <p:spPr>
          <a:xfrm>
            <a:off x="2834640" y="5084064"/>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Walrus · Walrus Console (API + MCP) · Seal encryption</a:t>
            </a:r>
            <a:endParaRPr lang="en-US" sz="1400" dirty="0"/>
          </a:p>
        </p:txBody>
      </p:sp>
      <p:sp>
        <p:nvSpPr>
          <p:cNvPr id="34" name="Text 31"/>
          <p:cNvSpPr/>
          <p:nvPr/>
        </p:nvSpPr>
        <p:spPr>
          <a:xfrm>
            <a:off x="9189720" y="5084064"/>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a:t>
            </a:r>
            <a:endParaRPr lang="en-US" sz="1400" dirty="0"/>
          </a:p>
        </p:txBody>
      </p:sp>
      <p:sp>
        <p:nvSpPr>
          <p:cNvPr id="35" name="Shape 32"/>
          <p:cNvSpPr/>
          <p:nvPr/>
        </p:nvSpPr>
        <p:spPr>
          <a:xfrm>
            <a:off x="685800" y="5522976"/>
            <a:ext cx="10817352" cy="457200"/>
          </a:xfrm>
          <a:prstGeom prst="rect">
            <a:avLst/>
          </a:prstGeom>
          <a:solidFill>
            <a:srgbClr val="FFFFFF"/>
          </a:solidFill>
          <a:ln w="12700">
            <a:solidFill>
              <a:srgbClr val="FFFFFF">
                <a:alpha val="0"/>
              </a:srgbClr>
            </a:solidFill>
            <a:prstDash val="solid"/>
          </a:ln>
        </p:spPr>
      </p:sp>
      <p:sp>
        <p:nvSpPr>
          <p:cNvPr id="36" name="Text 33"/>
          <p:cNvSpPr/>
          <p:nvPr/>
        </p:nvSpPr>
        <p:spPr>
          <a:xfrm>
            <a:off x="832104" y="5596128"/>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Infra + tools</a:t>
            </a:r>
            <a:endParaRPr lang="en-US" sz="1400" dirty="0"/>
          </a:p>
        </p:txBody>
      </p:sp>
      <p:sp>
        <p:nvSpPr>
          <p:cNvPr id="37" name="Text 34"/>
          <p:cNvSpPr/>
          <p:nvPr/>
        </p:nvSpPr>
        <p:spPr>
          <a:xfrm>
            <a:off x="2834640" y="5596128"/>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AWS · Google Cloud · Alibaba Cloud nodes · Sui skills + docs MCP</a:t>
            </a:r>
            <a:endParaRPr lang="en-US" sz="1400" dirty="0"/>
          </a:p>
        </p:txBody>
      </p:sp>
      <p:sp>
        <p:nvSpPr>
          <p:cNvPr id="38" name="Text 35"/>
          <p:cNvSpPr/>
          <p:nvPr/>
        </p:nvSpPr>
        <p:spPr>
          <a:xfrm>
            <a:off x="9189720" y="5596128"/>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a:t>
            </a:r>
            <a:endParaRPr lang="en-US" sz="1400" dirty="0"/>
          </a:p>
        </p:txBody>
      </p:sp>
      <p:sp>
        <p:nvSpPr>
          <p:cNvPr id="39" name="Text 36"/>
          <p:cNvSpPr/>
          <p:nvPr/>
        </p:nvSpPr>
        <p:spPr>
          <a:xfrm>
            <a:off x="685800" y="6144768"/>
            <a:ext cx="10789920" cy="228600"/>
          </a:xfrm>
          <a:prstGeom prst="rect">
            <a:avLst/>
          </a:prstGeom>
          <a:noFill/>
          <a:ln/>
        </p:spPr>
        <p:txBody>
          <a:bodyPr wrap="square" lIns="0" tIns="0" rIns="0" bIns="0" rtlCol="0" anchor="ctr"/>
          <a:lstStyle/>
          <a:p>
            <a:pPr indent="0" marL="0">
              <a:buNone/>
            </a:pPr>
            <a:r>
              <a:rPr lang="en-US" sz="1200" dirty="0">
                <a:solidFill>
                  <a:srgbClr val="65708B"/>
                </a:solidFill>
                <a:latin typeface="DM Sans" pitchFamily="34" charset="0"/>
                <a:ea typeface="DM Sans" pitchFamily="34" charset="-122"/>
                <a:cs typeface="DM Sans" pitchFamily="34" charset="-120"/>
              </a:rPr>
              <a:t>Day 1 and Day 2 built the accounts + money row. Today: the data row every other row reads from.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[ 0 / WHY TODAY MATTERS MORE NOW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What Basecamp changes for your data layer.</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03 / 11</a:t>
            </a:r>
            <a:endParaRPr lang="en-US" sz="900" dirty="0"/>
          </a:p>
        </p:txBody>
      </p:sp>
      <p:sp>
        <p:nvSpPr>
          <p:cNvPr id="7" name="Shape 4"/>
          <p:cNvSpPr/>
          <p:nvPr/>
        </p:nvSpPr>
        <p:spPr>
          <a:xfrm>
            <a:off x="685800" y="1938528"/>
            <a:ext cx="3465576" cy="1810512"/>
          </a:xfrm>
          <a:prstGeom prst="rect">
            <a:avLst/>
          </a:prstGeom>
          <a:solidFill>
            <a:srgbClr val="2338FF"/>
          </a:solidFill>
          <a:ln w="12700">
            <a:solidFill>
              <a:srgbClr val="2338FF">
                <a:alpha val="0"/>
              </a:srgbClr>
            </a:solidFill>
            <a:prstDash val="solid"/>
          </a:ln>
        </p:spPr>
      </p:sp>
      <p:sp>
        <p:nvSpPr>
          <p:cNvPr id="8" name="Text 5"/>
          <p:cNvSpPr/>
          <p:nvPr/>
        </p:nvSpPr>
        <p:spPr>
          <a:xfrm>
            <a:off x="886968" y="2103120"/>
            <a:ext cx="3063240" cy="219456"/>
          </a:xfrm>
          <a:prstGeom prst="rect">
            <a:avLst/>
          </a:prstGeom>
          <a:noFill/>
          <a:ln/>
        </p:spPr>
        <p:txBody>
          <a:bodyPr wrap="square" lIns="0" tIns="0" rIns="0" bIns="0" rtlCol="0" anchor="ctr"/>
          <a:lstStyle/>
          <a:p>
            <a:pPr indent="0" marL="0">
              <a:buNone/>
            </a:pPr>
            <a:r>
              <a:rPr lang="en-US" sz="1000" dirty="0">
                <a:solidFill>
                  <a:srgbClr val="C4CEFF"/>
                </a:solidFill>
                <a:latin typeface="JetBrains Mono" pitchFamily="34" charset="0"/>
                <a:ea typeface="JetBrains Mono" pitchFamily="34" charset="-122"/>
                <a:cs typeface="JetBrains Mono" pitchFamily="34" charset="-120"/>
              </a:rPr>
              <a:t>AGENTS ARE CLIENTS</a:t>
            </a:r>
            <a:endParaRPr lang="en-US" sz="1000" dirty="0"/>
          </a:p>
        </p:txBody>
      </p:sp>
      <p:sp>
        <p:nvSpPr>
          <p:cNvPr id="9" name="Text 6"/>
          <p:cNvSpPr/>
          <p:nvPr/>
        </p:nvSpPr>
        <p:spPr>
          <a:xfrm>
            <a:off x="886968" y="2395728"/>
            <a:ext cx="3063240" cy="676656"/>
          </a:xfrm>
          <a:prstGeom prst="rect">
            <a:avLst/>
          </a:prstGeom>
          <a:noFill/>
          <a:ln/>
        </p:spPr>
        <p:txBody>
          <a:bodyPr wrap="square" lIns="0" tIns="0" rIns="0" bIns="0" rtlCol="0" anchor="t"/>
          <a:lstStyle/>
          <a:p>
            <a:pPr indent="0" marL="0">
              <a:buNone/>
            </a:pPr>
            <a:r>
              <a:rPr lang="en-US" sz="2000" dirty="0">
                <a:solidFill>
                  <a:srgbClr val="FFFFFF"/>
                </a:solidFill>
                <a:latin typeface="DM Sans" pitchFamily="34" charset="0"/>
                <a:ea typeface="DM Sans" pitchFamily="34" charset="-122"/>
                <a:cs typeface="DM Sans" pitchFamily="34" charset="-120"/>
              </a:rPr>
              <a:t>Agents read and pay per call</a:t>
            </a:r>
            <a:endParaRPr lang="en-US" sz="2000" dirty="0"/>
          </a:p>
        </p:txBody>
      </p:sp>
      <p:sp>
        <p:nvSpPr>
          <p:cNvPr id="10" name="Text 7"/>
          <p:cNvSpPr/>
          <p:nvPr/>
        </p:nvSpPr>
        <p:spPr>
          <a:xfrm>
            <a:off x="886968" y="3127248"/>
            <a:ext cx="3063240" cy="512064"/>
          </a:xfrm>
          <a:prstGeom prst="rect">
            <a:avLst/>
          </a:prstGeom>
          <a:noFill/>
          <a:ln/>
        </p:spPr>
        <p:txBody>
          <a:bodyPr wrap="square" lIns="0" tIns="0" rIns="0" bIns="0" rtlCol="0" anchor="t"/>
          <a:lstStyle/>
          <a:p>
            <a:pPr indent="0" marL="0">
              <a:buNone/>
            </a:pPr>
            <a:r>
              <a:rPr lang="en-US" sz="1500" dirty="0">
                <a:solidFill>
                  <a:srgbClr val="E4E9FF"/>
                </a:solidFill>
                <a:latin typeface="DM Sans" pitchFamily="34" charset="0"/>
                <a:ea typeface="DM Sans" pitchFamily="34" charset="-122"/>
                <a:cs typeface="DM Sans" pitchFamily="34" charset="-120"/>
              </a:rPr>
              <a:t>x402 + MPP. They need live feeds, not polling.</a:t>
            </a:r>
            <a:endParaRPr lang="en-US" sz="1500" dirty="0"/>
          </a:p>
        </p:txBody>
      </p:sp>
      <p:sp>
        <p:nvSpPr>
          <p:cNvPr id="11" name="Shape 8"/>
          <p:cNvSpPr/>
          <p:nvPr/>
        </p:nvSpPr>
        <p:spPr>
          <a:xfrm>
            <a:off x="4361688" y="1938528"/>
            <a:ext cx="3465576" cy="1810512"/>
          </a:xfrm>
          <a:prstGeom prst="rect">
            <a:avLst/>
          </a:prstGeom>
          <a:solidFill>
            <a:srgbClr val="FFFFFF"/>
          </a:solidFill>
          <a:ln w="12700">
            <a:solidFill>
              <a:srgbClr val="FFFFFF">
                <a:alpha val="0"/>
              </a:srgbClr>
            </a:solidFill>
            <a:prstDash val="solid"/>
          </a:ln>
        </p:spPr>
      </p:sp>
      <p:sp>
        <p:nvSpPr>
          <p:cNvPr id="12" name="Text 9"/>
          <p:cNvSpPr/>
          <p:nvPr/>
        </p:nvSpPr>
        <p:spPr>
          <a:xfrm>
            <a:off x="4562856" y="2103120"/>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PHONE-SCALE PAYMENTS</a:t>
            </a:r>
            <a:endParaRPr lang="en-US" sz="1000" dirty="0"/>
          </a:p>
        </p:txBody>
      </p:sp>
      <p:sp>
        <p:nvSpPr>
          <p:cNvPr id="13" name="Text 10"/>
          <p:cNvSpPr/>
          <p:nvPr/>
        </p:nvSpPr>
        <p:spPr>
          <a:xfrm>
            <a:off x="4562856" y="2395728"/>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82M wallets, gasless USDC</a:t>
            </a:r>
            <a:endParaRPr lang="en-US" sz="2000" dirty="0"/>
          </a:p>
        </p:txBody>
      </p:sp>
      <p:sp>
        <p:nvSpPr>
          <p:cNvPr id="14" name="Text 11"/>
          <p:cNvSpPr/>
          <p:nvPr/>
        </p:nvSpPr>
        <p:spPr>
          <a:xfrm>
            <a:off x="4562856" y="3127248"/>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Receipts must survive drops: cursors.</a:t>
            </a:r>
            <a:endParaRPr lang="en-US" sz="1500" dirty="0"/>
          </a:p>
        </p:txBody>
      </p:sp>
      <p:sp>
        <p:nvSpPr>
          <p:cNvPr id="15" name="Shape 12"/>
          <p:cNvSpPr/>
          <p:nvPr/>
        </p:nvSpPr>
        <p:spPr>
          <a:xfrm>
            <a:off x="8037576" y="1938528"/>
            <a:ext cx="3465576" cy="1810512"/>
          </a:xfrm>
          <a:prstGeom prst="rect">
            <a:avLst/>
          </a:prstGeom>
          <a:solidFill>
            <a:srgbClr val="FFFFFF"/>
          </a:solidFill>
          <a:ln w="12700">
            <a:solidFill>
              <a:srgbClr val="FFFFFF">
                <a:alpha val="0"/>
              </a:srgbClr>
            </a:solidFill>
            <a:prstDash val="solid"/>
          </a:ln>
        </p:spPr>
      </p:sp>
      <p:sp>
        <p:nvSpPr>
          <p:cNvPr id="16" name="Text 13"/>
          <p:cNvSpPr/>
          <p:nvPr/>
        </p:nvSpPr>
        <p:spPr>
          <a:xfrm>
            <a:off x="8238744" y="2103120"/>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MONEY WITHOUT COINS</a:t>
            </a:r>
            <a:endParaRPr lang="en-US" sz="1000" dirty="0"/>
          </a:p>
        </p:txBody>
      </p:sp>
      <p:sp>
        <p:nvSpPr>
          <p:cNvPr id="17" name="Text 14"/>
          <p:cNvSpPr/>
          <p:nvPr/>
        </p:nvSpPr>
        <p:spPr>
          <a:xfrm>
            <a:off x="8238744" y="2395728"/>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Watch balance changes</a:t>
            </a:r>
            <a:endParaRPr lang="en-US" sz="2000" dirty="0"/>
          </a:p>
        </p:txBody>
      </p:sp>
      <p:sp>
        <p:nvSpPr>
          <p:cNvPr id="18" name="Text 15"/>
          <p:cNvSpPr/>
          <p:nvPr/>
        </p:nvSpPr>
        <p:spPr>
          <a:xfrm>
            <a:off x="8238744" y="3127248"/>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Address balances and allowances skip coin objects.</a:t>
            </a:r>
            <a:endParaRPr lang="en-US" sz="1500" dirty="0"/>
          </a:p>
        </p:txBody>
      </p:sp>
      <p:sp>
        <p:nvSpPr>
          <p:cNvPr id="19" name="Shape 16"/>
          <p:cNvSpPr/>
          <p:nvPr/>
        </p:nvSpPr>
        <p:spPr>
          <a:xfrm>
            <a:off x="685800" y="3877056"/>
            <a:ext cx="3465576" cy="1810512"/>
          </a:xfrm>
          <a:prstGeom prst="rect">
            <a:avLst/>
          </a:prstGeom>
          <a:solidFill>
            <a:srgbClr val="FFFFFF"/>
          </a:solidFill>
          <a:ln w="12700">
            <a:solidFill>
              <a:srgbClr val="FFFFFF">
                <a:alpha val="0"/>
              </a:srgbClr>
            </a:solidFill>
            <a:prstDash val="solid"/>
          </a:ln>
        </p:spPr>
      </p:sp>
      <p:sp>
        <p:nvSpPr>
          <p:cNvPr id="20" name="Text 17"/>
          <p:cNvSpPr/>
          <p:nvPr/>
        </p:nvSpPr>
        <p:spPr>
          <a:xfrm>
            <a:off x="886968" y="4041648"/>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TUNNELS</a:t>
            </a:r>
            <a:endParaRPr lang="en-US" sz="1000" dirty="0"/>
          </a:p>
        </p:txBody>
      </p:sp>
      <p:sp>
        <p:nvSpPr>
          <p:cNvPr id="21" name="Text 18"/>
          <p:cNvSpPr/>
          <p:nvPr/>
        </p:nvSpPr>
        <p:spPr>
          <a:xfrm>
            <a:off x="886968" y="4334256"/>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40.6M TPS stayed offchain</a:t>
            </a:r>
            <a:endParaRPr lang="en-US" sz="2000" dirty="0"/>
          </a:p>
        </p:txBody>
      </p:sp>
      <p:sp>
        <p:nvSpPr>
          <p:cNvPr id="22" name="Text 19"/>
          <p:cNvSpPr/>
          <p:nvPr/>
        </p:nvSpPr>
        <p:spPr>
          <a:xfrm>
            <a:off x="886968" y="5065776"/>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Your feed sees settlements, not each message.</a:t>
            </a:r>
            <a:endParaRPr lang="en-US" sz="1500" dirty="0"/>
          </a:p>
        </p:txBody>
      </p:sp>
      <p:sp>
        <p:nvSpPr>
          <p:cNvPr id="23" name="Shape 20"/>
          <p:cNvSpPr/>
          <p:nvPr/>
        </p:nvSpPr>
        <p:spPr>
          <a:xfrm>
            <a:off x="4361688" y="3877056"/>
            <a:ext cx="3465576" cy="1810512"/>
          </a:xfrm>
          <a:prstGeom prst="rect">
            <a:avLst/>
          </a:prstGeom>
          <a:solidFill>
            <a:srgbClr val="FFFFFF"/>
          </a:solidFill>
          <a:ln w="12700">
            <a:solidFill>
              <a:srgbClr val="FFFFFF">
                <a:alpha val="0"/>
              </a:srgbClr>
            </a:solidFill>
            <a:prstDash val="solid"/>
          </a:ln>
        </p:spPr>
      </p:sp>
      <p:sp>
        <p:nvSpPr>
          <p:cNvPr id="24" name="Text 21"/>
          <p:cNvSpPr/>
          <p:nvPr/>
        </p:nvSpPr>
        <p:spPr>
          <a:xfrm>
            <a:off x="4562856" y="4041648"/>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DATA OFF CHAIN</a:t>
            </a:r>
            <a:endParaRPr lang="en-US" sz="1000" dirty="0"/>
          </a:p>
        </p:txBody>
      </p:sp>
      <p:sp>
        <p:nvSpPr>
          <p:cNvPr id="25" name="Text 22"/>
          <p:cNvSpPr/>
          <p:nvPr/>
        </p:nvSpPr>
        <p:spPr>
          <a:xfrm>
            <a:off x="4562856" y="4334256"/>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Files, memory, proofs on Walrus</a:t>
            </a:r>
            <a:endParaRPr lang="en-US" sz="2000" dirty="0"/>
          </a:p>
        </p:txBody>
      </p:sp>
      <p:sp>
        <p:nvSpPr>
          <p:cNvPr id="26" name="Text 23"/>
          <p:cNvSpPr/>
          <p:nvPr/>
        </p:nvSpPr>
        <p:spPr>
          <a:xfrm>
            <a:off x="4562856" y="5065776"/>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Index the pointer on Sui. Fetch from Walrus.</a:t>
            </a:r>
            <a:endParaRPr lang="en-US" sz="1500" dirty="0"/>
          </a:p>
        </p:txBody>
      </p:sp>
      <p:sp>
        <p:nvSpPr>
          <p:cNvPr id="27" name="Shape 24"/>
          <p:cNvSpPr/>
          <p:nvPr/>
        </p:nvSpPr>
        <p:spPr>
          <a:xfrm>
            <a:off x="8037576" y="3877056"/>
            <a:ext cx="3465576" cy="1810512"/>
          </a:xfrm>
          <a:prstGeom prst="rect">
            <a:avLst/>
          </a:prstGeom>
          <a:solidFill>
            <a:srgbClr val="FFFFFF"/>
          </a:solidFill>
          <a:ln w="12700">
            <a:solidFill>
              <a:srgbClr val="FFFFFF">
                <a:alpha val="0"/>
              </a:srgbClr>
            </a:solidFill>
            <a:prstDash val="solid"/>
          </a:ln>
        </p:spPr>
      </p:sp>
      <p:sp>
        <p:nvSpPr>
          <p:cNvPr id="28" name="Text 25"/>
          <p:cNvSpPr/>
          <p:nvPr/>
        </p:nvSpPr>
        <p:spPr>
          <a:xfrm>
            <a:off x="8238744" y="4041648"/>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PRODUCTION</a:t>
            </a:r>
            <a:endParaRPr lang="en-US" sz="1000" dirty="0"/>
          </a:p>
        </p:txBody>
      </p:sp>
      <p:sp>
        <p:nvSpPr>
          <p:cNvPr id="29" name="Text 26"/>
          <p:cNvSpPr/>
          <p:nvPr/>
        </p:nvSpPr>
        <p:spPr>
          <a:xfrm>
            <a:off x="8238744" y="4334256"/>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Public endpoints are for dev</a:t>
            </a:r>
            <a:endParaRPr lang="en-US" sz="2000" dirty="0"/>
          </a:p>
        </p:txBody>
      </p:sp>
      <p:sp>
        <p:nvSpPr>
          <p:cNvPr id="30" name="Text 27"/>
          <p:cNvSpPr/>
          <p:nvPr/>
        </p:nvSpPr>
        <p:spPr>
          <a:xfrm>
            <a:off x="8238744" y="5065776"/>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Use a provider or cloud node. Check quotas.</a:t>
            </a:r>
            <a:endParaRPr lang="en-US" sz="1500" dirty="0"/>
          </a:p>
        </p:txBody>
      </p:sp>
      <p:sp>
        <p:nvSpPr>
          <p:cNvPr id="31" name="Shape 28"/>
          <p:cNvSpPr/>
          <p:nvPr/>
        </p:nvSpPr>
        <p:spPr>
          <a:xfrm>
            <a:off x="685800" y="5870448"/>
            <a:ext cx="10820400" cy="420624"/>
          </a:xfrm>
          <a:prstGeom prst="rect">
            <a:avLst/>
          </a:prstGeom>
          <a:solidFill>
            <a:srgbClr val="E8ECFF"/>
          </a:solidFill>
          <a:ln w="12700">
            <a:solidFill>
              <a:srgbClr val="E8ECFF">
                <a:alpha val="0"/>
              </a:srgbClr>
            </a:solidFill>
            <a:prstDash val="solid"/>
          </a:ln>
        </p:spPr>
      </p:sp>
      <p:sp>
        <p:nvSpPr>
          <p:cNvPr id="32" name="Text 29"/>
          <p:cNvSpPr/>
          <p:nvPr/>
        </p:nvSpPr>
        <p:spPr>
          <a:xfrm>
            <a:off x="832104" y="5925312"/>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Same lesson today: pick the right read path, stream it, never miss a payment.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[ 0 / DATA PROVIDERS / 16 OCTOBER 2026 ]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Who serves Sui data now.</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04 / 11</a:t>
            </a:r>
            <a:endParaRPr lang="en-US" sz="900" dirty="0"/>
          </a:p>
        </p:txBody>
      </p:sp>
      <p:sp>
        <p:nvSpPr>
          <p:cNvPr id="7" name="Shape 4"/>
          <p:cNvSpPr/>
          <p:nvPr/>
        </p:nvSpPr>
        <p:spPr>
          <a:xfrm>
            <a:off x="685800" y="1920240"/>
            <a:ext cx="3465576" cy="3310128"/>
          </a:xfrm>
          <a:prstGeom prst="rect">
            <a:avLst/>
          </a:prstGeom>
          <a:solidFill>
            <a:srgbClr val="2338FF"/>
          </a:solidFill>
          <a:ln w="12700">
            <a:solidFill>
              <a:srgbClr val="2338FF">
                <a:alpha val="0"/>
              </a:srgbClr>
            </a:solidFill>
            <a:prstDash val="solid"/>
          </a:ln>
        </p:spPr>
      </p:sp>
      <p:sp>
        <p:nvSpPr>
          <p:cNvPr id="8" name="Text 5"/>
          <p:cNvSpPr/>
          <p:nvPr/>
        </p:nvSpPr>
        <p:spPr>
          <a:xfrm>
            <a:off x="886968" y="2103120"/>
            <a:ext cx="3063240" cy="219456"/>
          </a:xfrm>
          <a:prstGeom prst="rect">
            <a:avLst/>
          </a:prstGeom>
          <a:noFill/>
          <a:ln/>
        </p:spPr>
        <p:txBody>
          <a:bodyPr wrap="square" lIns="0" tIns="0" rIns="0" bIns="0" rtlCol="0" anchor="ctr"/>
          <a:lstStyle/>
          <a:p>
            <a:pPr indent="0" marL="0">
              <a:buNone/>
            </a:pPr>
            <a:r>
              <a:rPr lang="en-US" sz="1000" dirty="0">
                <a:solidFill>
                  <a:srgbClr val="C4CEFF"/>
                </a:solidFill>
                <a:latin typeface="JetBrains Mono" pitchFamily="34" charset="0"/>
                <a:ea typeface="JetBrains Mono" pitchFamily="34" charset="-122"/>
                <a:cs typeface="JetBrains Mono" pitchFamily="34" charset="-120"/>
              </a:rPr>
              <a:t>FULL STACK</a:t>
            </a:r>
            <a:endParaRPr lang="en-US" sz="1000" dirty="0"/>
          </a:p>
        </p:txBody>
      </p:sp>
      <p:sp>
        <p:nvSpPr>
          <p:cNvPr id="9" name="Text 6"/>
          <p:cNvSpPr/>
          <p:nvPr/>
        </p:nvSpPr>
        <p:spPr>
          <a:xfrm>
            <a:off x="886968" y="2395728"/>
            <a:ext cx="3063240" cy="411480"/>
          </a:xfrm>
          <a:prstGeom prst="rect">
            <a:avLst/>
          </a:prstGeom>
          <a:noFill/>
          <a:ln/>
        </p:spPr>
        <p:txBody>
          <a:bodyPr wrap="square" lIns="0" tIns="0" rIns="0" bIns="0" rtlCol="0" anchor="t"/>
          <a:lstStyle/>
          <a:p>
            <a:pPr indent="0" marL="0">
              <a:buNone/>
            </a:pPr>
            <a:r>
              <a:rPr lang="en-US" sz="1900" dirty="0">
                <a:solidFill>
                  <a:srgbClr val="FFFFFF"/>
                </a:solidFill>
                <a:latin typeface="DM Sans" pitchFamily="34" charset="0"/>
                <a:ea typeface="DM Sans" pitchFamily="34" charset="-122"/>
                <a:cs typeface="DM Sans" pitchFamily="34" charset="-120"/>
              </a:rPr>
              <a:t>gRPC, GraphQL, archive</a:t>
            </a:r>
            <a:endParaRPr lang="en-US" sz="1900" dirty="0"/>
          </a:p>
        </p:txBody>
      </p:sp>
      <p:sp>
        <p:nvSpPr>
          <p:cNvPr id="10" name="Text 7"/>
          <p:cNvSpPr/>
          <p:nvPr/>
        </p:nvSpPr>
        <p:spPr>
          <a:xfrm>
            <a:off x="886968" y="2926080"/>
            <a:ext cx="3063240" cy="1325880"/>
          </a:xfrm>
          <a:prstGeom prst="rect">
            <a:avLst/>
          </a:prstGeom>
          <a:noFill/>
          <a:ln/>
        </p:spPr>
        <p:txBody>
          <a:bodyPr wrap="square" lIns="0" tIns="0" rIns="0" bIns="0" rtlCol="0" anchor="t"/>
          <a:lstStyle/>
          <a:p>
            <a:pPr indent="0" marL="0">
              <a:buNone/>
            </a:pPr>
            <a:r>
              <a:rPr lang="en-US" sz="1700" dirty="0">
                <a:solidFill>
                  <a:srgbClr val="FFFFFF"/>
                </a:solidFill>
                <a:latin typeface="DM Sans" pitchFamily="34" charset="0"/>
                <a:ea typeface="DM Sans" pitchFamily="34" charset="-122"/>
                <a:cs typeface="DM Sans" pitchFamily="34" charset="-120"/>
              </a:rPr>
              <a:t>QuickNode · Ankr · BlockPI</a:t>
            </a:r>
            <a:endParaRPr lang="en-US" sz="1700" dirty="0"/>
          </a:p>
          <a:p>
            <a:pPr indent="0" marL="0">
              <a:buNone/>
            </a:pPr>
            <a:r>
              <a:rPr lang="en-US" sz="1700" dirty="0">
                <a:solidFill>
                  <a:srgbClr val="FFFFFF"/>
                </a:solidFill>
                <a:latin typeface="DM Sans" pitchFamily="34" charset="0"/>
                <a:ea typeface="DM Sans" pitchFamily="34" charset="-122"/>
                <a:cs typeface="DM Sans" pitchFamily="34" charset="-120"/>
              </a:rPr>
              <a:t>ZAN · Inodra · Triton One</a:t>
            </a:r>
            <a:endParaRPr lang="en-US" sz="1700" dirty="0"/>
          </a:p>
        </p:txBody>
      </p:sp>
      <p:sp>
        <p:nvSpPr>
          <p:cNvPr id="11" name="Text 8"/>
          <p:cNvSpPr/>
          <p:nvPr/>
        </p:nvSpPr>
        <p:spPr>
          <a:xfrm>
            <a:off x="886968" y="4407408"/>
            <a:ext cx="3063240" cy="640080"/>
          </a:xfrm>
          <a:prstGeom prst="rect">
            <a:avLst/>
          </a:prstGeom>
          <a:noFill/>
          <a:ln/>
        </p:spPr>
        <p:txBody>
          <a:bodyPr wrap="square" lIns="0" tIns="0" rIns="0" bIns="0" rtlCol="0" anchor="t"/>
          <a:lstStyle/>
          <a:p>
            <a:pPr indent="0" marL="0">
              <a:buNone/>
            </a:pPr>
            <a:r>
              <a:rPr lang="en-US" sz="1300" dirty="0">
                <a:solidFill>
                  <a:srgbClr val="E4E9FF"/>
                </a:solidFill>
                <a:latin typeface="DM Sans" pitchFamily="34" charset="0"/>
                <a:ea typeface="DM Sans" pitchFamily="34" charset="-122"/>
                <a:cs typeface="DM Sans" pitchFamily="34" charset="-120"/>
              </a:rPr>
              <a:t>gRPC + GraphQL, no archive:</a:t>
            </a:r>
            <a:endParaRPr lang="en-US" sz="1300" dirty="0"/>
          </a:p>
          <a:p>
            <a:pPr indent="0" marL="0">
              <a:buNone/>
            </a:pPr>
            <a:r>
              <a:rPr lang="en-US" sz="1300" dirty="0">
                <a:solidFill>
                  <a:srgbClr val="E4E9FF"/>
                </a:solidFill>
                <a:latin typeface="DM Sans" pitchFamily="34" charset="0"/>
                <a:ea typeface="DM Sans" pitchFamily="34" charset="-122"/>
                <a:cs typeface="DM Sans" pitchFamily="34" charset="-120"/>
              </a:rPr>
              <a:t>NodeInfra · 01.ro</a:t>
            </a:r>
            <a:endParaRPr lang="en-US" sz="1300" dirty="0"/>
          </a:p>
        </p:txBody>
      </p:sp>
      <p:sp>
        <p:nvSpPr>
          <p:cNvPr id="12" name="Shape 9"/>
          <p:cNvSpPr/>
          <p:nvPr/>
        </p:nvSpPr>
        <p:spPr>
          <a:xfrm>
            <a:off x="4361688" y="1920240"/>
            <a:ext cx="3465576" cy="3310128"/>
          </a:xfrm>
          <a:prstGeom prst="rect">
            <a:avLst/>
          </a:prstGeom>
          <a:solidFill>
            <a:srgbClr val="FFFFFF"/>
          </a:solidFill>
          <a:ln w="12700">
            <a:solidFill>
              <a:srgbClr val="FFFFFF">
                <a:alpha val="0"/>
              </a:srgbClr>
            </a:solidFill>
            <a:prstDash val="solid"/>
          </a:ln>
        </p:spPr>
      </p:sp>
      <p:sp>
        <p:nvSpPr>
          <p:cNvPr id="13" name="Text 10"/>
          <p:cNvSpPr/>
          <p:nvPr/>
        </p:nvSpPr>
        <p:spPr>
          <a:xfrm>
            <a:off x="4562856" y="2103120"/>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gRPC NODES</a:t>
            </a:r>
            <a:endParaRPr lang="en-US" sz="1000" dirty="0"/>
          </a:p>
        </p:txBody>
      </p:sp>
      <p:sp>
        <p:nvSpPr>
          <p:cNvPr id="14" name="Text 11"/>
          <p:cNvSpPr/>
          <p:nvPr/>
        </p:nvSpPr>
        <p:spPr>
          <a:xfrm>
            <a:off x="4562856" y="2395728"/>
            <a:ext cx="3063240" cy="411480"/>
          </a:xfrm>
          <a:prstGeom prst="rect">
            <a:avLst/>
          </a:prstGeom>
          <a:noFill/>
          <a:ln/>
        </p:spPr>
        <p:txBody>
          <a:bodyPr wrap="square" lIns="0" tIns="0" rIns="0" bIns="0" rtlCol="0" anchor="t"/>
          <a:lstStyle/>
          <a:p>
            <a:pPr indent="0" marL="0">
              <a:buNone/>
            </a:pPr>
            <a:r>
              <a:rPr lang="en-US" sz="1900" dirty="0">
                <a:solidFill>
                  <a:srgbClr val="131725"/>
                </a:solidFill>
                <a:latin typeface="DM Sans" pitchFamily="34" charset="0"/>
                <a:ea typeface="DM Sans" pitchFamily="34" charset="-122"/>
                <a:cs typeface="DM Sans" pitchFamily="34" charset="-120"/>
              </a:rPr>
              <a:t>Full-node gRPC only</a:t>
            </a:r>
            <a:endParaRPr lang="en-US" sz="1900" dirty="0"/>
          </a:p>
        </p:txBody>
      </p:sp>
      <p:sp>
        <p:nvSpPr>
          <p:cNvPr id="15" name="Text 12"/>
          <p:cNvSpPr/>
          <p:nvPr/>
        </p:nvSpPr>
        <p:spPr>
          <a:xfrm>
            <a:off x="4562856" y="2926080"/>
            <a:ext cx="3063240" cy="1325880"/>
          </a:xfrm>
          <a:prstGeom prst="rect">
            <a:avLst/>
          </a:prstGeom>
          <a:noFill/>
          <a:ln/>
        </p:spPr>
        <p:txBody>
          <a:bodyPr wrap="square" lIns="0" tIns="0" rIns="0" bIns="0" rtlCol="0" anchor="t"/>
          <a:lstStyle/>
          <a:p>
            <a:pPr indent="0" marL="0">
              <a:buNone/>
            </a:pPr>
            <a:r>
              <a:rPr lang="en-US" sz="1700" dirty="0">
                <a:solidFill>
                  <a:srgbClr val="131725"/>
                </a:solidFill>
                <a:latin typeface="DM Sans" pitchFamily="34" charset="0"/>
                <a:ea typeface="DM Sans" pitchFamily="34" charset="-122"/>
                <a:cs typeface="DM Sans" pitchFamily="34" charset="-120"/>
              </a:rPr>
              <a:t>Alchemy · Dwellir</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BlockVision · GetBlock</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Natsai</a:t>
            </a:r>
            <a:endParaRPr lang="en-US" sz="1700" dirty="0"/>
          </a:p>
        </p:txBody>
      </p:sp>
      <p:sp>
        <p:nvSpPr>
          <p:cNvPr id="16" name="Text 13"/>
          <p:cNvSpPr/>
          <p:nvPr/>
        </p:nvSpPr>
        <p:spPr>
          <a:xfrm>
            <a:off x="4562856" y="4407408"/>
            <a:ext cx="3063240" cy="640080"/>
          </a:xfrm>
          <a:prstGeom prst="rect">
            <a:avLst/>
          </a:prstGeom>
          <a:noFill/>
          <a:ln/>
        </p:spPr>
        <p:txBody>
          <a:bodyPr wrap="square" lIns="0" tIns="0" rIns="0" bIns="0" rtlCol="0" anchor="t"/>
          <a:lstStyle/>
          <a:p>
            <a:pPr indent="0" marL="0">
              <a:buNone/>
            </a:pPr>
            <a:r>
              <a:rPr lang="en-US" sz="1300" dirty="0">
                <a:solidFill>
                  <a:srgbClr val="65708B"/>
                </a:solidFill>
                <a:latin typeface="DM Sans" pitchFamily="34" charset="0"/>
                <a:ea typeface="DM Sans" pitchFamily="34" charset="-122"/>
                <a:cs typeface="DM Sans" pitchFamily="34" charset="-120"/>
              </a:rPr>
              <a:t>Pair with GraphQL or an archive</a:t>
            </a:r>
            <a:endParaRPr lang="en-US" sz="1300" dirty="0"/>
          </a:p>
          <a:p>
            <a:pPr indent="0" marL="0">
              <a:buNone/>
            </a:pPr>
            <a:r>
              <a:rPr lang="en-US" sz="1300" dirty="0">
                <a:solidFill>
                  <a:srgbClr val="65708B"/>
                </a:solidFill>
                <a:latin typeface="DM Sans" pitchFamily="34" charset="0"/>
                <a:ea typeface="DM Sans" pitchFamily="34" charset="-122"/>
                <a:cs typeface="DM Sans" pitchFamily="34" charset="-120"/>
              </a:rPr>
              <a:t>from someone else</a:t>
            </a:r>
            <a:endParaRPr lang="en-US" sz="1300" dirty="0"/>
          </a:p>
        </p:txBody>
      </p:sp>
      <p:sp>
        <p:nvSpPr>
          <p:cNvPr id="17" name="Shape 14"/>
          <p:cNvSpPr/>
          <p:nvPr/>
        </p:nvSpPr>
        <p:spPr>
          <a:xfrm>
            <a:off x="8037576" y="1920240"/>
            <a:ext cx="3465576" cy="3310128"/>
          </a:xfrm>
          <a:prstGeom prst="rect">
            <a:avLst/>
          </a:prstGeom>
          <a:solidFill>
            <a:srgbClr val="FFFFFF"/>
          </a:solidFill>
          <a:ln w="12700">
            <a:solidFill>
              <a:srgbClr val="FFFFFF">
                <a:alpha val="0"/>
              </a:srgbClr>
            </a:solidFill>
            <a:prstDash val="solid"/>
          </a:ln>
        </p:spPr>
      </p:sp>
      <p:sp>
        <p:nvSpPr>
          <p:cNvPr id="18" name="Text 15"/>
          <p:cNvSpPr/>
          <p:nvPr/>
        </p:nvSpPr>
        <p:spPr>
          <a:xfrm>
            <a:off x="8238744" y="2103120"/>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INDEXED DATA + STREAMS</a:t>
            </a:r>
            <a:endParaRPr lang="en-US" sz="1000" dirty="0"/>
          </a:p>
        </p:txBody>
      </p:sp>
      <p:sp>
        <p:nvSpPr>
          <p:cNvPr id="19" name="Text 16"/>
          <p:cNvSpPr/>
          <p:nvPr/>
        </p:nvSpPr>
        <p:spPr>
          <a:xfrm>
            <a:off x="8238744" y="2395728"/>
            <a:ext cx="3063240" cy="411480"/>
          </a:xfrm>
          <a:prstGeom prst="rect">
            <a:avLst/>
          </a:prstGeom>
          <a:noFill/>
          <a:ln/>
        </p:spPr>
        <p:txBody>
          <a:bodyPr wrap="square" lIns="0" tIns="0" rIns="0" bIns="0" rtlCol="0" anchor="t"/>
          <a:lstStyle/>
          <a:p>
            <a:pPr indent="0" marL="0">
              <a:buNone/>
            </a:pPr>
            <a:r>
              <a:rPr lang="en-US" sz="1900" dirty="0">
                <a:solidFill>
                  <a:srgbClr val="131725"/>
                </a:solidFill>
                <a:latin typeface="DM Sans" pitchFamily="34" charset="0"/>
                <a:ea typeface="DM Sans" pitchFamily="34" charset="-122"/>
                <a:cs typeface="DM Sans" pitchFamily="34" charset="-120"/>
              </a:rPr>
              <a:t>Ready-made APIs</a:t>
            </a:r>
            <a:endParaRPr lang="en-US" sz="1900" dirty="0"/>
          </a:p>
        </p:txBody>
      </p:sp>
      <p:sp>
        <p:nvSpPr>
          <p:cNvPr id="20" name="Text 17"/>
          <p:cNvSpPr/>
          <p:nvPr/>
        </p:nvSpPr>
        <p:spPr>
          <a:xfrm>
            <a:off x="8238744" y="2926080"/>
            <a:ext cx="3063240" cy="1325880"/>
          </a:xfrm>
          <a:prstGeom prst="rect">
            <a:avLst/>
          </a:prstGeom>
          <a:noFill/>
          <a:ln/>
        </p:spPr>
        <p:txBody>
          <a:bodyPr wrap="square" lIns="0" tIns="0" rIns="0" bIns="0" rtlCol="0" anchor="t"/>
          <a:lstStyle/>
          <a:p>
            <a:pPr indent="0" marL="0">
              <a:buNone/>
            </a:pPr>
            <a:r>
              <a:rPr lang="en-US" sz="1700" dirty="0">
                <a:solidFill>
                  <a:srgbClr val="131725"/>
                </a:solidFill>
                <a:latin typeface="DM Sans" pitchFamily="34" charset="0"/>
                <a:ea typeface="DM Sans" pitchFamily="34" charset="-122"/>
                <a:cs typeface="DM Sans" pitchFamily="34" charset="-120"/>
              </a:rPr>
              <a:t>Sentio · Surflux (streams)</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BlockVision · Blockberry</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Space and Time · ZettaBlock</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Birdeye · Dubhe Indexer</a:t>
            </a:r>
            <a:endParaRPr lang="en-US" sz="1700" dirty="0"/>
          </a:p>
        </p:txBody>
      </p:sp>
      <p:sp>
        <p:nvSpPr>
          <p:cNvPr id="21" name="Text 18"/>
          <p:cNvSpPr/>
          <p:nvPr/>
        </p:nvSpPr>
        <p:spPr>
          <a:xfrm>
            <a:off x="8238744" y="4407408"/>
            <a:ext cx="3063240" cy="640080"/>
          </a:xfrm>
          <a:prstGeom prst="rect">
            <a:avLst/>
          </a:prstGeom>
          <a:noFill/>
          <a:ln/>
        </p:spPr>
        <p:txBody>
          <a:bodyPr wrap="square" lIns="0" tIns="0" rIns="0" bIns="0" rtlCol="0" anchor="t"/>
          <a:lstStyle/>
          <a:p>
            <a:pPr indent="0" marL="0">
              <a:buNone/>
            </a:pPr>
            <a:r>
              <a:rPr lang="en-US" sz="1300" dirty="0">
                <a:solidFill>
                  <a:srgbClr val="65708B"/>
                </a:solidFill>
                <a:latin typeface="DM Sans" pitchFamily="34" charset="0"/>
                <a:ea typeface="DM Sans" pitchFamily="34" charset="-122"/>
                <a:cs typeface="DM Sans" pitchFamily="34" charset="-120"/>
              </a:rPr>
              <a:t>When you want answers,</a:t>
            </a:r>
            <a:endParaRPr lang="en-US" sz="1300" dirty="0"/>
          </a:p>
          <a:p>
            <a:pPr indent="0" marL="0">
              <a:buNone/>
            </a:pPr>
            <a:r>
              <a:rPr lang="en-US" sz="1300" dirty="0">
                <a:solidFill>
                  <a:srgbClr val="65708B"/>
                </a:solidFill>
                <a:latin typeface="DM Sans" pitchFamily="34" charset="0"/>
                <a:ea typeface="DM Sans" pitchFamily="34" charset="-122"/>
                <a:cs typeface="DM Sans" pitchFamily="34" charset="-120"/>
              </a:rPr>
              <a:t>not raw checkpoints</a:t>
            </a:r>
            <a:endParaRPr lang="en-US" sz="1300" dirty="0"/>
          </a:p>
        </p:txBody>
      </p:sp>
      <p:sp>
        <p:nvSpPr>
          <p:cNvPr id="22" name="Text 19"/>
          <p:cNvSpPr/>
          <p:nvPr/>
        </p:nvSpPr>
        <p:spPr>
          <a:xfrm>
            <a:off x="685800" y="5358384"/>
            <a:ext cx="10789920" cy="274320"/>
          </a:xfrm>
          <a:prstGeom prst="rect">
            <a:avLst/>
          </a:prstGeom>
          <a:noFill/>
          <a:ln/>
        </p:spPr>
        <p:txBody>
          <a:bodyPr wrap="square" lIns="0" tIns="0" rIns="0" bIns="0" rtlCol="0" anchor="ctr"/>
          <a:lstStyle/>
          <a:p>
            <a:pPr indent="0" marL="0">
              <a:buNone/>
            </a:pPr>
            <a:r>
              <a:rPr lang="en-US" sz="1300" dirty="0">
                <a:solidFill>
                  <a:srgbClr val="65708B"/>
                </a:solidFill>
                <a:latin typeface="DM Sans" pitchFamily="34" charset="0"/>
                <a:ea typeface="DM Sans" pitchFamily="34" charset="-122"/>
                <a:cs typeface="DM Sans" pitchFamily="34" charset="-120"/>
              </a:rPr>
              <a:t>Sui Foundation endpoints (fullnode · graphql · archive.mainnet.sui.io): rate limited, for development only.</a:t>
            </a:r>
            <a:endParaRPr lang="en-US" sz="1300" dirty="0"/>
          </a:p>
        </p:txBody>
      </p:sp>
      <p:sp>
        <p:nvSpPr>
          <p:cNvPr id="23" name="Shape 20"/>
          <p:cNvSpPr/>
          <p:nvPr/>
        </p:nvSpPr>
        <p:spPr>
          <a:xfrm>
            <a:off x="685800" y="5833872"/>
            <a:ext cx="10820400" cy="420624"/>
          </a:xfrm>
          <a:prstGeom prst="rect">
            <a:avLst/>
          </a:prstGeom>
          <a:solidFill>
            <a:srgbClr val="E8ECFF"/>
          </a:solidFill>
          <a:ln w="12700">
            <a:solidFill>
              <a:srgbClr val="E8ECFF">
                <a:alpha val="0"/>
              </a:srgbClr>
            </a:solidFill>
            <a:prstDash val="solid"/>
          </a:ln>
        </p:spPr>
      </p:sp>
      <p:sp>
        <p:nvSpPr>
          <p:cNvPr id="24" name="Text 21"/>
          <p:cNvSpPr/>
          <p:nvPr/>
        </p:nvSpPr>
        <p:spPr>
          <a:xfrm>
            <a:off x="832104" y="5888736"/>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Before launch, ask: gRPC? GraphQL? Subscriptions over SSE? Archive? Networks? Quotas?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[ 1 / CHOOSE THE STACK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Replace the data path your app depends on.</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05 / 11</a:t>
            </a:r>
            <a:endParaRPr lang="en-US" sz="900" dirty="0"/>
          </a:p>
        </p:txBody>
      </p:sp>
      <p:sp>
        <p:nvSpPr>
          <p:cNvPr id="7" name="Shape 4"/>
          <p:cNvSpPr/>
          <p:nvPr/>
        </p:nvSpPr>
        <p:spPr>
          <a:xfrm>
            <a:off x="685800" y="1920240"/>
            <a:ext cx="10817352" cy="566928"/>
          </a:xfrm>
          <a:prstGeom prst="rect">
            <a:avLst/>
          </a:prstGeom>
          <a:solidFill>
            <a:srgbClr val="E8ECFF"/>
          </a:solidFill>
          <a:ln w="12700">
            <a:solidFill>
              <a:srgbClr val="E8ECFF">
                <a:alpha val="0"/>
              </a:srgbClr>
            </a:solidFill>
            <a:prstDash val="solid"/>
          </a:ln>
        </p:spPr>
      </p:sp>
      <p:sp>
        <p:nvSpPr>
          <p:cNvPr id="8" name="Text 5"/>
          <p:cNvSpPr/>
          <p:nvPr/>
        </p:nvSpPr>
        <p:spPr>
          <a:xfrm>
            <a:off x="832104" y="2002536"/>
            <a:ext cx="10524744" cy="182880"/>
          </a:xfrm>
          <a:prstGeom prst="rect">
            <a:avLst/>
          </a:prstGeom>
          <a:noFill/>
          <a:ln/>
        </p:spPr>
        <p:txBody>
          <a:bodyPr wrap="square" lIns="0" tIns="0" rIns="0" bIns="0" rtlCol="0" anchor="ctr"/>
          <a:lstStyle/>
          <a:p>
            <a:pPr indent="0" marL="0">
              <a:buNone/>
            </a:pPr>
            <a:r>
              <a:rPr lang="en-US" sz="900" dirty="0">
                <a:solidFill>
                  <a:srgbClr val="2338FF"/>
                </a:solidFill>
                <a:latin typeface="JetBrains Mono" pitchFamily="34" charset="0"/>
                <a:ea typeface="JetBrains Mono" pitchFamily="34" charset="-122"/>
                <a:cs typeface="JetBrains Mono" pitchFamily="34" charset="-120"/>
              </a:rPr>
              <a:t>NEW SINCE BASECAMP</a:t>
            </a:r>
            <a:endParaRPr lang="en-US" sz="900" dirty="0"/>
          </a:p>
        </p:txBody>
      </p:sp>
      <p:sp>
        <p:nvSpPr>
          <p:cNvPr id="9" name="Text 6"/>
          <p:cNvSpPr/>
          <p:nvPr/>
        </p:nvSpPr>
        <p:spPr>
          <a:xfrm>
            <a:off x="832104" y="2185416"/>
            <a:ext cx="10524744" cy="237744"/>
          </a:xfrm>
          <a:prstGeom prst="rect">
            <a:avLst/>
          </a:prstGeom>
          <a:noFill/>
          <a:ln/>
        </p:spPr>
        <p:txBody>
          <a:bodyPr wrap="square" lIns="0" tIns="0" rIns="0" bIns="0" rtlCol="0" anchor="t"/>
          <a:lstStyle/>
          <a:p>
            <a:pPr indent="0" marL="0">
              <a:buNone/>
            </a:pPr>
            <a:r>
              <a:rPr lang="en-US" sz="1250" dirty="0">
                <a:solidFill>
                  <a:srgbClr val="131725"/>
                </a:solidFill>
                <a:latin typeface="DM Sans" pitchFamily="34" charset="0"/>
                <a:ea typeface="DM Sans" pitchFamily="34" charset="-122"/>
                <a:cs typeface="DM Sans" pitchFamily="34" charset="-120"/>
              </a:rPr>
              <a:t>v1.82 removes JSON-RPC from full nodes (testnet 13 Oct).  GraphQL v1.81 (mainnet 7 Oct): multiGetDynamicFields · Balance.coinMetadata.</a:t>
            </a:r>
            <a:endParaRPr lang="en-US" sz="1250" dirty="0"/>
          </a:p>
        </p:txBody>
      </p:sp>
      <p:sp>
        <p:nvSpPr>
          <p:cNvPr id="10" name="Shape 7"/>
          <p:cNvSpPr/>
          <p:nvPr/>
        </p:nvSpPr>
        <p:spPr>
          <a:xfrm>
            <a:off x="685800" y="2697480"/>
            <a:ext cx="10817352" cy="658368"/>
          </a:xfrm>
          <a:prstGeom prst="rect">
            <a:avLst/>
          </a:prstGeom>
          <a:solidFill>
            <a:srgbClr val="2338FF"/>
          </a:solidFill>
          <a:ln w="12700">
            <a:solidFill>
              <a:srgbClr val="2338FF">
                <a:alpha val="0"/>
              </a:srgbClr>
            </a:solidFill>
            <a:prstDash val="solid"/>
          </a:ln>
        </p:spPr>
      </p:sp>
      <p:sp>
        <p:nvSpPr>
          <p:cNvPr id="11" name="Text 8"/>
          <p:cNvSpPr/>
          <p:nvPr/>
        </p:nvSpPr>
        <p:spPr>
          <a:xfrm>
            <a:off x="832104" y="2770632"/>
            <a:ext cx="2331720" cy="530352"/>
          </a:xfrm>
          <a:prstGeom prst="rect">
            <a:avLst/>
          </a:prstGeom>
          <a:noFill/>
          <a:ln/>
        </p:spPr>
        <p:txBody>
          <a:bodyPr wrap="square" lIns="0" tIns="0" rIns="0" bIns="0" rtlCol="0" anchor="ctr"/>
          <a:lstStyle/>
          <a:p>
            <a:pPr indent="0" marL="0">
              <a:buNone/>
            </a:pPr>
            <a:r>
              <a:rPr lang="en-US" sz="1900" dirty="0">
                <a:solidFill>
                  <a:srgbClr val="FFFFFF"/>
                </a:solidFill>
                <a:latin typeface="DM Sans" pitchFamily="34" charset="0"/>
                <a:ea typeface="DM Sans" pitchFamily="34" charset="-122"/>
                <a:cs typeface="DM Sans" pitchFamily="34" charset="-120"/>
              </a:rPr>
              <a:t>APP NEED</a:t>
            </a:r>
            <a:endParaRPr lang="en-US" sz="1900" dirty="0"/>
          </a:p>
        </p:txBody>
      </p:sp>
      <p:sp>
        <p:nvSpPr>
          <p:cNvPr id="12" name="Text 9"/>
          <p:cNvSpPr/>
          <p:nvPr/>
        </p:nvSpPr>
        <p:spPr>
          <a:xfrm>
            <a:off x="3246120" y="2770632"/>
            <a:ext cx="3611880" cy="530352"/>
          </a:xfrm>
          <a:prstGeom prst="rect">
            <a:avLst/>
          </a:prstGeom>
          <a:noFill/>
          <a:ln/>
        </p:spPr>
        <p:txBody>
          <a:bodyPr wrap="square" lIns="0" tIns="0" rIns="0" bIns="0" rtlCol="0" anchor="ctr"/>
          <a:lstStyle/>
          <a:p>
            <a:pPr indent="0" marL="0">
              <a:buNone/>
            </a:pPr>
            <a:r>
              <a:rPr lang="en-US" sz="1900" dirty="0">
                <a:solidFill>
                  <a:srgbClr val="FFFFFF"/>
                </a:solidFill>
                <a:latin typeface="DM Sans" pitchFamily="34" charset="0"/>
                <a:ea typeface="DM Sans" pitchFamily="34" charset="-122"/>
                <a:cs typeface="DM Sans" pitchFamily="34" charset="-120"/>
              </a:rPr>
              <a:t>REPLACEMENT PATH</a:t>
            </a:r>
            <a:endParaRPr lang="en-US" sz="1900" dirty="0"/>
          </a:p>
        </p:txBody>
      </p:sp>
      <p:sp>
        <p:nvSpPr>
          <p:cNvPr id="13" name="Text 10"/>
          <p:cNvSpPr/>
          <p:nvPr/>
        </p:nvSpPr>
        <p:spPr>
          <a:xfrm>
            <a:off x="7040880" y="2770632"/>
            <a:ext cx="4279392" cy="530352"/>
          </a:xfrm>
          <a:prstGeom prst="rect">
            <a:avLst/>
          </a:prstGeom>
          <a:noFill/>
          <a:ln/>
        </p:spPr>
        <p:txBody>
          <a:bodyPr wrap="square" lIns="0" tIns="0" rIns="0" bIns="0" rtlCol="0" anchor="ctr"/>
          <a:lstStyle/>
          <a:p>
            <a:pPr indent="0" marL="0">
              <a:buNone/>
            </a:pPr>
            <a:r>
              <a:rPr lang="en-US" sz="1900" dirty="0">
                <a:solidFill>
                  <a:srgbClr val="FFFFFF"/>
                </a:solidFill>
                <a:latin typeface="DM Sans" pitchFamily="34" charset="0"/>
                <a:ea typeface="DM Sans" pitchFamily="34" charset="-122"/>
                <a:cs typeface="DM Sans" pitchFamily="34" charset="-120"/>
              </a:rPr>
              <a:t>TILL EXAMPLE</a:t>
            </a:r>
            <a:endParaRPr lang="en-US" sz="1900" dirty="0"/>
          </a:p>
        </p:txBody>
      </p:sp>
      <p:sp>
        <p:nvSpPr>
          <p:cNvPr id="14" name="Shape 11"/>
          <p:cNvSpPr/>
          <p:nvPr/>
        </p:nvSpPr>
        <p:spPr>
          <a:xfrm>
            <a:off x="685800" y="3410712"/>
            <a:ext cx="10817352" cy="658368"/>
          </a:xfrm>
          <a:prstGeom prst="rect">
            <a:avLst/>
          </a:prstGeom>
          <a:solidFill>
            <a:srgbClr val="FFFFFF"/>
          </a:solidFill>
          <a:ln w="12700">
            <a:solidFill>
              <a:srgbClr val="FFFFFF">
                <a:alpha val="0"/>
              </a:srgbClr>
            </a:solidFill>
            <a:prstDash val="solid"/>
          </a:ln>
        </p:spPr>
      </p:sp>
      <p:sp>
        <p:nvSpPr>
          <p:cNvPr id="15" name="Text 12"/>
          <p:cNvSpPr/>
          <p:nvPr/>
        </p:nvSpPr>
        <p:spPr>
          <a:xfrm>
            <a:off x="832104" y="3483864"/>
            <a:ext cx="233172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State + execution</a:t>
            </a:r>
            <a:endParaRPr lang="en-US" sz="1900" dirty="0"/>
          </a:p>
        </p:txBody>
      </p:sp>
      <p:sp>
        <p:nvSpPr>
          <p:cNvPr id="16" name="Text 13"/>
          <p:cNvSpPr/>
          <p:nvPr/>
        </p:nvSpPr>
        <p:spPr>
          <a:xfrm>
            <a:off x="3246120" y="3483864"/>
            <a:ext cx="361188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gRPC</a:t>
            </a:r>
            <a:endParaRPr lang="en-US" sz="1900" dirty="0"/>
          </a:p>
        </p:txBody>
      </p:sp>
      <p:sp>
        <p:nvSpPr>
          <p:cNvPr id="17" name="Text 14"/>
          <p:cNvSpPr/>
          <p:nvPr/>
        </p:nvSpPr>
        <p:spPr>
          <a:xfrm>
            <a:off x="7040880" y="3483864"/>
            <a:ext cx="4279392" cy="530352"/>
          </a:xfrm>
          <a:prstGeom prst="rect">
            <a:avLst/>
          </a:prstGeom>
          <a:noFill/>
          <a:ln/>
        </p:spPr>
        <p:txBody>
          <a:bodyPr wrap="square" lIns="0" tIns="0" rIns="0" bIns="0" rtlCol="0" anchor="ctr"/>
          <a:lstStyle/>
          <a:p>
            <a:pPr indent="0" marL="0">
              <a:buNone/>
            </a:pPr>
            <a:r>
              <a:rPr lang="en-US" sz="1900" dirty="0">
                <a:solidFill>
                  <a:srgbClr val="65708B"/>
                </a:solidFill>
                <a:latin typeface="DM Sans" pitchFamily="34" charset="0"/>
                <a:ea typeface="DM Sans" pitchFamily="34" charset="-122"/>
                <a:cs typeface="DM Sans" pitchFamily="34" charset="-120"/>
              </a:rPr>
              <a:t>Read balances; submit a payment</a:t>
            </a:r>
            <a:endParaRPr lang="en-US" sz="1900" dirty="0"/>
          </a:p>
        </p:txBody>
      </p:sp>
      <p:sp>
        <p:nvSpPr>
          <p:cNvPr id="18" name="Shape 15"/>
          <p:cNvSpPr/>
          <p:nvPr/>
        </p:nvSpPr>
        <p:spPr>
          <a:xfrm>
            <a:off x="685800" y="4123944"/>
            <a:ext cx="10817352" cy="658368"/>
          </a:xfrm>
          <a:prstGeom prst="rect">
            <a:avLst/>
          </a:prstGeom>
          <a:solidFill>
            <a:srgbClr val="E8ECFF"/>
          </a:solidFill>
          <a:ln w="12700">
            <a:solidFill>
              <a:srgbClr val="E8ECFF">
                <a:alpha val="0"/>
              </a:srgbClr>
            </a:solidFill>
            <a:prstDash val="solid"/>
          </a:ln>
        </p:spPr>
      </p:sp>
      <p:sp>
        <p:nvSpPr>
          <p:cNvPr id="19" name="Text 16"/>
          <p:cNvSpPr/>
          <p:nvPr/>
        </p:nvSpPr>
        <p:spPr>
          <a:xfrm>
            <a:off x="832104" y="4197096"/>
            <a:ext cx="233172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Filtered activity</a:t>
            </a:r>
            <a:endParaRPr lang="en-US" sz="1900" dirty="0"/>
          </a:p>
        </p:txBody>
      </p:sp>
      <p:sp>
        <p:nvSpPr>
          <p:cNvPr id="20" name="Text 17"/>
          <p:cNvSpPr/>
          <p:nvPr/>
        </p:nvSpPr>
        <p:spPr>
          <a:xfrm>
            <a:off x="3246120" y="4197096"/>
            <a:ext cx="361188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GraphQL query + subscription</a:t>
            </a:r>
            <a:endParaRPr lang="en-US" sz="1900" dirty="0"/>
          </a:p>
        </p:txBody>
      </p:sp>
      <p:sp>
        <p:nvSpPr>
          <p:cNvPr id="21" name="Text 18"/>
          <p:cNvSpPr/>
          <p:nvPr/>
        </p:nvSpPr>
        <p:spPr>
          <a:xfrm>
            <a:off x="7040880" y="4197096"/>
            <a:ext cx="4279392" cy="530352"/>
          </a:xfrm>
          <a:prstGeom prst="rect">
            <a:avLst/>
          </a:prstGeom>
          <a:noFill/>
          <a:ln/>
        </p:spPr>
        <p:txBody>
          <a:bodyPr wrap="square" lIns="0" tIns="0" rIns="0" bIns="0" rtlCol="0" anchor="ctr"/>
          <a:lstStyle/>
          <a:p>
            <a:pPr indent="0" marL="0">
              <a:buNone/>
            </a:pPr>
            <a:r>
              <a:rPr lang="en-US" sz="1900" dirty="0">
                <a:solidFill>
                  <a:srgbClr val="65708B"/>
                </a:solidFill>
                <a:latin typeface="DM Sans" pitchFamily="34" charset="0"/>
                <a:ea typeface="DM Sans" pitchFamily="34" charset="-122"/>
                <a:cs typeface="DM Sans" pitchFamily="34" charset="-120"/>
              </a:rPr>
              <a:t>Load receipts; receive new ones</a:t>
            </a:r>
            <a:endParaRPr lang="en-US" sz="1900" dirty="0"/>
          </a:p>
        </p:txBody>
      </p:sp>
      <p:sp>
        <p:nvSpPr>
          <p:cNvPr id="22" name="Shape 19"/>
          <p:cNvSpPr/>
          <p:nvPr/>
        </p:nvSpPr>
        <p:spPr>
          <a:xfrm>
            <a:off x="685800" y="4837176"/>
            <a:ext cx="10817352" cy="658368"/>
          </a:xfrm>
          <a:prstGeom prst="rect">
            <a:avLst/>
          </a:prstGeom>
          <a:solidFill>
            <a:srgbClr val="FFFFFF"/>
          </a:solidFill>
          <a:ln w="12700">
            <a:solidFill>
              <a:srgbClr val="FFFFFF">
                <a:alpha val="0"/>
              </a:srgbClr>
            </a:solidFill>
            <a:prstDash val="solid"/>
          </a:ln>
        </p:spPr>
      </p:sp>
      <p:sp>
        <p:nvSpPr>
          <p:cNvPr id="23" name="Text 20"/>
          <p:cNvSpPr/>
          <p:nvPr/>
        </p:nvSpPr>
        <p:spPr>
          <a:xfrm>
            <a:off x="832104" y="4910328"/>
            <a:ext cx="233172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Pruned history</a:t>
            </a:r>
            <a:endParaRPr lang="en-US" sz="1900" dirty="0"/>
          </a:p>
        </p:txBody>
      </p:sp>
      <p:sp>
        <p:nvSpPr>
          <p:cNvPr id="24" name="Text 21"/>
          <p:cNvSpPr/>
          <p:nvPr/>
        </p:nvSpPr>
        <p:spPr>
          <a:xfrm>
            <a:off x="3246120" y="4910328"/>
            <a:ext cx="361188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Archive / backed GraphQL</a:t>
            </a:r>
            <a:endParaRPr lang="en-US" sz="1900" dirty="0"/>
          </a:p>
        </p:txBody>
      </p:sp>
      <p:sp>
        <p:nvSpPr>
          <p:cNvPr id="25" name="Text 22"/>
          <p:cNvSpPr/>
          <p:nvPr/>
        </p:nvSpPr>
        <p:spPr>
          <a:xfrm>
            <a:off x="7040880" y="4910328"/>
            <a:ext cx="4279392" cy="530352"/>
          </a:xfrm>
          <a:prstGeom prst="rect">
            <a:avLst/>
          </a:prstGeom>
          <a:noFill/>
          <a:ln/>
        </p:spPr>
        <p:txBody>
          <a:bodyPr wrap="square" lIns="0" tIns="0" rIns="0" bIns="0" rtlCol="0" anchor="ctr"/>
          <a:lstStyle/>
          <a:p>
            <a:pPr indent="0" marL="0">
              <a:buNone/>
            </a:pPr>
            <a:r>
              <a:rPr lang="en-US" sz="1900" dirty="0">
                <a:solidFill>
                  <a:srgbClr val="65708B"/>
                </a:solidFill>
                <a:latin typeface="DM Sans" pitchFamily="34" charset="0"/>
                <a:ea typeface="DM Sans" pitchFamily="34" charset="-122"/>
                <a:cs typeface="DM Sans" pitchFamily="34" charset="-120"/>
              </a:rPr>
              <a:t>Find an old transaction by digest</a:t>
            </a:r>
            <a:endParaRPr lang="en-US" sz="1900" dirty="0"/>
          </a:p>
        </p:txBody>
      </p:sp>
      <p:sp>
        <p:nvSpPr>
          <p:cNvPr id="26" name="Shape 23"/>
          <p:cNvSpPr/>
          <p:nvPr/>
        </p:nvSpPr>
        <p:spPr>
          <a:xfrm>
            <a:off x="685800" y="5870448"/>
            <a:ext cx="10820400" cy="420624"/>
          </a:xfrm>
          <a:prstGeom prst="rect">
            <a:avLst/>
          </a:prstGeom>
          <a:solidFill>
            <a:srgbClr val="E8ECFF"/>
          </a:solidFill>
          <a:ln w="12700">
            <a:solidFill>
              <a:srgbClr val="E8ECFF">
                <a:alpha val="0"/>
              </a:srgbClr>
            </a:solidFill>
            <a:prstDash val="solid"/>
          </a:ln>
        </p:spPr>
      </p:sp>
      <p:sp>
        <p:nvSpPr>
          <p:cNvPr id="27" name="Text 24"/>
          <p:cNvSpPr/>
          <p:nvPr/>
        </p:nvSpPr>
        <p:spPr>
          <a:xfrm>
            <a:off x="832104" y="5925312"/>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July: JSON-RPC off  →  21 Sep: subscriptions  →  7 Oct: v1.81 mainnet  →  13 Oct: JSON-RPC code removed (testnet)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[ 2 / THE ACTUAL TILL QUERY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A matching transaction becomes a receipt.</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06 / 11</a:t>
            </a:r>
            <a:endParaRPr lang="en-US" sz="900" dirty="0"/>
          </a:p>
        </p:txBody>
      </p:sp>
      <p:sp>
        <p:nvSpPr>
          <p:cNvPr id="7" name="Shape 4"/>
          <p:cNvSpPr/>
          <p:nvPr/>
        </p:nvSpPr>
        <p:spPr>
          <a:xfrm>
            <a:off x="685800" y="2057400"/>
            <a:ext cx="7086600" cy="4187952"/>
          </a:xfrm>
          <a:prstGeom prst="rect">
            <a:avLst/>
          </a:prstGeom>
          <a:solidFill>
            <a:srgbClr val="111529"/>
          </a:solidFill>
          <a:ln w="12700">
            <a:solidFill>
              <a:srgbClr val="111529">
                <a:alpha val="0"/>
              </a:srgbClr>
            </a:solidFill>
            <a:prstDash val="solid"/>
          </a:ln>
        </p:spPr>
      </p:sp>
      <p:sp>
        <p:nvSpPr>
          <p:cNvPr id="8" name="Text 5"/>
          <p:cNvSpPr/>
          <p:nvPr/>
        </p:nvSpPr>
        <p:spPr>
          <a:xfrm>
            <a:off x="886968" y="2240280"/>
            <a:ext cx="6684264" cy="3822192"/>
          </a:xfrm>
          <a:prstGeom prst="rect">
            <a:avLst/>
          </a:prstGeom>
          <a:noFill/>
          <a:ln/>
        </p:spPr>
        <p:txBody>
          <a:bodyPr wrap="square" lIns="0" tIns="0" rIns="0" bIns="0" rtlCol="0" anchor="t"/>
          <a:lstStyle/>
          <a:p>
            <a:pPr indent="0" marL="0">
              <a:buNone/>
            </a:pPr>
            <a:r>
              <a:rPr lang="en-US" sz="1450" dirty="0">
                <a:solidFill>
                  <a:srgbClr val="E1E7FF"/>
                </a:solidFill>
                <a:latin typeface="JetBrains Mono" pitchFamily="34" charset="0"/>
                <a:ea typeface="JetBrains Mono" pitchFamily="34" charset="-122"/>
                <a:cs typeface="JetBrains Mono" pitchFamily="34" charset="-120"/>
              </a:rPr>
              <a:t>subscription Till($shop: SuiAddress!,</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$after: String, $afterCheckpoint: UInt53)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transactions(filter: { affectedAddress: $shop,</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afterCheckpoint: $afterCheckpoint }, after: $after)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cursor</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node { digest sender { address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effects { status timestamp</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checkpoint { sequenceNumber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balanceChanges(first: 50) { nodes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owner { address } coinType { repr } amount</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a:t>
            </a:r>
            <a:endParaRPr lang="en-US" sz="1450" dirty="0"/>
          </a:p>
        </p:txBody>
      </p:sp>
      <p:sp>
        <p:nvSpPr>
          <p:cNvPr id="9" name="Text 6"/>
          <p:cNvSpPr/>
          <p:nvPr/>
        </p:nvSpPr>
        <p:spPr>
          <a:xfrm>
            <a:off x="8074152" y="2103120"/>
            <a:ext cx="3410712"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CURSOR</a:t>
            </a:r>
            <a:endParaRPr lang="en-US" sz="1000" dirty="0"/>
          </a:p>
        </p:txBody>
      </p:sp>
      <p:sp>
        <p:nvSpPr>
          <p:cNvPr id="10" name="Text 7"/>
          <p:cNvSpPr/>
          <p:nvPr/>
        </p:nvSpPr>
        <p:spPr>
          <a:xfrm>
            <a:off x="8074152" y="2395728"/>
            <a:ext cx="3410712" cy="45720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Where to resume delivery</a:t>
            </a:r>
            <a:endParaRPr lang="en-US" sz="2000" dirty="0"/>
          </a:p>
        </p:txBody>
      </p:sp>
      <p:sp>
        <p:nvSpPr>
          <p:cNvPr id="11" name="Text 8"/>
          <p:cNvSpPr/>
          <p:nvPr/>
        </p:nvSpPr>
        <p:spPr>
          <a:xfrm>
            <a:off x="8074152" y="2834640"/>
            <a:ext cx="3410712"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DIGEST + STATUS</a:t>
            </a:r>
            <a:endParaRPr lang="en-US" sz="1000" dirty="0"/>
          </a:p>
        </p:txBody>
      </p:sp>
      <p:sp>
        <p:nvSpPr>
          <p:cNvPr id="12" name="Text 9"/>
          <p:cNvSpPr/>
          <p:nvPr/>
        </p:nvSpPr>
        <p:spPr>
          <a:xfrm>
            <a:off x="8074152" y="3127248"/>
            <a:ext cx="3410712" cy="45720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Transaction + outcome</a:t>
            </a:r>
            <a:endParaRPr lang="en-US" sz="2000" dirty="0"/>
          </a:p>
        </p:txBody>
      </p:sp>
      <p:sp>
        <p:nvSpPr>
          <p:cNvPr id="13" name="Text 10"/>
          <p:cNvSpPr/>
          <p:nvPr/>
        </p:nvSpPr>
        <p:spPr>
          <a:xfrm>
            <a:off x="8074152" y="3566160"/>
            <a:ext cx="3410712"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OWNER + COIN + AMOUNT</a:t>
            </a:r>
            <a:endParaRPr lang="en-US" sz="1000" dirty="0"/>
          </a:p>
        </p:txBody>
      </p:sp>
      <p:sp>
        <p:nvSpPr>
          <p:cNvPr id="14" name="Text 11"/>
          <p:cNvSpPr/>
          <p:nvPr/>
        </p:nvSpPr>
        <p:spPr>
          <a:xfrm>
            <a:off x="8074152" y="3858768"/>
            <a:ext cx="3410712" cy="45720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Net credit to this shop</a:t>
            </a:r>
            <a:endParaRPr lang="en-US" sz="2000" dirty="0"/>
          </a:p>
        </p:txBody>
      </p:sp>
      <p:sp>
        <p:nvSpPr>
          <p:cNvPr id="15" name="Text 12"/>
          <p:cNvSpPr/>
          <p:nvPr/>
        </p:nvSpPr>
        <p:spPr>
          <a:xfrm>
            <a:off x="8074152" y="4297680"/>
            <a:ext cx="3410712"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TIMESTAMP + CHECKPOINT</a:t>
            </a:r>
            <a:endParaRPr lang="en-US" sz="1000" dirty="0"/>
          </a:p>
        </p:txBody>
      </p:sp>
      <p:sp>
        <p:nvSpPr>
          <p:cNvPr id="16" name="Text 13"/>
          <p:cNvSpPr/>
          <p:nvPr/>
        </p:nvSpPr>
        <p:spPr>
          <a:xfrm>
            <a:off x="8074152" y="4590288"/>
            <a:ext cx="3410712" cy="45720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When the receipt belongs</a:t>
            </a:r>
            <a:endParaRPr lang="en-US" sz="2000" dirty="0"/>
          </a:p>
        </p:txBody>
      </p:sp>
      <p:sp>
        <p:nvSpPr>
          <p:cNvPr id="17" name="Text 14"/>
          <p:cNvSpPr/>
          <p:nvPr/>
        </p:nvSpPr>
        <p:spPr>
          <a:xfrm>
            <a:off x="8074152" y="5029200"/>
            <a:ext cx="3410712" cy="521208"/>
          </a:xfrm>
          <a:prstGeom prst="rect">
            <a:avLst/>
          </a:prstGeom>
          <a:noFill/>
          <a:ln/>
        </p:spPr>
        <p:txBody>
          <a:bodyPr wrap="square" lIns="0" tIns="0" rIns="0" bIns="0" rtlCol="0" anchor="ctr"/>
          <a:lstStyle/>
          <a:p>
            <a:pPr indent="0" marL="0">
              <a:buNone/>
            </a:pPr>
            <a:r>
              <a:rPr lang="en-US" sz="1500" dirty="0">
                <a:solidFill>
                  <a:srgbClr val="078256"/>
                </a:solidFill>
                <a:latin typeface="DM Sans" pitchFamily="34" charset="0"/>
                <a:ea typeface="DM Sans" pitchFamily="34" charset="-122"/>
                <a:cs typeface="DM Sans" pitchFamily="34" charset="-120"/>
              </a:rPr>
              <a:t>SUCCESS + positive net credit</a:t>
            </a:r>
            <a:endParaRPr lang="en-US" sz="1500" dirty="0"/>
          </a:p>
          <a:p>
            <a:pPr indent="0" marL="0">
              <a:buNone/>
            </a:pPr>
            <a:r>
              <a:rPr lang="en-US" sz="1500" dirty="0">
                <a:solidFill>
                  <a:srgbClr val="078256"/>
                </a:solidFill>
                <a:latin typeface="DM Sans" pitchFamily="34" charset="0"/>
                <a:ea typeface="DM Sans" pitchFamily="34" charset="-122"/>
                <a:cs typeface="DM Sans" pitchFamily="34" charset="-120"/>
              </a:rPr>
              <a:t>→ receipt → render + chime</a:t>
            </a:r>
            <a:endParaRPr lang="en-US" sz="1500" dirty="0"/>
          </a:p>
        </p:txBody>
      </p:sp>
      <p:sp>
        <p:nvSpPr>
          <p:cNvPr id="18" name="Shape 15"/>
          <p:cNvSpPr/>
          <p:nvPr/>
        </p:nvSpPr>
        <p:spPr>
          <a:xfrm>
            <a:off x="8074152" y="5577840"/>
            <a:ext cx="3410712" cy="713232"/>
          </a:xfrm>
          <a:prstGeom prst="rect">
            <a:avLst/>
          </a:prstGeom>
          <a:solidFill>
            <a:srgbClr val="E8ECFF"/>
          </a:solidFill>
          <a:ln w="12700">
            <a:solidFill>
              <a:srgbClr val="E8ECFF">
                <a:alpha val="0"/>
              </a:srgbClr>
            </a:solidFill>
            <a:prstDash val="solid"/>
          </a:ln>
        </p:spPr>
      </p:sp>
      <p:sp>
        <p:nvSpPr>
          <p:cNvPr id="19" name="Text 16"/>
          <p:cNvSpPr/>
          <p:nvPr/>
        </p:nvSpPr>
        <p:spPr>
          <a:xfrm>
            <a:off x="8220456" y="5660136"/>
            <a:ext cx="3118104" cy="182880"/>
          </a:xfrm>
          <a:prstGeom prst="rect">
            <a:avLst/>
          </a:prstGeom>
          <a:noFill/>
          <a:ln/>
        </p:spPr>
        <p:txBody>
          <a:bodyPr wrap="square" lIns="0" tIns="0" rIns="0" bIns="0" rtlCol="0" anchor="ctr"/>
          <a:lstStyle/>
          <a:p>
            <a:pPr indent="0" marL="0">
              <a:buNone/>
            </a:pPr>
            <a:r>
              <a:rPr lang="en-US" sz="900" dirty="0">
                <a:solidFill>
                  <a:srgbClr val="2338FF"/>
                </a:solidFill>
                <a:latin typeface="JetBrains Mono" pitchFamily="34" charset="0"/>
                <a:ea typeface="JetBrains Mono" pitchFamily="34" charset="-122"/>
                <a:cs typeface="JetBrains Mono" pitchFamily="34" charset="-120"/>
              </a:rPr>
              <a:t>NEW / v1.81 MAINNET 7 OCT</a:t>
            </a:r>
            <a:endParaRPr lang="en-US" sz="900" dirty="0"/>
          </a:p>
        </p:txBody>
      </p:sp>
      <p:sp>
        <p:nvSpPr>
          <p:cNvPr id="20" name="Text 17"/>
          <p:cNvSpPr/>
          <p:nvPr/>
        </p:nvSpPr>
        <p:spPr>
          <a:xfrm>
            <a:off x="8220456" y="5843016"/>
            <a:ext cx="3118104" cy="384048"/>
          </a:xfrm>
          <a:prstGeom prst="rect">
            <a:avLst/>
          </a:prstGeom>
          <a:noFill/>
          <a:ln/>
        </p:spPr>
        <p:txBody>
          <a:bodyPr wrap="square" lIns="0" tIns="0" rIns="0" bIns="0" rtlCol="0" anchor="t"/>
          <a:lstStyle/>
          <a:p>
            <a:pPr indent="0" marL="0">
              <a:buNone/>
            </a:pPr>
            <a:r>
              <a:rPr lang="en-US" sz="1250" dirty="0">
                <a:solidFill>
                  <a:srgbClr val="131725"/>
                </a:solidFill>
                <a:latin typeface="DM Sans" pitchFamily="34" charset="0"/>
                <a:ea typeface="DM Sans" pitchFamily="34" charset="-122"/>
                <a:cs typeface="DM Sans" pitchFamily="34" charset="-120"/>
              </a:rPr>
              <a:t>Balance.coinMetadata: a balance can bring its coin decimals (USDC = 6).</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[ 2 / THE TRANSPORT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One POST request. Many SSE deliveries.</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07 / 11</a:t>
            </a:r>
            <a:endParaRPr lang="en-US" sz="900" dirty="0"/>
          </a:p>
        </p:txBody>
      </p:sp>
      <p:sp>
        <p:nvSpPr>
          <p:cNvPr id="7" name="Shape 4"/>
          <p:cNvSpPr/>
          <p:nvPr/>
        </p:nvSpPr>
        <p:spPr>
          <a:xfrm>
            <a:off x="685800" y="2194560"/>
            <a:ext cx="6675120" cy="3017520"/>
          </a:xfrm>
          <a:prstGeom prst="rect">
            <a:avLst/>
          </a:prstGeom>
          <a:solidFill>
            <a:srgbClr val="111529"/>
          </a:solidFill>
          <a:ln w="12700">
            <a:solidFill>
              <a:srgbClr val="111529">
                <a:alpha val="0"/>
              </a:srgbClr>
            </a:solidFill>
            <a:prstDash val="solid"/>
          </a:ln>
        </p:spPr>
      </p:sp>
      <p:sp>
        <p:nvSpPr>
          <p:cNvPr id="8" name="Text 5"/>
          <p:cNvSpPr/>
          <p:nvPr/>
        </p:nvSpPr>
        <p:spPr>
          <a:xfrm>
            <a:off x="886968" y="2377440"/>
            <a:ext cx="6272784" cy="2651760"/>
          </a:xfrm>
          <a:prstGeom prst="rect">
            <a:avLst/>
          </a:prstGeom>
          <a:noFill/>
          <a:ln/>
        </p:spPr>
        <p:txBody>
          <a:bodyPr wrap="square" lIns="0" tIns="0" rIns="0" bIns="0" rtlCol="0" anchor="t"/>
          <a:lstStyle/>
          <a:p>
            <a:pPr indent="0" marL="0">
              <a:buNone/>
            </a:pPr>
            <a:r>
              <a:rPr lang="en-US" sz="1600" dirty="0">
                <a:solidFill>
                  <a:srgbClr val="E1E7FF"/>
                </a:solidFill>
                <a:latin typeface="JetBrains Mono" pitchFamily="34" charset="0"/>
                <a:ea typeface="JetBrains Mono" pitchFamily="34" charset="-122"/>
                <a:cs typeface="JetBrains Mono" pitchFamily="34" charset="-120"/>
              </a:rPr>
              <a:t>const res = await fetch(url, {</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method: 'POST',</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headers: {</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'content-type': 'application/json',</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accept: 'text/event-stream',</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body: JSON.stringify({ query, variables }),</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signal,</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a:t>
            </a:r>
            <a:endParaRPr lang="en-US" sz="1600" dirty="0"/>
          </a:p>
        </p:txBody>
      </p:sp>
      <p:sp>
        <p:nvSpPr>
          <p:cNvPr id="9" name="Text 6"/>
          <p:cNvSpPr/>
          <p:nvPr/>
        </p:nvSpPr>
        <p:spPr>
          <a:xfrm>
            <a:off x="7699248" y="2212848"/>
            <a:ext cx="3474720" cy="22860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REQUEST</a:t>
            </a:r>
            <a:endParaRPr lang="en-US" sz="1100" dirty="0"/>
          </a:p>
        </p:txBody>
      </p:sp>
      <p:sp>
        <p:nvSpPr>
          <p:cNvPr id="10" name="Text 7"/>
          <p:cNvSpPr/>
          <p:nvPr/>
        </p:nvSpPr>
        <p:spPr>
          <a:xfrm>
            <a:off x="7699248" y="2606040"/>
            <a:ext cx="3749040" cy="77724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POST /graphql/subscriptions</a:t>
            </a:r>
            <a:endParaRPr lang="en-US" sz="2000" dirty="0"/>
          </a:p>
          <a:p>
            <a:pPr indent="0" marL="0">
              <a:buNone/>
            </a:pPr>
            <a:r>
              <a:rPr lang="en-US" sz="2000" dirty="0">
                <a:solidFill>
                  <a:srgbClr val="131725"/>
                </a:solidFill>
                <a:latin typeface="DM Sans" pitchFamily="34" charset="0"/>
                <a:ea typeface="DM Sans" pitchFamily="34" charset="-122"/>
                <a:cs typeface="DM Sans" pitchFamily="34" charset="-120"/>
              </a:rPr>
              <a:t>query + variables</a:t>
            </a:r>
            <a:endParaRPr lang="en-US" sz="2000" dirty="0"/>
          </a:p>
        </p:txBody>
      </p:sp>
      <p:sp>
        <p:nvSpPr>
          <p:cNvPr id="11" name="Text 8"/>
          <p:cNvSpPr/>
          <p:nvPr/>
        </p:nvSpPr>
        <p:spPr>
          <a:xfrm>
            <a:off x="7699248" y="3566160"/>
            <a:ext cx="3474720" cy="22860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RESPONSE STAYS OPEN</a:t>
            </a:r>
            <a:endParaRPr lang="en-US" sz="1100" dirty="0"/>
          </a:p>
        </p:txBody>
      </p:sp>
      <p:sp>
        <p:nvSpPr>
          <p:cNvPr id="12" name="Text 9"/>
          <p:cNvSpPr/>
          <p:nvPr/>
        </p:nvSpPr>
        <p:spPr>
          <a:xfrm>
            <a:off x="7699248" y="3886200"/>
            <a:ext cx="3749040" cy="77724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text/event-stream</a:t>
            </a:r>
            <a:endParaRPr lang="en-US" sz="2000" dirty="0"/>
          </a:p>
          <a:p>
            <a:pPr indent="0" marL="0">
              <a:buNone/>
            </a:pPr>
            <a:r>
              <a:rPr lang="en-US" sz="2000" dirty="0">
                <a:solidFill>
                  <a:srgbClr val="131725"/>
                </a:solidFill>
                <a:latin typeface="DM Sans" pitchFamily="34" charset="0"/>
                <a:ea typeface="DM Sans" pitchFamily="34" charset="-122"/>
                <a:cs typeface="DM Sans" pitchFamily="34" charset="-120"/>
              </a:rPr>
              <a:t>receipt A → B → C → …</a:t>
            </a:r>
            <a:endParaRPr lang="en-US" sz="2000" dirty="0"/>
          </a:p>
        </p:txBody>
      </p:sp>
      <p:sp>
        <p:nvSpPr>
          <p:cNvPr id="13" name="Shape 10"/>
          <p:cNvSpPr/>
          <p:nvPr/>
        </p:nvSpPr>
        <p:spPr>
          <a:xfrm>
            <a:off x="7699248" y="4754880"/>
            <a:ext cx="3794760" cy="731520"/>
          </a:xfrm>
          <a:prstGeom prst="rect">
            <a:avLst/>
          </a:prstGeom>
          <a:solidFill>
            <a:srgbClr val="E8ECFF"/>
          </a:solidFill>
          <a:ln w="12700">
            <a:solidFill>
              <a:srgbClr val="E8ECFF">
                <a:alpha val="0"/>
              </a:srgbClr>
            </a:solidFill>
            <a:prstDash val="solid"/>
          </a:ln>
        </p:spPr>
      </p:sp>
      <p:sp>
        <p:nvSpPr>
          <p:cNvPr id="14" name="Text 11"/>
          <p:cNvSpPr/>
          <p:nvPr/>
        </p:nvSpPr>
        <p:spPr>
          <a:xfrm>
            <a:off x="7845552" y="4837176"/>
            <a:ext cx="3502152" cy="182880"/>
          </a:xfrm>
          <a:prstGeom prst="rect">
            <a:avLst/>
          </a:prstGeom>
          <a:noFill/>
          <a:ln/>
        </p:spPr>
        <p:txBody>
          <a:bodyPr wrap="square" lIns="0" tIns="0" rIns="0" bIns="0" rtlCol="0" anchor="ctr"/>
          <a:lstStyle/>
          <a:p>
            <a:pPr indent="0" marL="0">
              <a:buNone/>
            </a:pPr>
            <a:r>
              <a:rPr lang="en-US" sz="900" dirty="0">
                <a:solidFill>
                  <a:srgbClr val="2338FF"/>
                </a:solidFill>
                <a:latin typeface="JetBrains Mono" pitchFamily="34" charset="0"/>
                <a:ea typeface="JetBrains Mono" pitchFamily="34" charset="-122"/>
                <a:cs typeface="JetBrains Mono" pitchFamily="34" charset="-120"/>
              </a:rPr>
              <a:t>DOCS LAG THE CHAIN</a:t>
            </a:r>
            <a:endParaRPr lang="en-US" sz="900" dirty="0"/>
          </a:p>
        </p:txBody>
      </p:sp>
      <p:sp>
        <p:nvSpPr>
          <p:cNvPr id="15" name="Text 12"/>
          <p:cNvSpPr/>
          <p:nvPr/>
        </p:nvSpPr>
        <p:spPr>
          <a:xfrm>
            <a:off x="7845552" y="5020056"/>
            <a:ext cx="3502152" cy="402336"/>
          </a:xfrm>
          <a:prstGeom prst="rect">
            <a:avLst/>
          </a:prstGeom>
          <a:noFill/>
          <a:ln/>
        </p:spPr>
        <p:txBody>
          <a:bodyPr wrap="square" lIns="0" tIns="0" rIns="0" bIns="0" rtlCol="0" anchor="t"/>
          <a:lstStyle/>
          <a:p>
            <a:pPr indent="0" marL="0">
              <a:buNone/>
            </a:pPr>
            <a:r>
              <a:rPr lang="en-US" sz="1250" dirty="0">
                <a:solidFill>
                  <a:srgbClr val="131725"/>
                </a:solidFill>
                <a:latin typeface="DM Sans" pitchFamily="34" charset="0"/>
                <a:ea typeface="DM Sans" pitchFamily="34" charset="-122"/>
                <a:cs typeface="DM Sans" pitchFamily="34" charset="-120"/>
              </a:rPr>
              <a:t>Docs still say GraphQL has no subscriptions. They are live on mainnet: trust deliveries.</a:t>
            </a:r>
            <a:endParaRPr lang="en-US" sz="1250" dirty="0"/>
          </a:p>
        </p:txBody>
      </p:sp>
      <p:sp>
        <p:nvSpPr>
          <p:cNvPr id="16" name="Shape 13"/>
          <p:cNvSpPr/>
          <p:nvPr/>
        </p:nvSpPr>
        <p:spPr>
          <a:xfrm>
            <a:off x="685800" y="5623560"/>
            <a:ext cx="10820400" cy="420624"/>
          </a:xfrm>
          <a:prstGeom prst="rect">
            <a:avLst/>
          </a:prstGeom>
          <a:solidFill>
            <a:srgbClr val="E8ECFF"/>
          </a:solidFill>
          <a:ln w="12700">
            <a:solidFill>
              <a:srgbClr val="E8ECFF">
                <a:alpha val="0"/>
              </a:srgbClr>
            </a:solidFill>
            <a:prstDash val="solid"/>
          </a:ln>
        </p:spPr>
      </p:sp>
      <p:sp>
        <p:nvSpPr>
          <p:cNvPr id="17" name="Text 14"/>
          <p:cNvSpPr/>
          <p:nvPr/>
        </p:nvSpPr>
        <p:spPr>
          <a:xfrm>
            <a:off x="832104" y="5678424"/>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fetch → decode text → buffer complete SSE frames → inspect errors → await the handler</a:t>
            </a:r>
            <a:endParaRPr lang="en-US" sz="1500" dirty="0"/>
          </a:p>
        </p:txBody>
      </p:sp>
      <p:sp>
        <p:nvSpPr>
          <p:cNvPr id="18" name="Text 15"/>
          <p:cNvSpPr/>
          <p:nvPr/>
        </p:nvSpPr>
        <p:spPr>
          <a:xfrm>
            <a:off x="685800" y="6172200"/>
            <a:ext cx="10789920" cy="228600"/>
          </a:xfrm>
          <a:prstGeom prst="rect">
            <a:avLst/>
          </a:prstGeom>
          <a:noFill/>
          <a:ln/>
        </p:spPr>
        <p:txBody>
          <a:bodyPr wrap="square" lIns="0" tIns="0" rIns="0" bIns="0" rtlCol="0" anchor="ctr"/>
          <a:lstStyle/>
          <a:p>
            <a:pPr indent="0" marL="0">
              <a:buNone/>
            </a:pPr>
            <a:r>
              <a:rPr lang="en-US" sz="1300" dirty="0">
                <a:solidFill>
                  <a:srgbClr val="65708B"/>
                </a:solidFill>
                <a:latin typeface="DM Sans" pitchFamily="34" charset="0"/>
                <a:ea typeface="DM Sans" pitchFamily="34" charset="-122"/>
                <a:cs typeface="DM Sans" pitchFamily="34" charset="-120"/>
              </a:rPr>
              <a:t>EventSource cannot send this POST body. A network chunk is not a complete SSE message.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[ 2 / CURSORS, BACKFILL AND ORDER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The connection drops. The payments do not.</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08 / 11</a:t>
            </a:r>
            <a:endParaRPr lang="en-US" sz="900" dirty="0"/>
          </a:p>
        </p:txBody>
      </p:sp>
      <p:sp>
        <p:nvSpPr>
          <p:cNvPr id="7" name="Shape 4"/>
          <p:cNvSpPr/>
          <p:nvPr/>
        </p:nvSpPr>
        <p:spPr>
          <a:xfrm>
            <a:off x="685800" y="2286000"/>
            <a:ext cx="2523744" cy="1005840"/>
          </a:xfrm>
          <a:prstGeom prst="rect">
            <a:avLst/>
          </a:prstGeom>
          <a:solidFill>
            <a:srgbClr val="2338FF"/>
          </a:solidFill>
          <a:ln w="12700">
            <a:solidFill>
              <a:srgbClr val="2338FF">
                <a:alpha val="0"/>
              </a:srgbClr>
            </a:solidFill>
            <a:prstDash val="solid"/>
          </a:ln>
        </p:spPr>
      </p:sp>
      <p:sp>
        <p:nvSpPr>
          <p:cNvPr id="8" name="Text 5"/>
          <p:cNvSpPr/>
          <p:nvPr/>
        </p:nvSpPr>
        <p:spPr>
          <a:xfrm>
            <a:off x="850392" y="2468880"/>
            <a:ext cx="2194560" cy="228600"/>
          </a:xfrm>
          <a:prstGeom prst="rect">
            <a:avLst/>
          </a:prstGeom>
          <a:noFill/>
          <a:ln/>
        </p:spPr>
        <p:txBody>
          <a:bodyPr wrap="square" lIns="0" tIns="0" rIns="0" bIns="0" rtlCol="0" anchor="ctr"/>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A / cp 100</a:t>
            </a:r>
            <a:endParaRPr lang="en-US" sz="1400" dirty="0"/>
          </a:p>
        </p:txBody>
      </p:sp>
      <p:sp>
        <p:nvSpPr>
          <p:cNvPr id="9" name="Text 6"/>
          <p:cNvSpPr/>
          <p:nvPr/>
        </p:nvSpPr>
        <p:spPr>
          <a:xfrm>
            <a:off x="850392" y="2825496"/>
            <a:ext cx="2194560" cy="274320"/>
          </a:xfrm>
          <a:prstGeom prst="rect">
            <a:avLst/>
          </a:prstGeom>
          <a:noFill/>
          <a:ln/>
        </p:spPr>
        <p:txBody>
          <a:bodyPr wrap="square" lIns="0" tIns="0" rIns="0" bIns="0" rtlCol="0" anchor="ctr"/>
          <a:lstStyle/>
          <a:p>
            <a:pPr indent="0" marL="0">
              <a:buNone/>
            </a:pPr>
            <a:r>
              <a:rPr lang="en-US" sz="1600" dirty="0">
                <a:solidFill>
                  <a:srgbClr val="B7C3E2"/>
                </a:solidFill>
                <a:latin typeface="DM Sans" pitchFamily="34" charset="0"/>
                <a:ea typeface="DM Sans" pitchFamily="34" charset="-122"/>
                <a:cs typeface="DM Sans" pitchFamily="34" charset="-120"/>
              </a:rPr>
              <a:t>Delivered + saved</a:t>
            </a:r>
            <a:endParaRPr lang="en-US" sz="1600" dirty="0"/>
          </a:p>
        </p:txBody>
      </p:sp>
      <p:sp>
        <p:nvSpPr>
          <p:cNvPr id="10" name="Text 7"/>
          <p:cNvSpPr/>
          <p:nvPr/>
        </p:nvSpPr>
        <p:spPr>
          <a:xfrm>
            <a:off x="3168396" y="2560320"/>
            <a:ext cx="320040" cy="365760"/>
          </a:xfrm>
          <a:prstGeom prst="rect">
            <a:avLst/>
          </a:prstGeom>
          <a:noFill/>
          <a:ln/>
        </p:spPr>
        <p:txBody>
          <a:bodyPr wrap="square" lIns="0" tIns="0" rIns="0" bIns="0" rtlCol="0" anchor="ctr"/>
          <a:lstStyle/>
          <a:p>
            <a:pPr algn="ctr" indent="0" marL="0">
              <a:buNone/>
            </a:pPr>
            <a:r>
              <a:rPr lang="en-US" sz="2000" dirty="0">
                <a:solidFill>
                  <a:srgbClr val="2338FF"/>
                </a:solidFill>
                <a:latin typeface="DM Sans" pitchFamily="34" charset="0"/>
                <a:ea typeface="DM Sans" pitchFamily="34" charset="-122"/>
                <a:cs typeface="DM Sans" pitchFamily="34" charset="-120"/>
              </a:rPr>
              <a:t>→</a:t>
            </a:r>
            <a:endParaRPr lang="en-US" sz="2000" dirty="0"/>
          </a:p>
        </p:txBody>
      </p:sp>
      <p:sp>
        <p:nvSpPr>
          <p:cNvPr id="11" name="Shape 8"/>
          <p:cNvSpPr/>
          <p:nvPr/>
        </p:nvSpPr>
        <p:spPr>
          <a:xfrm>
            <a:off x="3447288" y="2286000"/>
            <a:ext cx="2523744" cy="1005840"/>
          </a:xfrm>
          <a:prstGeom prst="rect">
            <a:avLst/>
          </a:prstGeom>
          <a:solidFill>
            <a:srgbClr val="FFFFFF"/>
          </a:solidFill>
          <a:ln w="12700">
            <a:solidFill>
              <a:srgbClr val="FFFFFF">
                <a:alpha val="0"/>
              </a:srgbClr>
            </a:solidFill>
            <a:prstDash val="solid"/>
          </a:ln>
        </p:spPr>
      </p:sp>
      <p:sp>
        <p:nvSpPr>
          <p:cNvPr id="12" name="Text 9"/>
          <p:cNvSpPr/>
          <p:nvPr/>
        </p:nvSpPr>
        <p:spPr>
          <a:xfrm>
            <a:off x="3611880" y="2468880"/>
            <a:ext cx="2194560" cy="228600"/>
          </a:xfrm>
          <a:prstGeom prst="rect">
            <a:avLst/>
          </a:prstGeom>
          <a:noFill/>
          <a:ln/>
        </p:spPr>
        <p:txBody>
          <a:bodyPr wrap="square" lIns="0" tIns="0" rIns="0" bIns="0" rtlCol="0" anchor="ctr"/>
          <a:lstStyle/>
          <a:p>
            <a:pPr indent="0" marL="0">
              <a:buNone/>
            </a:pPr>
            <a:r>
              <a:rPr lang="en-US" sz="1400" dirty="0">
                <a:solidFill>
                  <a:srgbClr val="2338FF"/>
                </a:solidFill>
                <a:latin typeface="JetBrains Mono" pitchFamily="34" charset="0"/>
                <a:ea typeface="JetBrains Mono" pitchFamily="34" charset="-122"/>
                <a:cs typeface="JetBrains Mono" pitchFamily="34" charset="-120"/>
              </a:rPr>
              <a:t>B / cp 101</a:t>
            </a:r>
            <a:endParaRPr lang="en-US" sz="1400" dirty="0"/>
          </a:p>
        </p:txBody>
      </p:sp>
      <p:sp>
        <p:nvSpPr>
          <p:cNvPr id="13" name="Text 10"/>
          <p:cNvSpPr/>
          <p:nvPr/>
        </p:nvSpPr>
        <p:spPr>
          <a:xfrm>
            <a:off x="3611880" y="2825496"/>
            <a:ext cx="2194560" cy="274320"/>
          </a:xfrm>
          <a:prstGeom prst="rect">
            <a:avLst/>
          </a:prstGeom>
          <a:noFill/>
          <a:ln/>
        </p:spPr>
        <p:txBody>
          <a:bodyPr wrap="square" lIns="0" tIns="0" rIns="0" bIns="0" rtlCol="0" anchor="ctr"/>
          <a:lstStyle/>
          <a:p>
            <a:pPr indent="0" marL="0">
              <a:buNone/>
            </a:pPr>
            <a:r>
              <a:rPr lang="en-US" sz="1600" dirty="0">
                <a:solidFill>
                  <a:srgbClr val="65708B"/>
                </a:solidFill>
                <a:latin typeface="DM Sans" pitchFamily="34" charset="0"/>
                <a:ea typeface="DM Sans" pitchFamily="34" charset="-122"/>
                <a:cs typeface="DM Sans" pitchFamily="34" charset="-120"/>
              </a:rPr>
              <a:t>Finalizes offline</a:t>
            </a:r>
            <a:endParaRPr lang="en-US" sz="1600" dirty="0"/>
          </a:p>
        </p:txBody>
      </p:sp>
      <p:sp>
        <p:nvSpPr>
          <p:cNvPr id="14" name="Text 11"/>
          <p:cNvSpPr/>
          <p:nvPr/>
        </p:nvSpPr>
        <p:spPr>
          <a:xfrm>
            <a:off x="5929884" y="2560320"/>
            <a:ext cx="320040" cy="365760"/>
          </a:xfrm>
          <a:prstGeom prst="rect">
            <a:avLst/>
          </a:prstGeom>
          <a:noFill/>
          <a:ln/>
        </p:spPr>
        <p:txBody>
          <a:bodyPr wrap="square" lIns="0" tIns="0" rIns="0" bIns="0" rtlCol="0" anchor="ctr"/>
          <a:lstStyle/>
          <a:p>
            <a:pPr algn="ctr" indent="0" marL="0">
              <a:buNone/>
            </a:pPr>
            <a:r>
              <a:rPr lang="en-US" sz="2000" dirty="0">
                <a:solidFill>
                  <a:srgbClr val="2338FF"/>
                </a:solidFill>
                <a:latin typeface="DM Sans" pitchFamily="34" charset="0"/>
                <a:ea typeface="DM Sans" pitchFamily="34" charset="-122"/>
                <a:cs typeface="DM Sans" pitchFamily="34" charset="-120"/>
              </a:rPr>
              <a:t>→</a:t>
            </a:r>
            <a:endParaRPr lang="en-US" sz="2000" dirty="0"/>
          </a:p>
        </p:txBody>
      </p:sp>
      <p:sp>
        <p:nvSpPr>
          <p:cNvPr id="15" name="Shape 12"/>
          <p:cNvSpPr/>
          <p:nvPr/>
        </p:nvSpPr>
        <p:spPr>
          <a:xfrm>
            <a:off x="6208776" y="2286000"/>
            <a:ext cx="2523744" cy="1005840"/>
          </a:xfrm>
          <a:prstGeom prst="rect">
            <a:avLst/>
          </a:prstGeom>
          <a:solidFill>
            <a:srgbClr val="FFFFFF"/>
          </a:solidFill>
          <a:ln w="12700">
            <a:solidFill>
              <a:srgbClr val="FFFFFF">
                <a:alpha val="0"/>
              </a:srgbClr>
            </a:solidFill>
            <a:prstDash val="solid"/>
          </a:ln>
        </p:spPr>
      </p:sp>
      <p:sp>
        <p:nvSpPr>
          <p:cNvPr id="16" name="Text 13"/>
          <p:cNvSpPr/>
          <p:nvPr/>
        </p:nvSpPr>
        <p:spPr>
          <a:xfrm>
            <a:off x="6373368" y="2468880"/>
            <a:ext cx="2194560" cy="228600"/>
          </a:xfrm>
          <a:prstGeom prst="rect">
            <a:avLst/>
          </a:prstGeom>
          <a:noFill/>
          <a:ln/>
        </p:spPr>
        <p:txBody>
          <a:bodyPr wrap="square" lIns="0" tIns="0" rIns="0" bIns="0" rtlCol="0" anchor="ctr"/>
          <a:lstStyle/>
          <a:p>
            <a:pPr indent="0" marL="0">
              <a:buNone/>
            </a:pPr>
            <a:r>
              <a:rPr lang="en-US" sz="1400" dirty="0">
                <a:solidFill>
                  <a:srgbClr val="2338FF"/>
                </a:solidFill>
                <a:latin typeface="JetBrains Mono" pitchFamily="34" charset="0"/>
                <a:ea typeface="JetBrains Mono" pitchFamily="34" charset="-122"/>
                <a:cs typeface="JetBrains Mono" pitchFamily="34" charset="-120"/>
              </a:rPr>
              <a:t>C / cp 101</a:t>
            </a:r>
            <a:endParaRPr lang="en-US" sz="1400" dirty="0"/>
          </a:p>
        </p:txBody>
      </p:sp>
      <p:sp>
        <p:nvSpPr>
          <p:cNvPr id="17" name="Text 14"/>
          <p:cNvSpPr/>
          <p:nvPr/>
        </p:nvSpPr>
        <p:spPr>
          <a:xfrm>
            <a:off x="6373368" y="2825496"/>
            <a:ext cx="2194560" cy="274320"/>
          </a:xfrm>
          <a:prstGeom prst="rect">
            <a:avLst/>
          </a:prstGeom>
          <a:noFill/>
          <a:ln/>
        </p:spPr>
        <p:txBody>
          <a:bodyPr wrap="square" lIns="0" tIns="0" rIns="0" bIns="0" rtlCol="0" anchor="ctr"/>
          <a:lstStyle/>
          <a:p>
            <a:pPr indent="0" marL="0">
              <a:buNone/>
            </a:pPr>
            <a:r>
              <a:rPr lang="en-US" sz="1600" dirty="0">
                <a:solidFill>
                  <a:srgbClr val="65708B"/>
                </a:solidFill>
                <a:latin typeface="DM Sans" pitchFamily="34" charset="0"/>
                <a:ea typeface="DM Sans" pitchFamily="34" charset="-122"/>
                <a:cs typeface="DM Sans" pitchFamily="34" charset="-120"/>
              </a:rPr>
              <a:t>Finalizes offline</a:t>
            </a:r>
            <a:endParaRPr lang="en-US" sz="1600" dirty="0"/>
          </a:p>
        </p:txBody>
      </p:sp>
      <p:sp>
        <p:nvSpPr>
          <p:cNvPr id="18" name="Text 15"/>
          <p:cNvSpPr/>
          <p:nvPr/>
        </p:nvSpPr>
        <p:spPr>
          <a:xfrm>
            <a:off x="8691372" y="2560320"/>
            <a:ext cx="320040" cy="365760"/>
          </a:xfrm>
          <a:prstGeom prst="rect">
            <a:avLst/>
          </a:prstGeom>
          <a:noFill/>
          <a:ln/>
        </p:spPr>
        <p:txBody>
          <a:bodyPr wrap="square" lIns="0" tIns="0" rIns="0" bIns="0" rtlCol="0" anchor="ctr"/>
          <a:lstStyle/>
          <a:p>
            <a:pPr algn="ctr" indent="0" marL="0">
              <a:buNone/>
            </a:pPr>
            <a:r>
              <a:rPr lang="en-US" sz="2000" dirty="0">
                <a:solidFill>
                  <a:srgbClr val="2338FF"/>
                </a:solidFill>
                <a:latin typeface="DM Sans" pitchFamily="34" charset="0"/>
                <a:ea typeface="DM Sans" pitchFamily="34" charset="-122"/>
                <a:cs typeface="DM Sans" pitchFamily="34" charset="-120"/>
              </a:rPr>
              <a:t>→</a:t>
            </a:r>
            <a:endParaRPr lang="en-US" sz="2000" dirty="0"/>
          </a:p>
        </p:txBody>
      </p:sp>
      <p:sp>
        <p:nvSpPr>
          <p:cNvPr id="19" name="Shape 16"/>
          <p:cNvSpPr/>
          <p:nvPr/>
        </p:nvSpPr>
        <p:spPr>
          <a:xfrm>
            <a:off x="8970264" y="2286000"/>
            <a:ext cx="2523744" cy="1005840"/>
          </a:xfrm>
          <a:prstGeom prst="rect">
            <a:avLst/>
          </a:prstGeom>
          <a:solidFill>
            <a:srgbClr val="2338FF"/>
          </a:solidFill>
          <a:ln w="12700">
            <a:solidFill>
              <a:srgbClr val="2338FF">
                <a:alpha val="0"/>
              </a:srgbClr>
            </a:solidFill>
            <a:prstDash val="solid"/>
          </a:ln>
        </p:spPr>
      </p:sp>
      <p:sp>
        <p:nvSpPr>
          <p:cNvPr id="20" name="Text 17"/>
          <p:cNvSpPr/>
          <p:nvPr/>
        </p:nvSpPr>
        <p:spPr>
          <a:xfrm>
            <a:off x="9134856" y="2468880"/>
            <a:ext cx="2194560" cy="228600"/>
          </a:xfrm>
          <a:prstGeom prst="rect">
            <a:avLst/>
          </a:prstGeom>
          <a:noFill/>
          <a:ln/>
        </p:spPr>
        <p:txBody>
          <a:bodyPr wrap="square" lIns="0" tIns="0" rIns="0" bIns="0" rtlCol="0" anchor="ctr"/>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D / cp 102</a:t>
            </a:r>
            <a:endParaRPr lang="en-US" sz="1400" dirty="0"/>
          </a:p>
        </p:txBody>
      </p:sp>
      <p:sp>
        <p:nvSpPr>
          <p:cNvPr id="21" name="Text 18"/>
          <p:cNvSpPr/>
          <p:nvPr/>
        </p:nvSpPr>
        <p:spPr>
          <a:xfrm>
            <a:off x="9134856" y="2825496"/>
            <a:ext cx="2194560" cy="274320"/>
          </a:xfrm>
          <a:prstGeom prst="rect">
            <a:avLst/>
          </a:prstGeom>
          <a:noFill/>
          <a:ln/>
        </p:spPr>
        <p:txBody>
          <a:bodyPr wrap="square" lIns="0" tIns="0" rIns="0" bIns="0" rtlCol="0" anchor="ctr"/>
          <a:lstStyle/>
          <a:p>
            <a:pPr indent="0" marL="0">
              <a:buNone/>
            </a:pPr>
            <a:r>
              <a:rPr lang="en-US" sz="1600" dirty="0">
                <a:solidFill>
                  <a:srgbClr val="B7C3E2"/>
                </a:solidFill>
                <a:latin typeface="DM Sans" pitchFamily="34" charset="0"/>
                <a:ea typeface="DM Sans" pitchFamily="34" charset="-122"/>
                <a:cs typeface="DM Sans" pitchFamily="34" charset="-120"/>
              </a:rPr>
              <a:t>Continues live</a:t>
            </a:r>
            <a:endParaRPr lang="en-US" sz="1600" dirty="0"/>
          </a:p>
        </p:txBody>
      </p:sp>
      <p:sp>
        <p:nvSpPr>
          <p:cNvPr id="22" name="Shape 19"/>
          <p:cNvSpPr/>
          <p:nvPr/>
        </p:nvSpPr>
        <p:spPr>
          <a:xfrm>
            <a:off x="3447288" y="3511296"/>
            <a:ext cx="5285232" cy="457200"/>
          </a:xfrm>
          <a:prstGeom prst="rect">
            <a:avLst/>
          </a:prstGeom>
          <a:solidFill>
            <a:srgbClr val="FFF0DA"/>
          </a:solidFill>
          <a:ln w="12700">
            <a:solidFill>
              <a:srgbClr val="FFF0DA">
                <a:alpha val="0"/>
              </a:srgbClr>
            </a:solidFill>
            <a:prstDash val="solid"/>
          </a:ln>
        </p:spPr>
      </p:sp>
      <p:sp>
        <p:nvSpPr>
          <p:cNvPr id="23" name="Text 20"/>
          <p:cNvSpPr/>
          <p:nvPr/>
        </p:nvSpPr>
        <p:spPr>
          <a:xfrm>
            <a:off x="3447288" y="3584448"/>
            <a:ext cx="5285232" cy="274320"/>
          </a:xfrm>
          <a:prstGeom prst="rect">
            <a:avLst/>
          </a:prstGeom>
          <a:noFill/>
          <a:ln/>
        </p:spPr>
        <p:txBody>
          <a:bodyPr wrap="square" lIns="0" tIns="0" rIns="0" bIns="0" rtlCol="0" anchor="ctr"/>
          <a:lstStyle/>
          <a:p>
            <a:pPr algn="ctr" indent="0" marL="0">
              <a:buNone/>
            </a:pPr>
            <a:r>
              <a:rPr lang="en-US" sz="1500" dirty="0">
                <a:solidFill>
                  <a:srgbClr val="89551C"/>
                </a:solidFill>
                <a:latin typeface="DM Sans" pitchFamily="34" charset="0"/>
                <a:ea typeface="DM Sans" pitchFamily="34" charset="-122"/>
                <a:cs typeface="DM Sans" pitchFamily="34" charset="-120"/>
              </a:rPr>
              <a:t>LISTENER OFFLINE</a:t>
            </a:r>
            <a:endParaRPr lang="en-US" sz="1500" dirty="0"/>
          </a:p>
        </p:txBody>
      </p:sp>
      <p:sp>
        <p:nvSpPr>
          <p:cNvPr id="24" name="Text 21"/>
          <p:cNvSpPr/>
          <p:nvPr/>
        </p:nvSpPr>
        <p:spPr>
          <a:xfrm>
            <a:off x="685800" y="4361688"/>
            <a:ext cx="2286000" cy="41148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Saved cA</a:t>
            </a:r>
            <a:endParaRPr lang="en-US" sz="2300" dirty="0"/>
          </a:p>
        </p:txBody>
      </p:sp>
      <p:sp>
        <p:nvSpPr>
          <p:cNvPr id="25" name="Text 22"/>
          <p:cNvSpPr/>
          <p:nvPr/>
        </p:nvSpPr>
        <p:spPr>
          <a:xfrm>
            <a:off x="3447288" y="4361688"/>
            <a:ext cx="5285232" cy="41148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Reconnect: after = cA</a:t>
            </a:r>
            <a:endParaRPr lang="en-US" sz="2300" dirty="0"/>
          </a:p>
        </p:txBody>
      </p:sp>
      <p:sp>
        <p:nvSpPr>
          <p:cNvPr id="26" name="Text 23"/>
          <p:cNvSpPr/>
          <p:nvPr/>
        </p:nvSpPr>
        <p:spPr>
          <a:xfrm>
            <a:off x="9144000" y="4361688"/>
            <a:ext cx="2377440" cy="411480"/>
          </a:xfrm>
          <a:prstGeom prst="rect">
            <a:avLst/>
          </a:prstGeom>
          <a:noFill/>
          <a:ln/>
        </p:spPr>
        <p:txBody>
          <a:bodyPr wrap="square" lIns="0" tIns="0" rIns="0" bIns="0" rtlCol="0" anchor="ctr"/>
          <a:lstStyle/>
          <a:p>
            <a:pPr indent="0" marL="0">
              <a:buNone/>
            </a:pPr>
            <a:r>
              <a:rPr lang="en-US" sz="2300" dirty="0">
                <a:solidFill>
                  <a:srgbClr val="2338FF"/>
                </a:solidFill>
                <a:latin typeface="DM Sans" pitchFamily="34" charset="0"/>
                <a:ea typeface="DM Sans" pitchFamily="34" charset="-122"/>
                <a:cs typeface="DM Sans" pitchFamily="34" charset="-120"/>
              </a:rPr>
              <a:t>B → C → D</a:t>
            </a:r>
            <a:endParaRPr lang="en-US" sz="2300" dirty="0"/>
          </a:p>
        </p:txBody>
      </p:sp>
      <p:sp>
        <p:nvSpPr>
          <p:cNvPr id="27" name="Text 24"/>
          <p:cNvSpPr/>
          <p:nvPr/>
        </p:nvSpPr>
        <p:spPr>
          <a:xfrm>
            <a:off x="685800" y="4846320"/>
            <a:ext cx="10789920" cy="329184"/>
          </a:xfrm>
          <a:prstGeom prst="rect">
            <a:avLst/>
          </a:prstGeom>
          <a:noFill/>
          <a:ln/>
        </p:spPr>
        <p:txBody>
          <a:bodyPr wrap="square" lIns="0" tIns="0" rIns="0" bIns="0" rtlCol="0" anchor="ctr"/>
          <a:lstStyle/>
          <a:p>
            <a:pPr indent="0" marL="0">
              <a:buNone/>
            </a:pPr>
            <a:r>
              <a:rPr lang="en-US" sz="1800" dirty="0">
                <a:solidFill>
                  <a:srgbClr val="131725"/>
                </a:solidFill>
                <a:latin typeface="DM Sans" pitchFamily="34" charset="0"/>
                <a:ea typeface="DM Sans" pitchFamily="34" charset="-122"/>
                <a:cs typeface="DM Sans" pitchFamily="34" charset="-120"/>
              </a:rPr>
              <a:t>No cursor yet? Save the opening checkpoint, then use filter.afterCheckpoint.</a:t>
            </a:r>
            <a:endParaRPr lang="en-US" sz="1800" dirty="0"/>
          </a:p>
        </p:txBody>
      </p:sp>
      <p:sp>
        <p:nvSpPr>
          <p:cNvPr id="28" name="Shape 25"/>
          <p:cNvSpPr/>
          <p:nvPr/>
        </p:nvSpPr>
        <p:spPr>
          <a:xfrm>
            <a:off x="685800" y="5266944"/>
            <a:ext cx="10817352" cy="548640"/>
          </a:xfrm>
          <a:prstGeom prst="rect">
            <a:avLst/>
          </a:prstGeom>
          <a:solidFill>
            <a:srgbClr val="E8ECFF"/>
          </a:solidFill>
          <a:ln w="12700">
            <a:solidFill>
              <a:srgbClr val="E8ECFF">
                <a:alpha val="0"/>
              </a:srgbClr>
            </a:solidFill>
            <a:prstDash val="solid"/>
          </a:ln>
        </p:spPr>
      </p:sp>
      <p:sp>
        <p:nvSpPr>
          <p:cNvPr id="29" name="Text 26"/>
          <p:cNvSpPr/>
          <p:nvPr/>
        </p:nvSpPr>
        <p:spPr>
          <a:xfrm>
            <a:off x="832104" y="5349240"/>
            <a:ext cx="10524744" cy="182880"/>
          </a:xfrm>
          <a:prstGeom prst="rect">
            <a:avLst/>
          </a:prstGeom>
          <a:noFill/>
          <a:ln/>
        </p:spPr>
        <p:txBody>
          <a:bodyPr wrap="square" lIns="0" tIns="0" rIns="0" bIns="0" rtlCol="0" anchor="ctr"/>
          <a:lstStyle/>
          <a:p>
            <a:pPr indent="0" marL="0">
              <a:buNone/>
            </a:pPr>
            <a:r>
              <a:rPr lang="en-US" sz="900" dirty="0">
                <a:solidFill>
                  <a:srgbClr val="2338FF"/>
                </a:solidFill>
                <a:latin typeface="JetBrains Mono" pitchFamily="34" charset="0"/>
                <a:ea typeface="JetBrains Mono" pitchFamily="34" charset="-122"/>
                <a:cs typeface="JetBrains Mono" pitchFamily="34" charset="-120"/>
              </a:rPr>
              <a:t>NEW / v1.82.1 TESTNET 13 OCT</a:t>
            </a:r>
            <a:endParaRPr lang="en-US" sz="900" dirty="0"/>
          </a:p>
        </p:txBody>
      </p:sp>
      <p:sp>
        <p:nvSpPr>
          <p:cNvPr id="30" name="Text 27"/>
          <p:cNvSpPr/>
          <p:nvPr/>
        </p:nvSpPr>
        <p:spPr>
          <a:xfrm>
            <a:off x="832104" y="5532120"/>
            <a:ext cx="10524744" cy="219456"/>
          </a:xfrm>
          <a:prstGeom prst="rect">
            <a:avLst/>
          </a:prstGeom>
          <a:noFill/>
          <a:ln/>
        </p:spPr>
        <p:txBody>
          <a:bodyPr wrap="square" lIns="0" tIns="0" rIns="0" bIns="0" rtlCol="0" anchor="t"/>
          <a:lstStyle/>
          <a:p>
            <a:pPr indent="0" marL="0">
              <a:buNone/>
            </a:pPr>
            <a:r>
              <a:rPr lang="en-US" sz="1250" dirty="0">
                <a:solidFill>
                  <a:srgbClr val="131725"/>
                </a:solidFill>
                <a:latin typeface="DM Sans" pitchFamily="34" charset="0"/>
                <a:ea typeface="DM Sans" pitchFamily="34" charset="-122"/>
                <a:cs typeface="DM Sans" pitchFamily="34" charset="-120"/>
              </a:rPr>
              <a:t>Resuming with after / afterCheckpoint no longer replays checkpoints at or below the resume point (PR 28162).</a:t>
            </a:r>
            <a:endParaRPr lang="en-US" sz="1250" dirty="0"/>
          </a:p>
        </p:txBody>
      </p:sp>
      <p:sp>
        <p:nvSpPr>
          <p:cNvPr id="31" name="Shape 28"/>
          <p:cNvSpPr/>
          <p:nvPr/>
        </p:nvSpPr>
        <p:spPr>
          <a:xfrm>
            <a:off x="685800" y="5897880"/>
            <a:ext cx="10820400" cy="420624"/>
          </a:xfrm>
          <a:prstGeom prst="rect">
            <a:avLst/>
          </a:prstGeom>
          <a:solidFill>
            <a:srgbClr val="E8ECFF"/>
          </a:solidFill>
          <a:ln w="12700">
            <a:solidFill>
              <a:srgbClr val="E8ECFF">
                <a:alpha val="0"/>
              </a:srgbClr>
            </a:solidFill>
            <a:prstDash val="solid"/>
          </a:ln>
        </p:spPr>
      </p:sp>
      <p:sp>
        <p:nvSpPr>
          <p:cNvPr id="32" name="Text 29"/>
          <p:cNvSpPr/>
          <p:nvPr/>
        </p:nvSpPr>
        <p:spPr>
          <a:xfrm>
            <a:off x="832104" y="5952744"/>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Order: checkpoint → transaction position → event position. Persist before advancing.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[ 2 / BUILD TILL AND TRY TO BREAK IT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Lab: prove each part of the payment journey.</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09 / 11</a:t>
            </a:r>
            <a:endParaRPr lang="en-US" sz="900" dirty="0"/>
          </a:p>
        </p:txBody>
      </p:sp>
      <p:sp>
        <p:nvSpPr>
          <p:cNvPr id="7" name="Shape 4"/>
          <p:cNvSpPr/>
          <p:nvPr/>
        </p:nvSpPr>
        <p:spPr>
          <a:xfrm>
            <a:off x="685800" y="2084832"/>
            <a:ext cx="10817352" cy="530352"/>
          </a:xfrm>
          <a:prstGeom prst="rect">
            <a:avLst/>
          </a:prstGeom>
          <a:solidFill>
            <a:srgbClr val="2338FF"/>
          </a:solidFill>
          <a:ln w="12700">
            <a:solidFill>
              <a:srgbClr val="2338FF">
                <a:alpha val="0"/>
              </a:srgbClr>
            </a:solidFill>
            <a:prstDash val="solid"/>
          </a:ln>
        </p:spPr>
      </p:sp>
      <p:sp>
        <p:nvSpPr>
          <p:cNvPr id="8" name="Text 5"/>
          <p:cNvSpPr/>
          <p:nvPr/>
        </p:nvSpPr>
        <p:spPr>
          <a:xfrm>
            <a:off x="832104" y="2157984"/>
            <a:ext cx="2679192" cy="402336"/>
          </a:xfrm>
          <a:prstGeom prst="rect">
            <a:avLst/>
          </a:prstGeom>
          <a:noFill/>
          <a:ln/>
        </p:spPr>
        <p:txBody>
          <a:bodyPr wrap="square" lIns="0" tIns="0" rIns="0" bIns="0" rtlCol="0" anchor="ctr"/>
          <a:lstStyle/>
          <a:p>
            <a:pPr indent="0" marL="0">
              <a:buNone/>
            </a:pPr>
            <a:r>
              <a:rPr lang="en-US" sz="1700" dirty="0">
                <a:solidFill>
                  <a:srgbClr val="FFFFFF"/>
                </a:solidFill>
                <a:latin typeface="DM Sans" pitchFamily="34" charset="0"/>
                <a:ea typeface="DM Sans" pitchFamily="34" charset="-122"/>
                <a:cs typeface="DM Sans" pitchFamily="34" charset="-120"/>
              </a:rPr>
              <a:t>ACTION</a:t>
            </a:r>
            <a:endParaRPr lang="en-US" sz="1700" dirty="0"/>
          </a:p>
        </p:txBody>
      </p:sp>
      <p:sp>
        <p:nvSpPr>
          <p:cNvPr id="9" name="Text 6"/>
          <p:cNvSpPr/>
          <p:nvPr/>
        </p:nvSpPr>
        <p:spPr>
          <a:xfrm>
            <a:off x="3593592" y="2157984"/>
            <a:ext cx="3867912" cy="402336"/>
          </a:xfrm>
          <a:prstGeom prst="rect">
            <a:avLst/>
          </a:prstGeom>
          <a:noFill/>
          <a:ln/>
        </p:spPr>
        <p:txBody>
          <a:bodyPr wrap="square" lIns="0" tIns="0" rIns="0" bIns="0" rtlCol="0" anchor="ctr"/>
          <a:lstStyle/>
          <a:p>
            <a:pPr indent="0" marL="0">
              <a:buNone/>
            </a:pPr>
            <a:r>
              <a:rPr lang="en-US" sz="1700" dirty="0">
                <a:solidFill>
                  <a:srgbClr val="FFFFFF"/>
                </a:solidFill>
                <a:latin typeface="DM Sans" pitchFamily="34" charset="0"/>
                <a:ea typeface="DM Sans" pitchFamily="34" charset="-122"/>
                <a:cs typeface="DM Sans" pitchFamily="34" charset="-120"/>
              </a:rPr>
              <a:t>EXPECTED EVIDENCE</a:t>
            </a:r>
            <a:endParaRPr lang="en-US" sz="1700" dirty="0"/>
          </a:p>
        </p:txBody>
      </p:sp>
      <p:sp>
        <p:nvSpPr>
          <p:cNvPr id="10" name="Text 7"/>
          <p:cNvSpPr/>
          <p:nvPr/>
        </p:nvSpPr>
        <p:spPr>
          <a:xfrm>
            <a:off x="7644384" y="2157984"/>
            <a:ext cx="3675888" cy="402336"/>
          </a:xfrm>
          <a:prstGeom prst="rect">
            <a:avLst/>
          </a:prstGeom>
          <a:noFill/>
          <a:ln/>
        </p:spPr>
        <p:txBody>
          <a:bodyPr wrap="square" lIns="0" tIns="0" rIns="0" bIns="0" rtlCol="0" anchor="ctr"/>
          <a:lstStyle/>
          <a:p>
            <a:pPr indent="0" marL="0">
              <a:buNone/>
            </a:pPr>
            <a:r>
              <a:rPr lang="en-US" sz="1700" dirty="0">
                <a:solidFill>
                  <a:srgbClr val="FFFFFF"/>
                </a:solidFill>
                <a:latin typeface="DM Sans" pitchFamily="34" charset="0"/>
                <a:ea typeface="DM Sans" pitchFamily="34" charset="-122"/>
                <a:cs typeface="DM Sans" pitchFamily="34" charset="-120"/>
              </a:rPr>
              <a:t>PART OF THE STACK</a:t>
            </a:r>
            <a:endParaRPr lang="en-US" sz="1700" dirty="0"/>
          </a:p>
        </p:txBody>
      </p:sp>
      <p:sp>
        <p:nvSpPr>
          <p:cNvPr id="11" name="Shape 8"/>
          <p:cNvSpPr/>
          <p:nvPr/>
        </p:nvSpPr>
        <p:spPr>
          <a:xfrm>
            <a:off x="685800" y="2670048"/>
            <a:ext cx="10817352" cy="530352"/>
          </a:xfrm>
          <a:prstGeom prst="rect">
            <a:avLst/>
          </a:prstGeom>
          <a:solidFill>
            <a:srgbClr val="FFFFFF"/>
          </a:solidFill>
          <a:ln w="12700">
            <a:solidFill>
              <a:srgbClr val="FFFFFF">
                <a:alpha val="0"/>
              </a:srgbClr>
            </a:solidFill>
            <a:prstDash val="solid"/>
          </a:ln>
        </p:spPr>
      </p:sp>
      <p:sp>
        <p:nvSpPr>
          <p:cNvPr id="12" name="Text 9"/>
          <p:cNvSpPr/>
          <p:nvPr/>
        </p:nvSpPr>
        <p:spPr>
          <a:xfrm>
            <a:off x="832104" y="2743200"/>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Open + pay</a:t>
            </a:r>
            <a:endParaRPr lang="en-US" sz="1700" dirty="0"/>
          </a:p>
        </p:txBody>
      </p:sp>
      <p:sp>
        <p:nvSpPr>
          <p:cNvPr id="13" name="Text 10"/>
          <p:cNvSpPr/>
          <p:nvPr/>
        </p:nvSpPr>
        <p:spPr>
          <a:xfrm>
            <a:off x="3593592" y="2743200"/>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One receipt + chime; shop credit</a:t>
            </a:r>
            <a:endParaRPr lang="en-US" sz="1700" dirty="0"/>
          </a:p>
        </p:txBody>
      </p:sp>
      <p:sp>
        <p:nvSpPr>
          <p:cNvPr id="14" name="Text 11"/>
          <p:cNvSpPr/>
          <p:nvPr/>
        </p:nvSpPr>
        <p:spPr>
          <a:xfrm>
            <a:off x="7644384" y="2743200"/>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gRPC execution + GraphQL feed</a:t>
            </a:r>
            <a:endParaRPr lang="en-US" sz="1700" dirty="0"/>
          </a:p>
        </p:txBody>
      </p:sp>
      <p:sp>
        <p:nvSpPr>
          <p:cNvPr id="15" name="Shape 12"/>
          <p:cNvSpPr/>
          <p:nvPr/>
        </p:nvSpPr>
        <p:spPr>
          <a:xfrm>
            <a:off x="685800" y="3255264"/>
            <a:ext cx="10817352" cy="530352"/>
          </a:xfrm>
          <a:prstGeom prst="rect">
            <a:avLst/>
          </a:prstGeom>
          <a:solidFill>
            <a:srgbClr val="E8ECFF"/>
          </a:solidFill>
          <a:ln w="12700">
            <a:solidFill>
              <a:srgbClr val="E8ECFF">
                <a:alpha val="0"/>
              </a:srgbClr>
            </a:solidFill>
            <a:prstDash val="solid"/>
          </a:ln>
        </p:spPr>
      </p:sp>
      <p:sp>
        <p:nvSpPr>
          <p:cNvPr id="16" name="Text 13"/>
          <p:cNvSpPr/>
          <p:nvPr/>
        </p:nvSpPr>
        <p:spPr>
          <a:xfrm>
            <a:off x="832104" y="3328416"/>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Pause → pay → resume</a:t>
            </a:r>
            <a:endParaRPr lang="en-US" sz="1700" dirty="0"/>
          </a:p>
        </p:txBody>
      </p:sp>
      <p:sp>
        <p:nvSpPr>
          <p:cNvPr id="17" name="Text 14"/>
          <p:cNvSpPr/>
          <p:nvPr/>
        </p:nvSpPr>
        <p:spPr>
          <a:xfrm>
            <a:off x="3593592" y="3328416"/>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Missed digest appears</a:t>
            </a:r>
            <a:endParaRPr lang="en-US" sz="1700" dirty="0"/>
          </a:p>
        </p:txBody>
      </p:sp>
      <p:sp>
        <p:nvSpPr>
          <p:cNvPr id="18" name="Text 15"/>
          <p:cNvSpPr/>
          <p:nvPr/>
        </p:nvSpPr>
        <p:spPr>
          <a:xfrm>
            <a:off x="7644384" y="3328416"/>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Cursor backfill → live</a:t>
            </a:r>
            <a:endParaRPr lang="en-US" sz="1700" dirty="0"/>
          </a:p>
        </p:txBody>
      </p:sp>
      <p:sp>
        <p:nvSpPr>
          <p:cNvPr id="19" name="Shape 16"/>
          <p:cNvSpPr/>
          <p:nvPr/>
        </p:nvSpPr>
        <p:spPr>
          <a:xfrm>
            <a:off x="685800" y="3840480"/>
            <a:ext cx="10817352" cy="530352"/>
          </a:xfrm>
          <a:prstGeom prst="rect">
            <a:avLst/>
          </a:prstGeom>
          <a:solidFill>
            <a:srgbClr val="FFFFFF"/>
          </a:solidFill>
          <a:ln w="12700">
            <a:solidFill>
              <a:srgbClr val="FFFFFF">
                <a:alpha val="0"/>
              </a:srgbClr>
            </a:solidFill>
            <a:prstDash val="solid"/>
          </a:ln>
        </p:spPr>
      </p:sp>
      <p:sp>
        <p:nvSpPr>
          <p:cNvPr id="20" name="Text 17"/>
          <p:cNvSpPr/>
          <p:nvPr/>
        </p:nvSpPr>
        <p:spPr>
          <a:xfrm>
            <a:off x="832104" y="3913632"/>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Reload / restart writer</a:t>
            </a:r>
            <a:endParaRPr lang="en-US" sz="1700" dirty="0"/>
          </a:p>
        </p:txBody>
      </p:sp>
      <p:sp>
        <p:nvSpPr>
          <p:cNvPr id="21" name="Text 18"/>
          <p:cNvSpPr/>
          <p:nvPr/>
        </p:nvSpPr>
        <p:spPr>
          <a:xfrm>
            <a:off x="3593592" y="3913632"/>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Same receipt counted once</a:t>
            </a:r>
            <a:endParaRPr lang="en-US" sz="1700" dirty="0"/>
          </a:p>
        </p:txBody>
      </p:sp>
      <p:sp>
        <p:nvSpPr>
          <p:cNvPr id="22" name="Text 19"/>
          <p:cNvSpPr/>
          <p:nvPr/>
        </p:nvSpPr>
        <p:spPr>
          <a:xfrm>
            <a:off x="7644384" y="3913632"/>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Deduplication + durable cursor</a:t>
            </a:r>
            <a:endParaRPr lang="en-US" sz="1700" dirty="0"/>
          </a:p>
        </p:txBody>
      </p:sp>
      <p:sp>
        <p:nvSpPr>
          <p:cNvPr id="23" name="Shape 20"/>
          <p:cNvSpPr/>
          <p:nvPr/>
        </p:nvSpPr>
        <p:spPr>
          <a:xfrm>
            <a:off x="685800" y="4425696"/>
            <a:ext cx="10817352" cy="530352"/>
          </a:xfrm>
          <a:prstGeom prst="rect">
            <a:avLst/>
          </a:prstGeom>
          <a:solidFill>
            <a:srgbClr val="E8ECFF"/>
          </a:solidFill>
          <a:ln w="12700">
            <a:solidFill>
              <a:srgbClr val="E8ECFF">
                <a:alpha val="0"/>
              </a:srgbClr>
            </a:solidFill>
            <a:prstDash val="solid"/>
          </a:ln>
        </p:spPr>
      </p:sp>
      <p:sp>
        <p:nvSpPr>
          <p:cNvPr id="24" name="Text 21"/>
          <p:cNvSpPr/>
          <p:nvPr/>
        </p:nvSpPr>
        <p:spPr>
          <a:xfrm>
            <a:off x="832104" y="4498848"/>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pnpm totals</a:t>
            </a:r>
            <a:endParaRPr lang="en-US" sz="1700" dirty="0"/>
          </a:p>
        </p:txBody>
      </p:sp>
      <p:sp>
        <p:nvSpPr>
          <p:cNvPr id="25" name="Text 22"/>
          <p:cNvSpPr/>
          <p:nvPr/>
        </p:nvSpPr>
        <p:spPr>
          <a:xfrm>
            <a:off x="3593592" y="4498848"/>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DB total for the chosen UTC day</a:t>
            </a:r>
            <a:endParaRPr lang="en-US" sz="1700" dirty="0"/>
          </a:p>
        </p:txBody>
      </p:sp>
      <p:sp>
        <p:nvSpPr>
          <p:cNvPr id="26" name="Text 23"/>
          <p:cNvSpPr/>
          <p:nvPr/>
        </p:nvSpPr>
        <p:spPr>
          <a:xfrm>
            <a:off x="7644384" y="4498848"/>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SQLite writer + BigInt</a:t>
            </a:r>
            <a:endParaRPr lang="en-US" sz="1700" dirty="0"/>
          </a:p>
        </p:txBody>
      </p:sp>
      <p:sp>
        <p:nvSpPr>
          <p:cNvPr id="27" name="Shape 24"/>
          <p:cNvSpPr/>
          <p:nvPr/>
        </p:nvSpPr>
        <p:spPr>
          <a:xfrm>
            <a:off x="685800" y="5010912"/>
            <a:ext cx="10817352" cy="530352"/>
          </a:xfrm>
          <a:prstGeom prst="rect">
            <a:avLst/>
          </a:prstGeom>
          <a:solidFill>
            <a:srgbClr val="FFFFFF"/>
          </a:solidFill>
          <a:ln w="12700">
            <a:solidFill>
              <a:srgbClr val="FFFFFF">
                <a:alpha val="0"/>
              </a:srgbClr>
            </a:solidFill>
            <a:prstDash val="solid"/>
          </a:ln>
        </p:spPr>
      </p:sp>
      <p:sp>
        <p:nvSpPr>
          <p:cNvPr id="28" name="Text 25"/>
          <p:cNvSpPr/>
          <p:nvPr/>
        </p:nvSpPr>
        <p:spPr>
          <a:xfrm>
            <a:off x="832104" y="5084064"/>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Find old receipt</a:t>
            </a:r>
            <a:endParaRPr lang="en-US" sz="1700" dirty="0"/>
          </a:p>
        </p:txBody>
      </p:sp>
      <p:sp>
        <p:nvSpPr>
          <p:cNvPr id="29" name="Text 26"/>
          <p:cNvSpPr/>
          <p:nvPr/>
        </p:nvSpPr>
        <p:spPr>
          <a:xfrm>
            <a:off x="3593592" y="5084064"/>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Date + checkpoint + SUCCESS</a:t>
            </a:r>
            <a:endParaRPr lang="en-US" sz="1700" dirty="0"/>
          </a:p>
        </p:txBody>
      </p:sp>
      <p:sp>
        <p:nvSpPr>
          <p:cNvPr id="30" name="Text 27"/>
          <p:cNvSpPr/>
          <p:nvPr/>
        </p:nvSpPr>
        <p:spPr>
          <a:xfrm>
            <a:off x="7644384" y="5084064"/>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Archive-backed lookup</a:t>
            </a:r>
            <a:endParaRPr lang="en-US" sz="1700" dirty="0"/>
          </a:p>
        </p:txBody>
      </p:sp>
      <p:sp>
        <p:nvSpPr>
          <p:cNvPr id="31" name="Text 28"/>
          <p:cNvSpPr/>
          <p:nvPr/>
        </p:nvSpPr>
        <p:spPr>
          <a:xfrm>
            <a:off x="685800" y="5806440"/>
            <a:ext cx="5394960" cy="219456"/>
          </a:xfrm>
          <a:prstGeom prst="rect">
            <a:avLst/>
          </a:prstGeom>
          <a:noFill/>
          <a:ln/>
        </p:spPr>
        <p:txBody>
          <a:bodyPr wrap="square" lIns="0" tIns="0" rIns="0" bIns="0" rtlCol="0" anchor="ctr"/>
          <a:lstStyle/>
          <a:p>
            <a:pPr indent="0" marL="0">
              <a:buNone/>
            </a:pPr>
            <a:r>
              <a:rPr lang="en-US" sz="1000" dirty="0">
                <a:solidFill>
                  <a:srgbClr val="89551C"/>
                </a:solidFill>
                <a:latin typeface="JetBrains Mono" pitchFamily="34" charset="0"/>
                <a:ea typeface="JetBrains Mono" pitchFamily="34" charset="-122"/>
                <a:cs typeface="JetBrains Mono" pitchFamily="34" charset="-120"/>
              </a:rPr>
              <a:t>TESTNET / VERIFIED PAYMENT PATH: SUI / USDC RUN STILL PENDING</a:t>
            </a:r>
            <a:endParaRPr lang="en-US" sz="1000" dirty="0"/>
          </a:p>
        </p:txBody>
      </p:sp>
      <p:sp>
        <p:nvSpPr>
          <p:cNvPr id="32" name="Text 29">
            <a:hlinkClick r:id="rId1" tooltip=""/>
          </p:cNvPr>
          <p:cNvSpPr/>
          <p:nvPr/>
        </p:nvSpPr>
        <p:spPr>
          <a:xfrm>
            <a:off x="685800" y="6190488"/>
            <a:ext cx="5029200" cy="228600"/>
          </a:xfrm>
          <a:prstGeom prst="rect">
            <a:avLst/>
          </a:prstGeom>
          <a:noFill/>
          <a:ln/>
        </p:spPr>
        <p:txBody>
          <a:bodyPr wrap="square" lIns="0" tIns="0" rIns="0" bIns="0" rtlCol="0" anchor="ctr"/>
          <a:lstStyle/>
          <a:p>
            <a:pPr indent="0" marL="0">
              <a:buNone/>
            </a:pPr>
            <a:r>
              <a:rPr lang="en-US" sz="1400" u="sng" dirty="0">
                <a:solidFill>
                  <a:srgbClr val="2338FF"/>
                </a:solidFill>
                <a:latin typeface="DM Sans" pitchFamily="34" charset="0"/>
                <a:ea typeface="DM Sans" pitchFamily="34" charset="-122"/>
                <a:cs typeface="DM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day3-till.vercel.app</a:t>
            </a:r>
            <a:endParaRPr lang="en-US" sz="1400" dirty="0"/>
          </a:p>
        </p:txBody>
      </p:sp>
      <p:sp>
        <p:nvSpPr>
          <p:cNvPr id="33" name="Shape 30"/>
          <p:cNvSpPr/>
          <p:nvPr/>
        </p:nvSpPr>
        <p:spPr>
          <a:xfrm>
            <a:off x="6263640" y="5742432"/>
            <a:ext cx="5239512" cy="512064"/>
          </a:xfrm>
          <a:prstGeom prst="rect">
            <a:avLst/>
          </a:prstGeom>
          <a:solidFill>
            <a:srgbClr val="E8ECFF"/>
          </a:solidFill>
          <a:ln w="12700">
            <a:solidFill>
              <a:srgbClr val="E8ECFF">
                <a:alpha val="0"/>
              </a:srgbClr>
            </a:solidFill>
            <a:prstDash val="solid"/>
          </a:ln>
        </p:spPr>
      </p:sp>
      <p:sp>
        <p:nvSpPr>
          <p:cNvPr id="34" name="Text 31"/>
          <p:cNvSpPr/>
          <p:nvPr/>
        </p:nvSpPr>
        <p:spPr>
          <a:xfrm>
            <a:off x="6409944" y="5824728"/>
            <a:ext cx="4946904" cy="182880"/>
          </a:xfrm>
          <a:prstGeom prst="rect">
            <a:avLst/>
          </a:prstGeom>
          <a:noFill/>
          <a:ln/>
        </p:spPr>
        <p:txBody>
          <a:bodyPr wrap="square" lIns="0" tIns="0" rIns="0" bIns="0" rtlCol="0" anchor="ctr"/>
          <a:lstStyle/>
          <a:p>
            <a:pPr indent="0" marL="0">
              <a:buNone/>
            </a:pPr>
            <a:r>
              <a:rPr lang="en-US" sz="900" dirty="0">
                <a:solidFill>
                  <a:srgbClr val="2338FF"/>
                </a:solidFill>
                <a:latin typeface="JetBrains Mono" pitchFamily="34" charset="0"/>
                <a:ea typeface="JetBrains Mono" pitchFamily="34" charset="-122"/>
                <a:cs typeface="JetBrains Mono" pitchFamily="34" charset="-120"/>
              </a:rPr>
              <a:t>NEW / v1.82 CLI</a:t>
            </a:r>
            <a:endParaRPr lang="en-US" sz="900" dirty="0"/>
          </a:p>
        </p:txBody>
      </p:sp>
      <p:sp>
        <p:nvSpPr>
          <p:cNvPr id="35" name="Text 32"/>
          <p:cNvSpPr/>
          <p:nvPr/>
        </p:nvSpPr>
        <p:spPr>
          <a:xfrm>
            <a:off x="6409944" y="6007608"/>
            <a:ext cx="4946904" cy="182880"/>
          </a:xfrm>
          <a:prstGeom prst="rect">
            <a:avLst/>
          </a:prstGeom>
          <a:noFill/>
          <a:ln/>
        </p:spPr>
        <p:txBody>
          <a:bodyPr wrap="square" lIns="0" tIns="0" rIns="0" bIns="0" rtlCol="0" anchor="t"/>
          <a:lstStyle/>
          <a:p>
            <a:pPr indent="0" marL="0">
              <a:buNone/>
            </a:pPr>
            <a:r>
              <a:rPr lang="en-US" sz="1250" dirty="0">
                <a:solidFill>
                  <a:srgbClr val="131725"/>
                </a:solidFill>
                <a:latin typeface="DM Sans" pitchFamily="34" charset="0"/>
                <a:ea typeface="DM Sans" pitchFamily="34" charset="-122"/>
                <a:cs typeface="DM Sans" pitchFamily="34" charset="-120"/>
              </a:rPr>
              <a:t>sui client faucet now works on testnet (proof-of-work).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[ 3 / ONE REAL JSON-RPC MIGRATION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Migrate the client, then check the response.</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10 / 11</a:t>
            </a:r>
            <a:endParaRPr lang="en-US" sz="900" dirty="0"/>
          </a:p>
        </p:txBody>
      </p:sp>
      <p:sp>
        <p:nvSpPr>
          <p:cNvPr id="7" name="Text 4"/>
          <p:cNvSpPr/>
          <p:nvPr/>
        </p:nvSpPr>
        <p:spPr>
          <a:xfrm>
            <a:off x="685800" y="2057400"/>
            <a:ext cx="5266944" cy="228600"/>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BEFORE / migration/legacy-jsonrpc.ts</a:t>
            </a:r>
            <a:endParaRPr lang="en-US" sz="1000" dirty="0"/>
          </a:p>
        </p:txBody>
      </p:sp>
      <p:sp>
        <p:nvSpPr>
          <p:cNvPr id="8" name="Text 5"/>
          <p:cNvSpPr/>
          <p:nvPr/>
        </p:nvSpPr>
        <p:spPr>
          <a:xfrm>
            <a:off x="6217920" y="2057400"/>
            <a:ext cx="5266944" cy="228600"/>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AFTER / migration/migrated-grpc.ts</a:t>
            </a:r>
            <a:endParaRPr lang="en-US" sz="1000" dirty="0"/>
          </a:p>
        </p:txBody>
      </p:sp>
      <p:sp>
        <p:nvSpPr>
          <p:cNvPr id="9" name="Shape 6"/>
          <p:cNvSpPr/>
          <p:nvPr/>
        </p:nvSpPr>
        <p:spPr>
          <a:xfrm>
            <a:off x="685800" y="2532888"/>
            <a:ext cx="5285232" cy="2898648"/>
          </a:xfrm>
          <a:prstGeom prst="rect">
            <a:avLst/>
          </a:prstGeom>
          <a:solidFill>
            <a:srgbClr val="111529"/>
          </a:solidFill>
          <a:ln w="12700">
            <a:solidFill>
              <a:srgbClr val="111529">
                <a:alpha val="0"/>
              </a:srgbClr>
            </a:solidFill>
            <a:prstDash val="solid"/>
          </a:ln>
        </p:spPr>
      </p:sp>
      <p:sp>
        <p:nvSpPr>
          <p:cNvPr id="10" name="Text 7"/>
          <p:cNvSpPr/>
          <p:nvPr/>
        </p:nvSpPr>
        <p:spPr>
          <a:xfrm>
            <a:off x="886968" y="2715768"/>
            <a:ext cx="4882896" cy="2532888"/>
          </a:xfrm>
          <a:prstGeom prst="rect">
            <a:avLst/>
          </a:prstGeom>
          <a:noFill/>
          <a:ln/>
        </p:spPr>
        <p:txBody>
          <a:bodyPr wrap="square" lIns="0" tIns="0" rIns="0" bIns="0" rtlCol="0" anchor="t"/>
          <a:lstStyle/>
          <a:p>
            <a:pPr indent="0" marL="0">
              <a:buNone/>
            </a:pPr>
            <a:r>
              <a:rPr lang="en-US" sz="1370" dirty="0">
                <a:solidFill>
                  <a:srgbClr val="E1E7FF"/>
                </a:solidFill>
                <a:latin typeface="JetBrains Mono" pitchFamily="34" charset="0"/>
                <a:ea typeface="JetBrains Mono" pitchFamily="34" charset="-122"/>
                <a:cs typeface="JetBrains Mono" pitchFamily="34" charset="-120"/>
              </a:rPr>
              <a:t>import { SuiJsonRpcClient,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getJsonRpcFullnodeUrl</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from '@mysten/sui/jsonRpc';</a:t>
            </a:r>
            <a:endParaRPr lang="en-US" sz="1370" dirty="0"/>
          </a:p>
          <a:p>
            <a:pPr indent="0" marL="0">
              <a:buNone/>
            </a:pP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const client = new SuiJsonRpcClient({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url: getJsonRpcFullnodeUrl('testnet'),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network: 'testnet'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a:t>
            </a:r>
            <a:endParaRPr lang="en-US" sz="1370" dirty="0"/>
          </a:p>
          <a:p>
            <a:pPr indent="0" marL="0">
              <a:buNone/>
            </a:pP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client.getBalance({ owner: SHOP })</a:t>
            </a:r>
            <a:endParaRPr lang="en-US" sz="1370" dirty="0"/>
          </a:p>
        </p:txBody>
      </p:sp>
      <p:sp>
        <p:nvSpPr>
          <p:cNvPr id="11" name="Shape 8"/>
          <p:cNvSpPr/>
          <p:nvPr/>
        </p:nvSpPr>
        <p:spPr>
          <a:xfrm>
            <a:off x="6217920" y="2532888"/>
            <a:ext cx="5285232" cy="2898648"/>
          </a:xfrm>
          <a:prstGeom prst="rect">
            <a:avLst/>
          </a:prstGeom>
          <a:solidFill>
            <a:srgbClr val="111529"/>
          </a:solidFill>
          <a:ln w="12700">
            <a:solidFill>
              <a:srgbClr val="111529">
                <a:alpha val="0"/>
              </a:srgbClr>
            </a:solidFill>
            <a:prstDash val="solid"/>
          </a:ln>
        </p:spPr>
      </p:sp>
      <p:sp>
        <p:nvSpPr>
          <p:cNvPr id="12" name="Text 9"/>
          <p:cNvSpPr/>
          <p:nvPr/>
        </p:nvSpPr>
        <p:spPr>
          <a:xfrm>
            <a:off x="6419088" y="2715768"/>
            <a:ext cx="4882896" cy="2532888"/>
          </a:xfrm>
          <a:prstGeom prst="rect">
            <a:avLst/>
          </a:prstGeom>
          <a:noFill/>
          <a:ln/>
        </p:spPr>
        <p:txBody>
          <a:bodyPr wrap="square" lIns="0" tIns="0" rIns="0" bIns="0" rtlCol="0" anchor="t"/>
          <a:lstStyle/>
          <a:p>
            <a:pPr indent="0" marL="0">
              <a:buNone/>
            </a:pPr>
            <a:r>
              <a:rPr lang="en-US" sz="1370" dirty="0">
                <a:solidFill>
                  <a:srgbClr val="E1E7FF"/>
                </a:solidFill>
                <a:latin typeface="JetBrains Mono" pitchFamily="34" charset="0"/>
                <a:ea typeface="JetBrains Mono" pitchFamily="34" charset="-122"/>
                <a:cs typeface="JetBrains Mono" pitchFamily="34" charset="-120"/>
              </a:rPr>
              <a:t>import { SuiGrpcClient }</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from '@mysten/sui/grpc';</a:t>
            </a:r>
            <a:endParaRPr lang="en-US" sz="1370" dirty="0"/>
          </a:p>
          <a:p>
            <a:pPr indent="0" marL="0">
              <a:buNone/>
            </a:pP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const client = new SuiGrpcClient({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network: 'testnet',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baseUrl:</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'https://fullnode.testnet.sui.io:443'</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a:t>
            </a:r>
            <a:endParaRPr lang="en-US" sz="1370" dirty="0"/>
          </a:p>
          <a:p>
            <a:pPr indent="0" marL="0">
              <a:buNone/>
            </a:pP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const { balance } =</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await client.getBalance({ owner: SHOP });</a:t>
            </a:r>
            <a:endParaRPr lang="en-US" sz="1370" dirty="0"/>
          </a:p>
        </p:txBody>
      </p:sp>
      <p:sp>
        <p:nvSpPr>
          <p:cNvPr id="13" name="Shape 10"/>
          <p:cNvSpPr/>
          <p:nvPr/>
        </p:nvSpPr>
        <p:spPr>
          <a:xfrm>
            <a:off x="685800" y="5596128"/>
            <a:ext cx="10817352" cy="566928"/>
          </a:xfrm>
          <a:prstGeom prst="rect">
            <a:avLst/>
          </a:prstGeom>
          <a:solidFill>
            <a:srgbClr val="E8ECFF"/>
          </a:solidFill>
          <a:ln w="12700">
            <a:solidFill>
              <a:srgbClr val="E8ECFF">
                <a:alpha val="0"/>
              </a:srgbClr>
            </a:solidFill>
            <a:prstDash val="solid"/>
          </a:ln>
        </p:spPr>
      </p:sp>
      <p:sp>
        <p:nvSpPr>
          <p:cNvPr id="14" name="Text 11"/>
          <p:cNvSpPr/>
          <p:nvPr/>
        </p:nvSpPr>
        <p:spPr>
          <a:xfrm>
            <a:off x="832104" y="5678424"/>
            <a:ext cx="10524744" cy="182880"/>
          </a:xfrm>
          <a:prstGeom prst="rect">
            <a:avLst/>
          </a:prstGeom>
          <a:noFill/>
          <a:ln/>
        </p:spPr>
        <p:txBody>
          <a:bodyPr wrap="square" lIns="0" tIns="0" rIns="0" bIns="0" rtlCol="0" anchor="ctr"/>
          <a:lstStyle/>
          <a:p>
            <a:pPr indent="0" marL="0">
              <a:buNone/>
            </a:pPr>
            <a:r>
              <a:rPr lang="en-US" sz="900" dirty="0">
                <a:solidFill>
                  <a:srgbClr val="2338FF"/>
                </a:solidFill>
                <a:latin typeface="JetBrains Mono" pitchFamily="34" charset="0"/>
                <a:ea typeface="JetBrains Mono" pitchFamily="34" charset="-122"/>
                <a:cs typeface="JetBrains Mono" pitchFamily="34" charset="-120"/>
              </a:rPr>
              <a:t>WHY IT MATTERS NOW</a:t>
            </a:r>
            <a:endParaRPr lang="en-US" sz="900" dirty="0"/>
          </a:p>
        </p:txBody>
      </p:sp>
      <p:sp>
        <p:nvSpPr>
          <p:cNvPr id="15" name="Text 12"/>
          <p:cNvSpPr/>
          <p:nvPr/>
        </p:nvSpPr>
        <p:spPr>
          <a:xfrm>
            <a:off x="832104" y="5861304"/>
            <a:ext cx="10524744" cy="237744"/>
          </a:xfrm>
          <a:prstGeom prst="rect">
            <a:avLst/>
          </a:prstGeom>
          <a:noFill/>
          <a:ln/>
        </p:spPr>
        <p:txBody>
          <a:bodyPr wrap="square" lIns="0" tIns="0" rIns="0" bIns="0" rtlCol="0" anchor="t"/>
          <a:lstStyle/>
          <a:p>
            <a:pPr indent="0" marL="0">
              <a:buNone/>
            </a:pPr>
            <a:r>
              <a:rPr lang="en-US" sz="1250" dirty="0">
                <a:solidFill>
                  <a:srgbClr val="131725"/>
                </a:solidFill>
                <a:latin typeface="DM Sans" pitchFamily="34" charset="0"/>
                <a:ea typeface="DM Sans" pitchFamily="34" charset="-122"/>
                <a:cs typeface="DM Sans" pitchFamily="34" charset="-120"/>
              </a:rPr>
              <a:t>v1.82 removed JSON-RPC from full nodes, and legacy @mysten/dapp-kit is JSON-RPC only. Move to @mysten/dapp-kit-react + SuiGrpcClient.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B7C3E2"/>
                </a:solidFill>
                <a:latin typeface="JetBrains Mono" pitchFamily="34" charset="0"/>
                <a:ea typeface="JetBrains Mono" pitchFamily="34" charset="-122"/>
                <a:cs typeface="JetBrains Mono" pitchFamily="34" charset="-120"/>
              </a:rPr>
              <a:t>[ 3 / THE ROOM’S MIGRATION WORKSHOP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FFFFFF"/>
                </a:solidFill>
                <a:latin typeface="DM Sans" pitchFamily="34" charset="0"/>
                <a:ea typeface="DM Sans" pitchFamily="34" charset="-122"/>
                <a:cs typeface="DM Sans" pitchFamily="34" charset="-120"/>
              </a:rPr>
              <a:t>Your app: replace one call and prove it works.</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B7C3E2"/>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B7C3E2"/>
                </a:solidFill>
                <a:latin typeface="JetBrains Mono" pitchFamily="34" charset="0"/>
                <a:ea typeface="JetBrains Mono" pitchFamily="34" charset="-122"/>
                <a:cs typeface="JetBrains Mono" pitchFamily="34" charset="-120"/>
              </a:rPr>
              <a:t>11 / 11</a:t>
            </a:r>
            <a:endParaRPr lang="en-US" sz="900" dirty="0"/>
          </a:p>
        </p:txBody>
      </p:sp>
      <p:sp>
        <p:nvSpPr>
          <p:cNvPr id="7" name="Text 4"/>
          <p:cNvSpPr/>
          <p:nvPr/>
        </p:nvSpPr>
        <p:spPr>
          <a:xfrm>
            <a:off x="685800" y="2167128"/>
            <a:ext cx="502920" cy="274320"/>
          </a:xfrm>
          <a:prstGeom prst="rect">
            <a:avLst/>
          </a:prstGeom>
          <a:noFill/>
          <a:ln/>
        </p:spPr>
        <p:txBody>
          <a:bodyPr wrap="square" lIns="0" tIns="0" rIns="0" bIns="0" rtlCol="0" anchor="ctr"/>
          <a:lstStyle/>
          <a:p>
            <a:pPr indent="0" marL="0">
              <a:buNone/>
            </a:pPr>
            <a:r>
              <a:rPr lang="en-US" sz="1800" dirty="0">
                <a:solidFill>
                  <a:srgbClr val="B7C3E2"/>
                </a:solidFill>
                <a:latin typeface="JetBrains Mono" pitchFamily="34" charset="0"/>
                <a:ea typeface="JetBrains Mono" pitchFamily="34" charset="-122"/>
                <a:cs typeface="JetBrains Mono" pitchFamily="34" charset="-120"/>
              </a:rPr>
              <a:t>01</a:t>
            </a:r>
            <a:endParaRPr lang="en-US" sz="1800" dirty="0"/>
          </a:p>
        </p:txBody>
      </p:sp>
      <p:sp>
        <p:nvSpPr>
          <p:cNvPr id="8" name="Text 5"/>
          <p:cNvSpPr/>
          <p:nvPr/>
        </p:nvSpPr>
        <p:spPr>
          <a:xfrm>
            <a:off x="1463040" y="2057400"/>
            <a:ext cx="4297680" cy="548640"/>
          </a:xfrm>
          <a:prstGeom prst="rect">
            <a:avLst/>
          </a:prstGeom>
          <a:noFill/>
          <a:ln/>
        </p:spPr>
        <p:txBody>
          <a:bodyPr wrap="square" lIns="0" tIns="0" rIns="0" bIns="0" rtlCol="0" anchor="ctr"/>
          <a:lstStyle/>
          <a:p>
            <a:pPr indent="0" marL="0">
              <a:buNone/>
            </a:pPr>
            <a:r>
              <a:rPr lang="en-US" sz="2700" dirty="0">
                <a:solidFill>
                  <a:srgbClr val="FFFFFF"/>
                </a:solidFill>
                <a:latin typeface="DM Sans" pitchFamily="34" charset="0"/>
                <a:ea typeface="DM Sans" pitchFamily="34" charset="-122"/>
                <a:cs typeface="DM Sans" pitchFamily="34" charset="-120"/>
              </a:rPr>
              <a:t>Find one call</a:t>
            </a:r>
            <a:endParaRPr lang="en-US" sz="2700" dirty="0"/>
          </a:p>
        </p:txBody>
      </p:sp>
      <p:sp>
        <p:nvSpPr>
          <p:cNvPr id="9" name="Text 6"/>
          <p:cNvSpPr/>
          <p:nvPr/>
        </p:nvSpPr>
        <p:spPr>
          <a:xfrm>
            <a:off x="6035040" y="2103120"/>
            <a:ext cx="5440680" cy="502920"/>
          </a:xfrm>
          <a:prstGeom prst="rect">
            <a:avLst/>
          </a:prstGeom>
          <a:noFill/>
          <a:ln/>
        </p:spPr>
        <p:txBody>
          <a:bodyPr wrap="square" lIns="0" tIns="0" rIns="0" bIns="0" rtlCol="0" anchor="ctr"/>
          <a:lstStyle/>
          <a:p>
            <a:pPr indent="0" marL="0">
              <a:buNone/>
            </a:pPr>
            <a:r>
              <a:rPr lang="en-US" sz="2100" dirty="0">
                <a:solidFill>
                  <a:srgbClr val="B7C3E2"/>
                </a:solidFill>
                <a:latin typeface="DM Sans" pitchFamily="34" charset="0"/>
                <a:ea typeface="DM Sans" pitchFamily="34" charset="-122"/>
                <a:cs typeface="DM Sans" pitchFamily="34" charset="-120"/>
              </a:rPr>
              <a:t>What does its screen need?</a:t>
            </a:r>
            <a:endParaRPr lang="en-US" sz="2100" dirty="0"/>
          </a:p>
        </p:txBody>
      </p:sp>
      <p:sp>
        <p:nvSpPr>
          <p:cNvPr id="10" name="Text 7"/>
          <p:cNvSpPr/>
          <p:nvPr/>
        </p:nvSpPr>
        <p:spPr>
          <a:xfrm>
            <a:off x="685800" y="3099816"/>
            <a:ext cx="502920" cy="274320"/>
          </a:xfrm>
          <a:prstGeom prst="rect">
            <a:avLst/>
          </a:prstGeom>
          <a:noFill/>
          <a:ln/>
        </p:spPr>
        <p:txBody>
          <a:bodyPr wrap="square" lIns="0" tIns="0" rIns="0" bIns="0" rtlCol="0" anchor="ctr"/>
          <a:lstStyle/>
          <a:p>
            <a:pPr indent="0" marL="0">
              <a:buNone/>
            </a:pPr>
            <a:r>
              <a:rPr lang="en-US" sz="1800" dirty="0">
                <a:solidFill>
                  <a:srgbClr val="B7C3E2"/>
                </a:solidFill>
                <a:latin typeface="JetBrains Mono" pitchFamily="34" charset="0"/>
                <a:ea typeface="JetBrains Mono" pitchFamily="34" charset="-122"/>
                <a:cs typeface="JetBrains Mono" pitchFamily="34" charset="-120"/>
              </a:rPr>
              <a:t>02</a:t>
            </a:r>
            <a:endParaRPr lang="en-US" sz="1800" dirty="0"/>
          </a:p>
        </p:txBody>
      </p:sp>
      <p:sp>
        <p:nvSpPr>
          <p:cNvPr id="11" name="Text 8"/>
          <p:cNvSpPr/>
          <p:nvPr/>
        </p:nvSpPr>
        <p:spPr>
          <a:xfrm>
            <a:off x="1463040" y="2990088"/>
            <a:ext cx="4297680" cy="548640"/>
          </a:xfrm>
          <a:prstGeom prst="rect">
            <a:avLst/>
          </a:prstGeom>
          <a:noFill/>
          <a:ln/>
        </p:spPr>
        <p:txBody>
          <a:bodyPr wrap="square" lIns="0" tIns="0" rIns="0" bIns="0" rtlCol="0" anchor="ctr"/>
          <a:lstStyle/>
          <a:p>
            <a:pPr indent="0" marL="0">
              <a:buNone/>
            </a:pPr>
            <a:r>
              <a:rPr lang="en-US" sz="2700" dirty="0">
                <a:solidFill>
                  <a:srgbClr val="FFFFFF"/>
                </a:solidFill>
                <a:latin typeface="DM Sans" pitchFamily="34" charset="0"/>
                <a:ea typeface="DM Sans" pitchFamily="34" charset="-122"/>
                <a:cs typeface="DM Sans" pitchFamily="34" charset="-120"/>
              </a:rPr>
              <a:t>Choose + replace</a:t>
            </a:r>
            <a:endParaRPr lang="en-US" sz="2700" dirty="0"/>
          </a:p>
        </p:txBody>
      </p:sp>
      <p:sp>
        <p:nvSpPr>
          <p:cNvPr id="12" name="Text 9"/>
          <p:cNvSpPr/>
          <p:nvPr/>
        </p:nvSpPr>
        <p:spPr>
          <a:xfrm>
            <a:off x="6035040" y="3035808"/>
            <a:ext cx="5440680" cy="502920"/>
          </a:xfrm>
          <a:prstGeom prst="rect">
            <a:avLst/>
          </a:prstGeom>
          <a:noFill/>
          <a:ln/>
        </p:spPr>
        <p:txBody>
          <a:bodyPr wrap="square" lIns="0" tIns="0" rIns="0" bIns="0" rtlCol="0" anchor="ctr"/>
          <a:lstStyle/>
          <a:p>
            <a:pPr indent="0" marL="0">
              <a:buNone/>
            </a:pPr>
            <a:r>
              <a:rPr lang="en-US" sz="2100" dirty="0">
                <a:solidFill>
                  <a:srgbClr val="B7C3E2"/>
                </a:solidFill>
                <a:latin typeface="DM Sans" pitchFamily="34" charset="0"/>
                <a:ea typeface="DM Sans" pitchFamily="34" charset="-122"/>
                <a:cs typeface="DM Sans" pitchFamily="34" charset="-120"/>
              </a:rPr>
              <a:t>gRPC, GraphQL or a subscription</a:t>
            </a:r>
            <a:endParaRPr lang="en-US" sz="2100" dirty="0"/>
          </a:p>
        </p:txBody>
      </p:sp>
      <p:sp>
        <p:nvSpPr>
          <p:cNvPr id="13" name="Text 10"/>
          <p:cNvSpPr/>
          <p:nvPr/>
        </p:nvSpPr>
        <p:spPr>
          <a:xfrm>
            <a:off x="685800" y="4032504"/>
            <a:ext cx="502920" cy="274320"/>
          </a:xfrm>
          <a:prstGeom prst="rect">
            <a:avLst/>
          </a:prstGeom>
          <a:noFill/>
          <a:ln/>
        </p:spPr>
        <p:txBody>
          <a:bodyPr wrap="square" lIns="0" tIns="0" rIns="0" bIns="0" rtlCol="0" anchor="ctr"/>
          <a:lstStyle/>
          <a:p>
            <a:pPr indent="0" marL="0">
              <a:buNone/>
            </a:pPr>
            <a:r>
              <a:rPr lang="en-US" sz="1800" dirty="0">
                <a:solidFill>
                  <a:srgbClr val="B7C3E2"/>
                </a:solidFill>
                <a:latin typeface="JetBrains Mono" pitchFamily="34" charset="0"/>
                <a:ea typeface="JetBrains Mono" pitchFamily="34" charset="-122"/>
                <a:cs typeface="JetBrains Mono" pitchFamily="34" charset="-120"/>
              </a:rPr>
              <a:t>03</a:t>
            </a:r>
            <a:endParaRPr lang="en-US" sz="1800" dirty="0"/>
          </a:p>
        </p:txBody>
      </p:sp>
      <p:sp>
        <p:nvSpPr>
          <p:cNvPr id="14" name="Text 11"/>
          <p:cNvSpPr/>
          <p:nvPr/>
        </p:nvSpPr>
        <p:spPr>
          <a:xfrm>
            <a:off x="1463040" y="3922776"/>
            <a:ext cx="4297680" cy="548640"/>
          </a:xfrm>
          <a:prstGeom prst="rect">
            <a:avLst/>
          </a:prstGeom>
          <a:noFill/>
          <a:ln/>
        </p:spPr>
        <p:txBody>
          <a:bodyPr wrap="square" lIns="0" tIns="0" rIns="0" bIns="0" rtlCol="0" anchor="ctr"/>
          <a:lstStyle/>
          <a:p>
            <a:pPr indent="0" marL="0">
              <a:buNone/>
            </a:pPr>
            <a:r>
              <a:rPr lang="en-US" sz="2700" dirty="0">
                <a:solidFill>
                  <a:srgbClr val="FFFFFF"/>
                </a:solidFill>
                <a:latin typeface="DM Sans" pitchFamily="34" charset="0"/>
                <a:ea typeface="DM Sans" pitchFamily="34" charset="-122"/>
                <a:cs typeface="DM Sans" pitchFamily="34" charset="-120"/>
              </a:rPr>
              <a:t>Verify the behaviour</a:t>
            </a:r>
            <a:endParaRPr lang="en-US" sz="2700" dirty="0"/>
          </a:p>
        </p:txBody>
      </p:sp>
      <p:sp>
        <p:nvSpPr>
          <p:cNvPr id="15" name="Text 12"/>
          <p:cNvSpPr/>
          <p:nvPr/>
        </p:nvSpPr>
        <p:spPr>
          <a:xfrm>
            <a:off x="6035040" y="3968496"/>
            <a:ext cx="5440680" cy="502920"/>
          </a:xfrm>
          <a:prstGeom prst="rect">
            <a:avLst/>
          </a:prstGeom>
          <a:noFill/>
          <a:ln/>
        </p:spPr>
        <p:txBody>
          <a:bodyPr wrap="square" lIns="0" tIns="0" rIns="0" bIns="0" rtlCol="0" anchor="ctr"/>
          <a:lstStyle/>
          <a:p>
            <a:pPr indent="0" marL="0">
              <a:buNone/>
            </a:pPr>
            <a:r>
              <a:rPr lang="en-US" sz="2100" dirty="0">
                <a:solidFill>
                  <a:srgbClr val="B7C3E2"/>
                </a:solidFill>
                <a:latin typeface="DM Sans" pitchFamily="34" charset="0"/>
                <a:ea typeface="DM Sans" pitchFamily="34" charset="-122"/>
                <a:cs typeface="DM Sans" pitchFamily="34" charset="-120"/>
              </a:rPr>
              <a:t>Known data + one failure case</a:t>
            </a:r>
            <a:endParaRPr lang="en-US" sz="2100" dirty="0"/>
          </a:p>
        </p:txBody>
      </p:sp>
      <p:sp>
        <p:nvSpPr>
          <p:cNvPr id="16" name="Shape 13"/>
          <p:cNvSpPr/>
          <p:nvPr/>
        </p:nvSpPr>
        <p:spPr>
          <a:xfrm>
            <a:off x="685800" y="4553712"/>
            <a:ext cx="10817352" cy="548640"/>
          </a:xfrm>
          <a:prstGeom prst="rect">
            <a:avLst/>
          </a:prstGeom>
          <a:solidFill>
            <a:srgbClr val="1A2350"/>
          </a:solidFill>
          <a:ln w="12700">
            <a:solidFill>
              <a:srgbClr val="1A2350">
                <a:alpha val="0"/>
              </a:srgbClr>
            </a:solidFill>
            <a:prstDash val="solid"/>
          </a:ln>
        </p:spPr>
      </p:sp>
      <p:sp>
        <p:nvSpPr>
          <p:cNvPr id="17" name="Text 14"/>
          <p:cNvSpPr/>
          <p:nvPr/>
        </p:nvSpPr>
        <p:spPr>
          <a:xfrm>
            <a:off x="832104" y="4636008"/>
            <a:ext cx="10524744" cy="182880"/>
          </a:xfrm>
          <a:prstGeom prst="rect">
            <a:avLst/>
          </a:prstGeom>
          <a:noFill/>
          <a:ln/>
        </p:spPr>
        <p:txBody>
          <a:bodyPr wrap="square" lIns="0" tIns="0" rIns="0" bIns="0" rtlCol="0" anchor="ctr"/>
          <a:lstStyle/>
          <a:p>
            <a:pPr indent="0" marL="0">
              <a:buNone/>
            </a:pPr>
            <a:r>
              <a:rPr lang="en-US" sz="900" dirty="0">
                <a:solidFill>
                  <a:srgbClr val="A3B2FF"/>
                </a:solidFill>
                <a:latin typeface="JetBrains Mono" pitchFamily="34" charset="0"/>
                <a:ea typeface="JetBrains Mono" pitchFamily="34" charset="-122"/>
                <a:cs typeface="JetBrains Mono" pitchFamily="34" charset="-120"/>
              </a:rPr>
              <a:t>BASECAMP TOOLS FOR THIS</a:t>
            </a:r>
            <a:endParaRPr lang="en-US" sz="900" dirty="0"/>
          </a:p>
        </p:txBody>
      </p:sp>
      <p:sp>
        <p:nvSpPr>
          <p:cNvPr id="18" name="Text 15"/>
          <p:cNvSpPr/>
          <p:nvPr/>
        </p:nvSpPr>
        <p:spPr>
          <a:xfrm>
            <a:off x="832104" y="4818888"/>
            <a:ext cx="10524744" cy="219456"/>
          </a:xfrm>
          <a:prstGeom prst="rect">
            <a:avLst/>
          </a:prstGeom>
          <a:noFill/>
          <a:ln/>
        </p:spPr>
        <p:txBody>
          <a:bodyPr wrap="square" lIns="0" tIns="0" rIns="0" bIns="0" rtlCol="0" anchor="t"/>
          <a:lstStyle/>
          <a:p>
            <a:pPr indent="0" marL="0">
              <a:buNone/>
            </a:pPr>
            <a:r>
              <a:rPr lang="en-US" sz="1250" dirty="0">
                <a:solidFill>
                  <a:srgbClr val="FFFFFF"/>
                </a:solidFill>
                <a:latin typeface="DM Sans" pitchFamily="34" charset="0"/>
                <a:ea typeface="DM Sans" pitchFamily="34" charset="-122"/>
                <a:cs typeface="DM Sans" pitchFamily="34" charset="-120"/>
              </a:rPr>
              <a:t>Sui skills + Sui docs MCP (sui.mcp.kapa.ai) help your AI agent do the migration. Sui Evals: skills reportedly add ~35 points.</a:t>
            </a:r>
            <a:endParaRPr lang="en-US" sz="1250" dirty="0"/>
          </a:p>
        </p:txBody>
      </p:sp>
      <p:sp>
        <p:nvSpPr>
          <p:cNvPr id="19" name="Shape 16"/>
          <p:cNvSpPr/>
          <p:nvPr/>
        </p:nvSpPr>
        <p:spPr>
          <a:xfrm>
            <a:off x="685800" y="5184648"/>
            <a:ext cx="10817352" cy="630936"/>
          </a:xfrm>
          <a:prstGeom prst="rect">
            <a:avLst/>
          </a:prstGeom>
          <a:solidFill>
            <a:srgbClr val="2338FF"/>
          </a:solidFill>
          <a:ln w="12700">
            <a:solidFill>
              <a:srgbClr val="2338FF">
                <a:alpha val="0"/>
              </a:srgbClr>
            </a:solidFill>
            <a:prstDash val="solid"/>
          </a:ln>
        </p:spPr>
      </p:sp>
      <p:sp>
        <p:nvSpPr>
          <p:cNvPr id="20" name="Text 17"/>
          <p:cNvSpPr/>
          <p:nvPr/>
        </p:nvSpPr>
        <p:spPr>
          <a:xfrm>
            <a:off x="850392" y="5321808"/>
            <a:ext cx="10469880" cy="347472"/>
          </a:xfrm>
          <a:prstGeom prst="rect">
            <a:avLst/>
          </a:prstGeom>
          <a:noFill/>
          <a:ln/>
        </p:spPr>
        <p:txBody>
          <a:bodyPr wrap="square" lIns="0" tIns="0" rIns="0" bIns="0" rtlCol="0" anchor="ctr"/>
          <a:lstStyle/>
          <a:p>
            <a:pPr indent="0" marL="0">
              <a:buNone/>
            </a:pPr>
            <a:r>
              <a:rPr lang="en-US" sz="2000" dirty="0">
                <a:solidFill>
                  <a:srgbClr val="FFFFFF"/>
                </a:solidFill>
                <a:latin typeface="DM Sans" pitchFamily="34" charset="0"/>
                <a:ea typeface="DM Sans" pitchFamily="34" charset="-122"/>
                <a:cs typeface="DM Sans" pitchFamily="34" charset="-120"/>
              </a:rPr>
              <a:t>Leave with a working diff, its evidence, and a reason for your data-stack choice.</a:t>
            </a:r>
            <a:endParaRPr lang="en-US" sz="2000" dirty="0"/>
          </a:p>
        </p:txBody>
      </p:sp>
      <p:sp>
        <p:nvSpPr>
          <p:cNvPr id="21" name="Text 18">
            <a:hlinkClick r:id="rId1" tooltip=""/>
          </p:cNvPr>
          <p:cNvSpPr/>
          <p:nvPr/>
        </p:nvSpPr>
        <p:spPr>
          <a:xfrm>
            <a:off x="685800" y="6071616"/>
            <a:ext cx="6400800" cy="274320"/>
          </a:xfrm>
          <a:prstGeom prst="rect">
            <a:avLst/>
          </a:prstGeom>
          <a:noFill/>
          <a:ln/>
        </p:spPr>
        <p:txBody>
          <a:bodyPr wrap="square" lIns="0" tIns="0" rIns="0" bIns="0" rtlCol="0" anchor="ctr"/>
          <a:lstStyle/>
          <a:p>
            <a:pPr indent="0" marL="0">
              <a:buNone/>
            </a:pPr>
            <a:r>
              <a:rPr lang="en-US" sz="1700" u="sng" dirty="0">
                <a:solidFill>
                  <a:srgbClr val="B7C3E2"/>
                </a:solidFill>
                <a:latin typeface="DM Sans" pitchFamily="34" charset="0"/>
                <a:ea typeface="DM Sans" pitchFamily="34" charset="-122"/>
                <a:cs typeface="DM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github.com/Nuel-osas/day3-till</a:t>
            </a:r>
            <a:endParaRPr lang="en-US" sz="1700" dirty="0"/>
          </a:p>
        </p:txBody>
      </p:sp>
      <p:sp>
        <p:nvSpPr>
          <p:cNvPr id="22" name="Text 19">
            <a:hlinkClick r:id="rId2" tooltip=""/>
          </p:cNvPr>
          <p:cNvSpPr/>
          <p:nvPr/>
        </p:nvSpPr>
        <p:spPr>
          <a:xfrm>
            <a:off x="7909560" y="6071616"/>
            <a:ext cx="3593592" cy="274320"/>
          </a:xfrm>
          <a:prstGeom prst="rect">
            <a:avLst/>
          </a:prstGeom>
          <a:noFill/>
          <a:ln/>
        </p:spPr>
        <p:txBody>
          <a:bodyPr wrap="square" lIns="0" tIns="0" rIns="0" bIns="0" rtlCol="0" anchor="ctr"/>
          <a:lstStyle/>
          <a:p>
            <a:pPr indent="0" marL="0">
              <a:buNone/>
            </a:pPr>
            <a:r>
              <a:rPr lang="en-US" sz="1700" u="sng" dirty="0">
                <a:solidFill>
                  <a:srgbClr val="B7C3E2"/>
                </a:solidFill>
                <a:latin typeface="DM Sans" pitchFamily="34" charset="0"/>
                <a:ea typeface="DM Sans" pitchFamily="34" charset="-122"/>
                <a:cs typeface="DM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day3-till.vercel.app</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SuiHub Lagos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Sui: GraphQL Subscriptions and the Data Stack After JSON-RPC</dc:title>
  <dc:subject>Day 3 / 11-slide teaching edition / 16 October 2026</dc:subject>
  <dc:creator>Ruru | SuiHub Lagos</dc:creator>
  <cp:lastModifiedBy>Ruru | SuiHub Lagos</cp:lastModifiedBy>
  <cp:revision>1</cp:revision>
  <dcterms:created xsi:type="dcterms:W3CDTF">2026-10-16T13:17:28Z</dcterms:created>
  <dcterms:modified xsi:type="dcterms:W3CDTF">2026-10-16T13:17:28Z</dcterms:modified>
</cp:coreProperties>
</file>
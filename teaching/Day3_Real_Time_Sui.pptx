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Today has three connected outcomes: choose the right Sui data interface, build a reliable live feed through Till, and migrate a read in your own app. This is the advertised GraphQL subscriptions and post-JSON-RPC data-stack session. Till supplies a concrete problem for the architecture.
SHOW / DO
Open the live app and repository before class. Ask students to keep a project with a JSON-RPC read ready. Use Node 24 for the supplied repository, pnpm and testnet funds. No Move code is required.
ASK THE ROOM
Which part of your app still polls or uses JSON-RPC?
EXPECTED ANSWER
Collect one example from a wallet, game, payments screen or backend. Return to it on slide 15.
TRANSITION
Separate the data responsibilities that used to sit behind one familiar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Foundation mainnet JSON-RPC was disabled in the week of 27 July 2026; source removal was scheduled for mid-October. Availability at other providers can differ. The 21 September announcement adds GraphQL subscriptions. Application responsibilities remain, but can now use different interfaces.
SHOW / DO
Classify a screen: read the balance, observe a new payment, retrieve an old receipt. The same app can use more than one interface.
ASK THE ROOM
Would replacing every JSON-RPC URL with one GraphQL URL complete a migration?
EXPECTED ANSWER
No. Request types, selected fields, response shapes, errors, pagination and streaming transport must be adapted.
TRANSITION
Place those interfaces on a map, including the services behind them.
REFERENCES
https://docs.sui.io/develop/accessing-data/json-rpc-migration ; https://www.sui.io/blog/graphql-on-sui-now-supports-real-time-subscriptions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Read the upper path left to right: finalized Sui data reaches services; GraphQL selects and resolves the app view. The archive supplies retained history when configured. A custom indexer is an alternative owned processing path, not a mandatory layer for every frontend. A wallet can combine direct gRPC operations and GraphQL activity. These boxes describe our chosen architecture, not exclusive capabilities of each protocol.
SHOW / DO
Trace a live payment through gRPC checkpoint data to the GraphQL subscription and browser. Trace a historical point lookup through the archive. Point to the lower custom-indexer path for owned analytics.
ASK THE ROOM
Does a hosted GraphQL subscription mean there is no indexing infrastructure?
EXPECTED ANSWER
The provider runs the data service. The app avoids operating a full indexing pipeline merely to consume a feed.
TRANSITION
Apply the map to the shop workflow promised in the announcement.
REFERENCES
https://www.sui.io/blog/graphql-on-sui-now-supports-real-time-subscriptions ; https://docs.sui.io/develop/accessing-data/custom-indexer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event promises a USDC shop screen. Use an illustrative 1 USDC sale: customer authorizes transfer, shop receives it, subscription delivers the receipt, durable writer records it for totals. Gas is in SUI. These are target behaviours, not a claim that the existing browser form sends USDC.
SHOW / DO
Open the live app. Its built-in payment form and balance cards are SUI-only. Verified SUI paths cover live delivery, recovery, deduplication and the ledger. A funded USDC acceptance run remains unfinished. State this before using the SUI fallback. The receiver and writer accept generic coin types, but a USDC till should restrict accepted coin type and use metadata decimals.
ASK THE ROOM
Which proves the shop was paid: the send button, a balance refresh, or the confirmed receipt?
EXPECTED ANSWER
Use the successful onchain transaction and positive shop balance change. The submit result and balance card alone do not identify a sale.
TRANSITION
Choose the subscription that provides the receipt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transaction subscription gives effects such as balance changes. An event subscription gives emitted application data, when a contract emits that event. Till requires no new payment event or Move contract. Affected address is broad: sender, sponsor or recipient may match. Exact field names below were checked against testnet on 16 October.
SHOW / DO
Open PAYMENTS_SUBSCRIPTION in src/lib/till.ts and compare EventFilter in the live IDE. The current schema rejects module and type together in one event filter. The transaction sender field is sentAddress; the event sender field is sender.
ASK THE ROOM
The shop refunds a customer. Does affectedAddress still match?
EXPECTED ANSWER
Yes. A match is a candidate. Receipt logic must check success and balance-change direction.
TRANSITION
Select enough fields to validate the candidate and render a receipt.
REFERENCES
https://github.com/MystenLabs/sui/blob/main/crates/sui-indexer-alt-graphql/schema.graphql ; teaching/evidence/graphql-schema-2026-10-16.json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is the full repository subscription, with whitespace adjusted. Cursor is delivery progress. Digest identifies the transaction. Status rejects failures. Owner, coin type and signed amount let the client calculate the shop credit. Checkpoint and timestamp place the receipt in history.
SHOW / DO
Trace paymentsFrom in src/lib/till.ts: SUCCESS, normalize owner, sum signed changes per normalized coin type with BigInt, retain only positive net credits. The writer groups receipts by digest and coin. Illustrative USDC case: 1000000 base units with six decimals means 1 USDC, after confirming metadata. An accepted-USDC-only rule is a further application requirement; the generic parser currently accepts all coins.
ASK THE ROOM
Why sum all changes for a coin instead of selecting the first positive row?
EXPECTED ANSWER
One transaction can contain debits and credits. Net change tells whether the shop gained the asset.
TRANSITION
The query describes what we want. Open a connection that keeps delivering it.
REFERENCES
src/lib/till.ts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request sends the GraphQL document and variables as JSON. The response stays open and sends SSE frames over POST /graphql/subscriptions. Native EventSource cannot send this POST body; websocket clients use a different protocol. Fetch exposes a readable stream.
SHOW / DO
Open src/lib/sse.ts. The shown fetch is a real excerpt, reformatted. Continue into the parser: chunks can split an SSE frame, blank lines end frames, comments can be keepalives, and errors can arrive inside HTTP 200. onNext is awaited before advancing. Seven existing tests include framing and error cases.
ASK THE ROOM
Can each reader.read() be treated as one complete GraphQL message?
EXPECTED ANSWER
No. Network chunks and SSE message boundaries differ. Buffer and parse complete frames.
TRANSITION
A stream can end. Keep the position from which we can safely resume.
REFERENCES
src/lib/sse.ts;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B, C and D are illustrative teaching labels, not real digests or cursor encodings. Save A and cursor cA. Disconnect while B and C finalize. Reconnect with after cA. The service delivers B and C, then D live. With no cursor yet, a saved opening checkpoint supplies the first boundary through filter.afterCheckpoint, which is exclusive.
SHOW / DO
Chain progress continues while the listener is offline. Use Pause feed for the controlled demo. Save the opening checkpoint before the first stream and first payment. Never decode or invent cursors. Scope state to network, shop and query. Within a checkpoint, transactions follow their position; events follow transaction position then event position.
ASK THE ROOM
B reaches the browser but its database commit fails. Which cursor is safe to save?
EXPECTED ANSWER
Keep cA. Replay B on reconnect. The cursor must describe durably processed data, not merely received bytes.
TRANSITION
Make the database commit and cursor update one operation.
REFERENCES
https://github.com/MystenLabs/sui/blob/main/crates/sui-indexer-alt-graphql/schema.graphql ; src/useTill.ts; indexer/indexer.ts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Two guarantees matter. A unique receipt key prevents duplicate counting. One database transaction commits rows and progress together. The repo uses PRIMARY KEY (digest, coin_type) and INSERT OR IGNORE; a cursor-only receipt key is insufficient when one transaction credits several coins. The cursor is a progress watermark. Postgres needs the same atomicity and uniqueness.
SHOW / DO
Open indexer/db.ts and indexer/indexer.ts. The real source rolls back on failure, and saves the cursor even if a matching transaction has no incoming payment. The displayed code is the transaction body; catch/ROLLBACK follows it. Run pnpm indexer, stop it, pay, restart, then pnpm totals with the UTC date. The verified SUI ledger kept three receipts totalling 0.03 SUI without duplication.
ASK THE ROOM
The process crashes after COMMIT but before logging success. What happens?
EXPECTED ANSWER
Rows and cursor are durable. Replaying cannot add the same digest and coin again.
TRANSITION
Decide when this writer is enough and when to own a checkpoint pipeline.
REFERENCES
indexer/db.ts; indexer/indexer.ts; indexer/totals.ts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announcement offers subscriptions as a lighter path for apps that do not need a full pipeline. Choose by workload. A selected feed can use TypeScript and SQLite or Postgres. Broad checkpoint processing, controlled reprocessing and owned models can justify the Rust framework. There is no universal throughput threshold.
SHOW / DO
Compare the paths. In the custom framework, process transforms checkpoint data, commit stores results, and prune can enforce retention. This class does not implement Rust. The supplied TypeScript writer is a long-running local process, separate from the Vercel browser app.
ASK THE ROOM
You need all swaps across many packages and a year of recomputed aggregates. Which path fits?
EXPECTED ANSWER
Investigate an owned checkpoint pipeline and a database designed for the aggregates; benchmark processing and recovery.
TRANSITION
Even a small app needs a path beyond full-node retention.
REFERENCES
https://docs.sui.io/develop/accessing-data/custom-indexer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Full nodes may prune history. A full-node gRPC endpoint does not automatically route every old lookup to the archive. The separate archival service supports retained point lookups; a GraphQL operator can configure an archive-backed path. Finding one digest differs from scanning every historical payment.
SHOW / DO
Run pnpm receipt or use Receipt archive. On 15 October this exact testnet digest returned not found from the public full node, while GraphQL returned SUCCESS at 2025-10-07T22:04:44.571Z and checkpoint 250000000. The app retains the digest and labels the source. A random not-found response cannot establish pruning; compare network, digest and a known alternate result.
ASK THE ROOM
Does an archive lookup prove your local daily ledger is complete?
EXPECTED ANSWER
No. Completeness requires a starting boundary and successful processing over the needed range.
TRANSITION
Account for service limits and failures before production.
REFERENCES
https://docs.sui.io/develop/accessing-data/json-rpc-migration ; src/lib/receipt.ts; scripts/receipt.ts; teaching/VERIFICATION.md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Limits belong to a service. Testnet serviceConfig was rechecked on 16 October: query payload 5000 bytes, query timeout 40 seconds, Query.transactions default page 20 and max 50. These are query settings, not stream lifetime. Per-subscriber throttling can slow or end a stream; it does not follow a fixed threshold inferred from those numbers.
SHOW / DO
Read serviceConfig in the IDE. Ask a production provider about POST SSE, auth, quotas, retention and downtime. Bound consumer work and retry with backoff from committed progress. In Till, a shop change cancels the old connection and switches stored state. Reset clears tracking, not onchain funds. A query version change needs a deliberate replay boundary.
ASK THE ROOM
A balance rises but no receipt appears. What do you check?
EXPECTED ANSWER
Digest, success, network, shop, filter semantics, index lag and catch-up. A balance delta is not a receipt. The tested address-balance deposit appeared only after catch-up.
TRANSITION
Run the lab with an observable pass criterion for each step.
REFERENCES
teaching/evidence/graphql-schema-2026-10-16.json; teaching/VERIFICATION.md; https://docs.sui.io/develop/accessing-data/json-rpc-migration ; https://docs.sui.io/develop/accessing-data/graphql/query-with-graphql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Use the verified test-SUI fallback explicitly. The event target remains USDC. A funded USDC run, physical wallet approval and audible chime are not yet verified. This runbook does not claim those checks passed. Every student has a separate payer and shop.
SHOW / DO
1. Clone the repo; use Node 24, pnpm install and pnpm dev, or open the live app. Copy your shop. Request test SUI. Enable sound with a click.
2. Open till and send 0.01 SUI. Match digest, receipt and red/green balance movement; payer pays gas. Check the chime audibly.
3. Pause feed, pay again, Resume. This stops only the listener. For real Wi-Fi loss, use a second device to pay while the till device is offline. The disconnected device cannot submit a network transaction.
4. Reload and reopen; expect no duplicate.
5. Copy .env.example, set SHOP_ADDRESS, FROM_CHECKPOINT to the opening boundary, and separate TILL_DB. Run pnpm indexer. Stop, pay, restart, run pnpm totals. Never share a database across shops.
6. Use slide 11’s old receipt. Record each result. Browser totals alone do not validate the database writer.
ASK THE ROOM
Why does the Wi-Fi-drop test need a second device?
EXPECTED ANSWER
Only the listener is offline; the payer still needs network access.
TRANSITION
Apply these data decisions to an existing JSON-RPC integration.
REFERENCES
README.md; teaching/VERIFICATION.md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old client calls getBalance over JSON-RPC. SuiGrpcClient exposes a typed balance wrapper. Adapt the response; do not reuse the old object shape blindly. Inspect totalBalance, coinBalance and addressBalance. The GraphQL alternative selects Address.balance and joins receipt and event data.
SHOW / DO
Open migration/legacy-jsonrpc.ts and migration/migrated-grpc.ts. Panels use their imports, construction and calls, reformatted. Run pnpm migrate:legacy, pnpm migrate:grpc and pnpm migrate:graphql. The old public endpoint previously returned -32601 inside HTTP 200; provider behaviour varies. Other examples replace getTransactionBlock with getTransaction and queryEvents with listEvents. Normalize event type addresses in the gRPC example.
ASK THE ROOM
What changes besides the imported client class?
EXPECTED ANSWER
Result shape, errors, selected fields, pagination and fresh API cursors.
TRANSITION
Each student migrates one call from a project they brought.
REFERENCES
migration/; https://docs.sui.io/develop/accessing-data/json-rpc-migration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final workshop is on students’ own projects. Give students without a project Till’s migration folder. The deliverable is a working change, not a verbal claim of migration.
SHOW / DO
Allow 25 to 35 minutes. Find one JSON-RPC read or polling loop. State the screen’s need, choose the replacement and edit the code. Verify a known balance or transaction. For a feed, demonstrate disconnect and replay. For history, test an old digest and retention path. Name the production provider and quotas. Ask two students to show the diff and explain their choice.
ASK THE ROOM
Show the changed call, its new result, and the failure case you tested.
EXPECTED ANSWER
A reviewable diff, a known-data check and a relevant failure or recovery check. The data-service choice is part of the answer.
TRANSITION
Return to the examples collected on slide 1. Each student should be able to explain which service handles each app responsibility.
REFERENCES
https://github.com/Nuel-osas/day3-till ; https://day3-till.vercel.app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ay3-till.vercel.app" TargetMode="External"/><Relationship Id="rId2" Type="http://schemas.openxmlformats.org/officeDocument/2006/relationships/hyperlink" Target="https://github.com/Nuel-osas/day3-till"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Nuel-osas/day3-till" TargetMode="External"/><Relationship Id="rId2" Type="http://schemas.openxmlformats.org/officeDocument/2006/relationships/hyperlink" Target="https://day3-till.vercel.app"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80F"/>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B7C3E2"/>
                </a:solidFill>
                <a:latin typeface="JetBrains Mono" pitchFamily="34" charset="0"/>
                <a:ea typeface="JetBrains Mono" pitchFamily="34" charset="-122"/>
                <a:cs typeface="JetBrains Mono" pitchFamily="34" charset="-120"/>
              </a:rPr>
              <a:t>[ DAY 03 / THE CLASS PROMISE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5600" dirty="0">
                <a:solidFill>
                  <a:srgbClr val="FFFFFF"/>
                </a:solidFill>
                <a:latin typeface="DM Sans" pitchFamily="34" charset="0"/>
                <a:ea typeface="DM Sans" pitchFamily="34" charset="-122"/>
                <a:cs typeface="DM Sans" pitchFamily="34" charset="-120"/>
              </a:rPr>
              <a:t>Real-Time Sui</a:t>
            </a:r>
            <a:endParaRPr lang="en-US" sz="56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B7C3E2"/>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B7C3E2"/>
                </a:solidFill>
                <a:latin typeface="JetBrains Mono" pitchFamily="34" charset="0"/>
                <a:ea typeface="JetBrains Mono" pitchFamily="34" charset="-122"/>
                <a:cs typeface="JetBrains Mono" pitchFamily="34" charset="-120"/>
              </a:rPr>
              <a:t>01 / 15</a:t>
            </a:r>
            <a:endParaRPr lang="en-US" sz="900" dirty="0"/>
          </a:p>
        </p:txBody>
      </p:sp>
      <p:sp>
        <p:nvSpPr>
          <p:cNvPr id="7" name="Text 4"/>
          <p:cNvSpPr/>
          <p:nvPr/>
        </p:nvSpPr>
        <p:spPr>
          <a:xfrm>
            <a:off x="685800" y="1874520"/>
            <a:ext cx="10789920" cy="1371600"/>
          </a:xfrm>
          <a:prstGeom prst="rect">
            <a:avLst/>
          </a:prstGeom>
          <a:noFill/>
          <a:ln/>
        </p:spPr>
        <p:txBody>
          <a:bodyPr wrap="square" lIns="0" tIns="0" rIns="0" bIns="0" rtlCol="0" anchor="ctr"/>
          <a:lstStyle/>
          <a:p>
            <a:pPr indent="0" marL="0">
              <a:buNone/>
            </a:pPr>
            <a:r>
              <a:rPr lang="en-US" sz="3700" dirty="0">
                <a:solidFill>
                  <a:srgbClr val="B7C3E2"/>
                </a:solidFill>
                <a:latin typeface="DM Sans" pitchFamily="34" charset="0"/>
                <a:ea typeface="DM Sans" pitchFamily="34" charset="-122"/>
                <a:cs typeface="DM Sans" pitchFamily="34" charset="-120"/>
              </a:rPr>
              <a:t>GraphQL Subscriptions</a:t>
            </a:r>
            <a:endParaRPr lang="en-US" sz="3700" dirty="0"/>
          </a:p>
          <a:p>
            <a:pPr indent="0" marL="0">
              <a:buNone/>
            </a:pPr>
            <a:r>
              <a:rPr lang="en-US" sz="3700" dirty="0">
                <a:solidFill>
                  <a:srgbClr val="B7C3E2"/>
                </a:solidFill>
                <a:latin typeface="DM Sans" pitchFamily="34" charset="0"/>
                <a:ea typeface="DM Sans" pitchFamily="34" charset="-122"/>
                <a:cs typeface="DM Sans" pitchFamily="34" charset="-120"/>
              </a:rPr>
              <a:t>and the Data Stack After JSON-RPC</a:t>
            </a:r>
            <a:endParaRPr lang="en-US" sz="3700" dirty="0"/>
          </a:p>
        </p:txBody>
      </p:sp>
      <p:sp>
        <p:nvSpPr>
          <p:cNvPr id="8" name="Shape 5"/>
          <p:cNvSpPr/>
          <p:nvPr/>
        </p:nvSpPr>
        <p:spPr>
          <a:xfrm>
            <a:off x="685800" y="4133088"/>
            <a:ext cx="3429000" cy="1463040"/>
          </a:xfrm>
          <a:prstGeom prst="rect">
            <a:avLst/>
          </a:prstGeom>
          <a:solidFill>
            <a:srgbClr val="141B32"/>
          </a:solidFill>
          <a:ln w="12700">
            <a:solidFill>
              <a:srgbClr val="141B32">
                <a:alpha val="0"/>
              </a:srgbClr>
            </a:solidFill>
            <a:prstDash val="solid"/>
          </a:ln>
        </p:spPr>
      </p:sp>
      <p:sp>
        <p:nvSpPr>
          <p:cNvPr id="9" name="Text 6"/>
          <p:cNvSpPr/>
          <p:nvPr/>
        </p:nvSpPr>
        <p:spPr>
          <a:xfrm>
            <a:off x="868680" y="4334256"/>
            <a:ext cx="3017520" cy="228600"/>
          </a:xfrm>
          <a:prstGeom prst="rect">
            <a:avLst/>
          </a:prstGeom>
          <a:noFill/>
          <a:ln/>
        </p:spPr>
        <p:txBody>
          <a:bodyPr wrap="square" lIns="0" tIns="0" rIns="0" bIns="0" rtlCol="0" anchor="ctr"/>
          <a:lstStyle/>
          <a:p>
            <a:pPr indent="0" marL="0">
              <a:buNone/>
            </a:pPr>
            <a:r>
              <a:rPr lang="en-US" sz="1100" dirty="0">
                <a:solidFill>
                  <a:srgbClr val="B7C3E2"/>
                </a:solidFill>
                <a:latin typeface="JetBrains Mono" pitchFamily="34" charset="0"/>
                <a:ea typeface="JetBrains Mono" pitchFamily="34" charset="-122"/>
                <a:cs typeface="JetBrains Mono" pitchFamily="34" charset="-120"/>
              </a:rPr>
              <a:t>01 / CHOOSE</a:t>
            </a:r>
            <a:endParaRPr lang="en-US" sz="1100" dirty="0"/>
          </a:p>
        </p:txBody>
      </p:sp>
      <p:sp>
        <p:nvSpPr>
          <p:cNvPr id="10" name="Text 7"/>
          <p:cNvSpPr/>
          <p:nvPr/>
        </p:nvSpPr>
        <p:spPr>
          <a:xfrm>
            <a:off x="868680" y="4645152"/>
            <a:ext cx="3017520" cy="777240"/>
          </a:xfrm>
          <a:prstGeom prst="rect">
            <a:avLst/>
          </a:prstGeom>
          <a:noFill/>
          <a:ln/>
        </p:spPr>
        <p:txBody>
          <a:bodyPr wrap="square" lIns="0" tIns="0" rIns="0" bIns="0" rtlCol="0" anchor="ctr"/>
          <a:lstStyle/>
          <a:p>
            <a:pPr indent="0" marL="0">
              <a:buNone/>
            </a:pPr>
            <a:r>
              <a:rPr lang="en-US" sz="2300" dirty="0">
                <a:solidFill>
                  <a:srgbClr val="FFFFFF"/>
                </a:solidFill>
                <a:latin typeface="DM Sans" pitchFamily="34" charset="0"/>
                <a:ea typeface="DM Sans" pitchFamily="34" charset="-122"/>
                <a:cs typeface="DM Sans" pitchFamily="34" charset="-120"/>
              </a:rPr>
              <a:t>Map the data stack</a:t>
            </a:r>
            <a:endParaRPr lang="en-US" sz="2300" dirty="0"/>
          </a:p>
        </p:txBody>
      </p:sp>
      <p:sp>
        <p:nvSpPr>
          <p:cNvPr id="11" name="Shape 8"/>
          <p:cNvSpPr/>
          <p:nvPr/>
        </p:nvSpPr>
        <p:spPr>
          <a:xfrm>
            <a:off x="4379976" y="4133088"/>
            <a:ext cx="3429000" cy="1463040"/>
          </a:xfrm>
          <a:prstGeom prst="rect">
            <a:avLst/>
          </a:prstGeom>
          <a:solidFill>
            <a:srgbClr val="2338FF"/>
          </a:solidFill>
          <a:ln w="12700">
            <a:solidFill>
              <a:srgbClr val="2338FF">
                <a:alpha val="0"/>
              </a:srgbClr>
            </a:solidFill>
            <a:prstDash val="solid"/>
          </a:ln>
        </p:spPr>
      </p:sp>
      <p:sp>
        <p:nvSpPr>
          <p:cNvPr id="12" name="Text 9"/>
          <p:cNvSpPr/>
          <p:nvPr/>
        </p:nvSpPr>
        <p:spPr>
          <a:xfrm>
            <a:off x="4562856" y="4334256"/>
            <a:ext cx="3017520" cy="228600"/>
          </a:xfrm>
          <a:prstGeom prst="rect">
            <a:avLst/>
          </a:prstGeom>
          <a:noFill/>
          <a:ln/>
        </p:spPr>
        <p:txBody>
          <a:bodyPr wrap="square" lIns="0" tIns="0" rIns="0" bIns="0" rtlCol="0" anchor="ctr"/>
          <a:lstStyle/>
          <a:p>
            <a:pPr indent="0" marL="0">
              <a:buNone/>
            </a:pPr>
            <a:r>
              <a:rPr lang="en-US" sz="1100" dirty="0">
                <a:solidFill>
                  <a:srgbClr val="B7C3E2"/>
                </a:solidFill>
                <a:latin typeface="JetBrains Mono" pitchFamily="34" charset="0"/>
                <a:ea typeface="JetBrains Mono" pitchFamily="34" charset="-122"/>
                <a:cs typeface="JetBrains Mono" pitchFamily="34" charset="-120"/>
              </a:rPr>
              <a:t>02 / BUILD</a:t>
            </a:r>
            <a:endParaRPr lang="en-US" sz="1100" dirty="0"/>
          </a:p>
        </p:txBody>
      </p:sp>
      <p:sp>
        <p:nvSpPr>
          <p:cNvPr id="13" name="Text 10"/>
          <p:cNvSpPr/>
          <p:nvPr/>
        </p:nvSpPr>
        <p:spPr>
          <a:xfrm>
            <a:off x="4562856" y="4645152"/>
            <a:ext cx="3017520" cy="777240"/>
          </a:xfrm>
          <a:prstGeom prst="rect">
            <a:avLst/>
          </a:prstGeom>
          <a:noFill/>
          <a:ln/>
        </p:spPr>
        <p:txBody>
          <a:bodyPr wrap="square" lIns="0" tIns="0" rIns="0" bIns="0" rtlCol="0" anchor="ctr"/>
          <a:lstStyle/>
          <a:p>
            <a:pPr indent="0" marL="0">
              <a:buNone/>
            </a:pPr>
            <a:r>
              <a:rPr lang="en-US" sz="2300" dirty="0">
                <a:solidFill>
                  <a:srgbClr val="FFFFFF"/>
                </a:solidFill>
                <a:latin typeface="DM Sans" pitchFamily="34" charset="0"/>
                <a:ea typeface="DM Sans" pitchFamily="34" charset="-122"/>
                <a:cs typeface="DM Sans" pitchFamily="34" charset="-120"/>
              </a:rPr>
              <a:t>A feed that survives a drop</a:t>
            </a:r>
            <a:endParaRPr lang="en-US" sz="2300" dirty="0"/>
          </a:p>
        </p:txBody>
      </p:sp>
      <p:sp>
        <p:nvSpPr>
          <p:cNvPr id="14" name="Shape 11"/>
          <p:cNvSpPr/>
          <p:nvPr/>
        </p:nvSpPr>
        <p:spPr>
          <a:xfrm>
            <a:off x="8074152" y="4133088"/>
            <a:ext cx="3429000" cy="1463040"/>
          </a:xfrm>
          <a:prstGeom prst="rect">
            <a:avLst/>
          </a:prstGeom>
          <a:solidFill>
            <a:srgbClr val="141B32"/>
          </a:solidFill>
          <a:ln w="12700">
            <a:solidFill>
              <a:srgbClr val="141B32">
                <a:alpha val="0"/>
              </a:srgbClr>
            </a:solidFill>
            <a:prstDash val="solid"/>
          </a:ln>
        </p:spPr>
      </p:sp>
      <p:sp>
        <p:nvSpPr>
          <p:cNvPr id="15" name="Text 12"/>
          <p:cNvSpPr/>
          <p:nvPr/>
        </p:nvSpPr>
        <p:spPr>
          <a:xfrm>
            <a:off x="8257032" y="4334256"/>
            <a:ext cx="3017520" cy="228600"/>
          </a:xfrm>
          <a:prstGeom prst="rect">
            <a:avLst/>
          </a:prstGeom>
          <a:noFill/>
          <a:ln/>
        </p:spPr>
        <p:txBody>
          <a:bodyPr wrap="square" lIns="0" tIns="0" rIns="0" bIns="0" rtlCol="0" anchor="ctr"/>
          <a:lstStyle/>
          <a:p>
            <a:pPr indent="0" marL="0">
              <a:buNone/>
            </a:pPr>
            <a:r>
              <a:rPr lang="en-US" sz="1100" dirty="0">
                <a:solidFill>
                  <a:srgbClr val="B7C3E2"/>
                </a:solidFill>
                <a:latin typeface="JetBrains Mono" pitchFamily="34" charset="0"/>
                <a:ea typeface="JetBrains Mono" pitchFamily="34" charset="-122"/>
                <a:cs typeface="JetBrains Mono" pitchFamily="34" charset="-120"/>
              </a:rPr>
              <a:t>03 / MIGRATE</a:t>
            </a:r>
            <a:endParaRPr lang="en-US" sz="1100" dirty="0"/>
          </a:p>
        </p:txBody>
      </p:sp>
      <p:sp>
        <p:nvSpPr>
          <p:cNvPr id="16" name="Text 13"/>
          <p:cNvSpPr/>
          <p:nvPr/>
        </p:nvSpPr>
        <p:spPr>
          <a:xfrm>
            <a:off x="8257032" y="4645152"/>
            <a:ext cx="3017520" cy="777240"/>
          </a:xfrm>
          <a:prstGeom prst="rect">
            <a:avLst/>
          </a:prstGeom>
          <a:noFill/>
          <a:ln/>
        </p:spPr>
        <p:txBody>
          <a:bodyPr wrap="square" lIns="0" tIns="0" rIns="0" bIns="0" rtlCol="0" anchor="ctr"/>
          <a:lstStyle/>
          <a:p>
            <a:pPr indent="0" marL="0">
              <a:buNone/>
            </a:pPr>
            <a:r>
              <a:rPr lang="en-US" sz="2300" dirty="0">
                <a:solidFill>
                  <a:srgbClr val="FFFFFF"/>
                </a:solidFill>
                <a:latin typeface="DM Sans" pitchFamily="34" charset="0"/>
                <a:ea typeface="DM Sans" pitchFamily="34" charset="-122"/>
                <a:cs typeface="DM Sans" pitchFamily="34" charset="-120"/>
              </a:rPr>
              <a:t>One call in your own app</a:t>
            </a:r>
            <a:endParaRPr lang="en-US" sz="2300" dirty="0"/>
          </a:p>
        </p:txBody>
      </p:sp>
      <p:sp>
        <p:nvSpPr>
          <p:cNvPr id="17" name="Text 14"/>
          <p:cNvSpPr/>
          <p:nvPr/>
        </p:nvSpPr>
        <p:spPr>
          <a:xfrm>
            <a:off x="685800" y="5907024"/>
            <a:ext cx="10789920" cy="320040"/>
          </a:xfrm>
          <a:prstGeom prst="rect">
            <a:avLst/>
          </a:prstGeom>
          <a:noFill/>
          <a:ln/>
        </p:spPr>
        <p:txBody>
          <a:bodyPr wrap="square" lIns="0" tIns="0" rIns="0" bIns="0" rtlCol="0" anchor="ctr"/>
          <a:lstStyle/>
          <a:p>
            <a:pPr indent="0" marL="0">
              <a:buNone/>
            </a:pPr>
            <a:r>
              <a:rPr lang="en-US" sz="1900" dirty="0">
                <a:solidFill>
                  <a:srgbClr val="B7C3E2"/>
                </a:solidFill>
                <a:latin typeface="DM Sans" pitchFamily="34" charset="0"/>
                <a:ea typeface="DM Sans" pitchFamily="34" charset="-122"/>
                <a:cs typeface="DM Sans" pitchFamily="34" charset="-120"/>
              </a:rPr>
              <a:t>A payment screen is the worked example for the whole lesson.</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[ 1 / CHOOSE THE STACK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Replace the data path your app depends on.</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02 / 15</a:t>
            </a:r>
            <a:endParaRPr lang="en-US" sz="900" dirty="0"/>
          </a:p>
        </p:txBody>
      </p:sp>
      <p:sp>
        <p:nvSpPr>
          <p:cNvPr id="7" name="Text 4"/>
          <p:cNvSpPr/>
          <p:nvPr/>
        </p:nvSpPr>
        <p:spPr>
          <a:xfrm>
            <a:off x="685800" y="1947672"/>
            <a:ext cx="10789920" cy="411480"/>
          </a:xfrm>
          <a:prstGeom prst="rect">
            <a:avLst/>
          </a:prstGeom>
          <a:noFill/>
          <a:ln/>
        </p:spPr>
        <p:txBody>
          <a:bodyPr wrap="square" lIns="0" tIns="0" rIns="0" bIns="0" rtlCol="0" anchor="ctr"/>
          <a:lstStyle/>
          <a:p>
            <a:pPr indent="0" marL="0">
              <a:buNone/>
            </a:pPr>
            <a:r>
              <a:rPr lang="en-US" sz="2300" dirty="0">
                <a:solidFill>
                  <a:srgbClr val="65708B"/>
                </a:solidFill>
                <a:latin typeface="DM Sans" pitchFamily="34" charset="0"/>
                <a:ea typeface="DM Sans" pitchFamily="34" charset="-122"/>
                <a:cs typeface="DM Sans" pitchFamily="34" charset="-120"/>
              </a:rPr>
              <a:t>Start with what the screen or worker needs to do.</a:t>
            </a:r>
            <a:endParaRPr lang="en-US" sz="2300" dirty="0"/>
          </a:p>
        </p:txBody>
      </p:sp>
      <p:sp>
        <p:nvSpPr>
          <p:cNvPr id="8" name="Shape 5"/>
          <p:cNvSpPr/>
          <p:nvPr/>
        </p:nvSpPr>
        <p:spPr>
          <a:xfrm>
            <a:off x="685800" y="2697480"/>
            <a:ext cx="10817352" cy="658368"/>
          </a:xfrm>
          <a:prstGeom prst="rect">
            <a:avLst/>
          </a:prstGeom>
          <a:solidFill>
            <a:srgbClr val="2338FF"/>
          </a:solidFill>
          <a:ln w="12700">
            <a:solidFill>
              <a:srgbClr val="2338FF">
                <a:alpha val="0"/>
              </a:srgbClr>
            </a:solidFill>
            <a:prstDash val="solid"/>
          </a:ln>
        </p:spPr>
      </p:sp>
      <p:sp>
        <p:nvSpPr>
          <p:cNvPr id="9" name="Text 6"/>
          <p:cNvSpPr/>
          <p:nvPr/>
        </p:nvSpPr>
        <p:spPr>
          <a:xfrm>
            <a:off x="832104" y="2770632"/>
            <a:ext cx="2331720" cy="530352"/>
          </a:xfrm>
          <a:prstGeom prst="rect">
            <a:avLst/>
          </a:prstGeom>
          <a:noFill/>
          <a:ln/>
        </p:spPr>
        <p:txBody>
          <a:bodyPr wrap="square" lIns="0" tIns="0" rIns="0" bIns="0" rtlCol="0" anchor="ctr"/>
          <a:lstStyle/>
          <a:p>
            <a:pPr indent="0" marL="0">
              <a:buNone/>
            </a:pPr>
            <a:r>
              <a:rPr lang="en-US" sz="1900" dirty="0">
                <a:solidFill>
                  <a:srgbClr val="FFFFFF"/>
                </a:solidFill>
                <a:latin typeface="DM Sans" pitchFamily="34" charset="0"/>
                <a:ea typeface="DM Sans" pitchFamily="34" charset="-122"/>
                <a:cs typeface="DM Sans" pitchFamily="34" charset="-120"/>
              </a:rPr>
              <a:t>APP NEED</a:t>
            </a:r>
            <a:endParaRPr lang="en-US" sz="1900" dirty="0"/>
          </a:p>
        </p:txBody>
      </p:sp>
      <p:sp>
        <p:nvSpPr>
          <p:cNvPr id="10" name="Text 7"/>
          <p:cNvSpPr/>
          <p:nvPr/>
        </p:nvSpPr>
        <p:spPr>
          <a:xfrm>
            <a:off x="3246120" y="2770632"/>
            <a:ext cx="3611880" cy="530352"/>
          </a:xfrm>
          <a:prstGeom prst="rect">
            <a:avLst/>
          </a:prstGeom>
          <a:noFill/>
          <a:ln/>
        </p:spPr>
        <p:txBody>
          <a:bodyPr wrap="square" lIns="0" tIns="0" rIns="0" bIns="0" rtlCol="0" anchor="ctr"/>
          <a:lstStyle/>
          <a:p>
            <a:pPr indent="0" marL="0">
              <a:buNone/>
            </a:pPr>
            <a:r>
              <a:rPr lang="en-US" sz="1900" dirty="0">
                <a:solidFill>
                  <a:srgbClr val="FFFFFF"/>
                </a:solidFill>
                <a:latin typeface="DM Sans" pitchFamily="34" charset="0"/>
                <a:ea typeface="DM Sans" pitchFamily="34" charset="-122"/>
                <a:cs typeface="DM Sans" pitchFamily="34" charset="-120"/>
              </a:rPr>
              <a:t>REPLACEMENT PATH</a:t>
            </a:r>
            <a:endParaRPr lang="en-US" sz="1900" dirty="0"/>
          </a:p>
        </p:txBody>
      </p:sp>
      <p:sp>
        <p:nvSpPr>
          <p:cNvPr id="11" name="Text 8"/>
          <p:cNvSpPr/>
          <p:nvPr/>
        </p:nvSpPr>
        <p:spPr>
          <a:xfrm>
            <a:off x="7040880" y="2770632"/>
            <a:ext cx="4279392" cy="530352"/>
          </a:xfrm>
          <a:prstGeom prst="rect">
            <a:avLst/>
          </a:prstGeom>
          <a:noFill/>
          <a:ln/>
        </p:spPr>
        <p:txBody>
          <a:bodyPr wrap="square" lIns="0" tIns="0" rIns="0" bIns="0" rtlCol="0" anchor="ctr"/>
          <a:lstStyle/>
          <a:p>
            <a:pPr indent="0" marL="0">
              <a:buNone/>
            </a:pPr>
            <a:r>
              <a:rPr lang="en-US" sz="1900" dirty="0">
                <a:solidFill>
                  <a:srgbClr val="FFFFFF"/>
                </a:solidFill>
                <a:latin typeface="DM Sans" pitchFamily="34" charset="0"/>
                <a:ea typeface="DM Sans" pitchFamily="34" charset="-122"/>
                <a:cs typeface="DM Sans" pitchFamily="34" charset="-120"/>
              </a:rPr>
              <a:t>TILL EXAMPLE</a:t>
            </a:r>
            <a:endParaRPr lang="en-US" sz="1900" dirty="0"/>
          </a:p>
        </p:txBody>
      </p:sp>
      <p:sp>
        <p:nvSpPr>
          <p:cNvPr id="12" name="Shape 9"/>
          <p:cNvSpPr/>
          <p:nvPr/>
        </p:nvSpPr>
        <p:spPr>
          <a:xfrm>
            <a:off x="685800" y="3410712"/>
            <a:ext cx="10817352" cy="658368"/>
          </a:xfrm>
          <a:prstGeom prst="rect">
            <a:avLst/>
          </a:prstGeom>
          <a:solidFill>
            <a:srgbClr val="FFFFFF"/>
          </a:solidFill>
          <a:ln w="12700">
            <a:solidFill>
              <a:srgbClr val="FFFFFF">
                <a:alpha val="0"/>
              </a:srgbClr>
            </a:solidFill>
            <a:prstDash val="solid"/>
          </a:ln>
        </p:spPr>
      </p:sp>
      <p:sp>
        <p:nvSpPr>
          <p:cNvPr id="13" name="Text 10"/>
          <p:cNvSpPr/>
          <p:nvPr/>
        </p:nvSpPr>
        <p:spPr>
          <a:xfrm>
            <a:off x="832104" y="3483864"/>
            <a:ext cx="233172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State + execution</a:t>
            </a:r>
            <a:endParaRPr lang="en-US" sz="1900" dirty="0"/>
          </a:p>
        </p:txBody>
      </p:sp>
      <p:sp>
        <p:nvSpPr>
          <p:cNvPr id="14" name="Text 11"/>
          <p:cNvSpPr/>
          <p:nvPr/>
        </p:nvSpPr>
        <p:spPr>
          <a:xfrm>
            <a:off x="3246120" y="3483864"/>
            <a:ext cx="361188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gRPC</a:t>
            </a:r>
            <a:endParaRPr lang="en-US" sz="1900" dirty="0"/>
          </a:p>
        </p:txBody>
      </p:sp>
      <p:sp>
        <p:nvSpPr>
          <p:cNvPr id="15" name="Text 12"/>
          <p:cNvSpPr/>
          <p:nvPr/>
        </p:nvSpPr>
        <p:spPr>
          <a:xfrm>
            <a:off x="7040880" y="3483864"/>
            <a:ext cx="4279392" cy="530352"/>
          </a:xfrm>
          <a:prstGeom prst="rect">
            <a:avLst/>
          </a:prstGeom>
          <a:noFill/>
          <a:ln/>
        </p:spPr>
        <p:txBody>
          <a:bodyPr wrap="square" lIns="0" tIns="0" rIns="0" bIns="0" rtlCol="0" anchor="ctr"/>
          <a:lstStyle/>
          <a:p>
            <a:pPr indent="0" marL="0">
              <a:buNone/>
            </a:pPr>
            <a:r>
              <a:rPr lang="en-US" sz="1900" dirty="0">
                <a:solidFill>
                  <a:srgbClr val="65708B"/>
                </a:solidFill>
                <a:latin typeface="DM Sans" pitchFamily="34" charset="0"/>
                <a:ea typeface="DM Sans" pitchFamily="34" charset="-122"/>
                <a:cs typeface="DM Sans" pitchFamily="34" charset="-120"/>
              </a:rPr>
              <a:t>Read balances; submit a payment</a:t>
            </a:r>
            <a:endParaRPr lang="en-US" sz="1900" dirty="0"/>
          </a:p>
        </p:txBody>
      </p:sp>
      <p:sp>
        <p:nvSpPr>
          <p:cNvPr id="16" name="Shape 13"/>
          <p:cNvSpPr/>
          <p:nvPr/>
        </p:nvSpPr>
        <p:spPr>
          <a:xfrm>
            <a:off x="685800" y="4123944"/>
            <a:ext cx="10817352" cy="658368"/>
          </a:xfrm>
          <a:prstGeom prst="rect">
            <a:avLst/>
          </a:prstGeom>
          <a:solidFill>
            <a:srgbClr val="E8ECFF"/>
          </a:solidFill>
          <a:ln w="12700">
            <a:solidFill>
              <a:srgbClr val="E8ECFF">
                <a:alpha val="0"/>
              </a:srgbClr>
            </a:solidFill>
            <a:prstDash val="solid"/>
          </a:ln>
        </p:spPr>
      </p:sp>
      <p:sp>
        <p:nvSpPr>
          <p:cNvPr id="17" name="Text 14"/>
          <p:cNvSpPr/>
          <p:nvPr/>
        </p:nvSpPr>
        <p:spPr>
          <a:xfrm>
            <a:off x="832104" y="4197096"/>
            <a:ext cx="233172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Filtered activity</a:t>
            </a:r>
            <a:endParaRPr lang="en-US" sz="1900" dirty="0"/>
          </a:p>
        </p:txBody>
      </p:sp>
      <p:sp>
        <p:nvSpPr>
          <p:cNvPr id="18" name="Text 15"/>
          <p:cNvSpPr/>
          <p:nvPr/>
        </p:nvSpPr>
        <p:spPr>
          <a:xfrm>
            <a:off x="3246120" y="4197096"/>
            <a:ext cx="361188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GraphQL query + subscription</a:t>
            </a:r>
            <a:endParaRPr lang="en-US" sz="1900" dirty="0"/>
          </a:p>
        </p:txBody>
      </p:sp>
      <p:sp>
        <p:nvSpPr>
          <p:cNvPr id="19" name="Text 16"/>
          <p:cNvSpPr/>
          <p:nvPr/>
        </p:nvSpPr>
        <p:spPr>
          <a:xfrm>
            <a:off x="7040880" y="4197096"/>
            <a:ext cx="4279392" cy="530352"/>
          </a:xfrm>
          <a:prstGeom prst="rect">
            <a:avLst/>
          </a:prstGeom>
          <a:noFill/>
          <a:ln/>
        </p:spPr>
        <p:txBody>
          <a:bodyPr wrap="square" lIns="0" tIns="0" rIns="0" bIns="0" rtlCol="0" anchor="ctr"/>
          <a:lstStyle/>
          <a:p>
            <a:pPr indent="0" marL="0">
              <a:buNone/>
            </a:pPr>
            <a:r>
              <a:rPr lang="en-US" sz="1900" dirty="0">
                <a:solidFill>
                  <a:srgbClr val="65708B"/>
                </a:solidFill>
                <a:latin typeface="DM Sans" pitchFamily="34" charset="0"/>
                <a:ea typeface="DM Sans" pitchFamily="34" charset="-122"/>
                <a:cs typeface="DM Sans" pitchFamily="34" charset="-120"/>
              </a:rPr>
              <a:t>Load receipts; receive new ones</a:t>
            </a:r>
            <a:endParaRPr lang="en-US" sz="1900" dirty="0"/>
          </a:p>
        </p:txBody>
      </p:sp>
      <p:sp>
        <p:nvSpPr>
          <p:cNvPr id="20" name="Shape 17"/>
          <p:cNvSpPr/>
          <p:nvPr/>
        </p:nvSpPr>
        <p:spPr>
          <a:xfrm>
            <a:off x="685800" y="4837176"/>
            <a:ext cx="10817352" cy="658368"/>
          </a:xfrm>
          <a:prstGeom prst="rect">
            <a:avLst/>
          </a:prstGeom>
          <a:solidFill>
            <a:srgbClr val="FFFFFF"/>
          </a:solidFill>
          <a:ln w="12700">
            <a:solidFill>
              <a:srgbClr val="FFFFFF">
                <a:alpha val="0"/>
              </a:srgbClr>
            </a:solidFill>
            <a:prstDash val="solid"/>
          </a:ln>
        </p:spPr>
      </p:sp>
      <p:sp>
        <p:nvSpPr>
          <p:cNvPr id="21" name="Text 18"/>
          <p:cNvSpPr/>
          <p:nvPr/>
        </p:nvSpPr>
        <p:spPr>
          <a:xfrm>
            <a:off x="832104" y="4910328"/>
            <a:ext cx="233172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Pruned history</a:t>
            </a:r>
            <a:endParaRPr lang="en-US" sz="1900" dirty="0"/>
          </a:p>
        </p:txBody>
      </p:sp>
      <p:sp>
        <p:nvSpPr>
          <p:cNvPr id="22" name="Text 19"/>
          <p:cNvSpPr/>
          <p:nvPr/>
        </p:nvSpPr>
        <p:spPr>
          <a:xfrm>
            <a:off x="3246120" y="4910328"/>
            <a:ext cx="361188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Archive / backed GraphQL</a:t>
            </a:r>
            <a:endParaRPr lang="en-US" sz="1900" dirty="0"/>
          </a:p>
        </p:txBody>
      </p:sp>
      <p:sp>
        <p:nvSpPr>
          <p:cNvPr id="23" name="Text 20"/>
          <p:cNvSpPr/>
          <p:nvPr/>
        </p:nvSpPr>
        <p:spPr>
          <a:xfrm>
            <a:off x="7040880" y="4910328"/>
            <a:ext cx="4279392" cy="530352"/>
          </a:xfrm>
          <a:prstGeom prst="rect">
            <a:avLst/>
          </a:prstGeom>
          <a:noFill/>
          <a:ln/>
        </p:spPr>
        <p:txBody>
          <a:bodyPr wrap="square" lIns="0" tIns="0" rIns="0" bIns="0" rtlCol="0" anchor="ctr"/>
          <a:lstStyle/>
          <a:p>
            <a:pPr indent="0" marL="0">
              <a:buNone/>
            </a:pPr>
            <a:r>
              <a:rPr lang="en-US" sz="1900" dirty="0">
                <a:solidFill>
                  <a:srgbClr val="65708B"/>
                </a:solidFill>
                <a:latin typeface="DM Sans" pitchFamily="34" charset="0"/>
                <a:ea typeface="DM Sans" pitchFamily="34" charset="-122"/>
                <a:cs typeface="DM Sans" pitchFamily="34" charset="-120"/>
              </a:rPr>
              <a:t>Find an old transaction by digest</a:t>
            </a:r>
            <a:endParaRPr lang="en-US" sz="1900" dirty="0"/>
          </a:p>
        </p:txBody>
      </p:sp>
      <p:sp>
        <p:nvSpPr>
          <p:cNvPr id="24" name="Shape 21"/>
          <p:cNvSpPr/>
          <p:nvPr/>
        </p:nvSpPr>
        <p:spPr>
          <a:xfrm>
            <a:off x="685800" y="5870448"/>
            <a:ext cx="10820400" cy="420624"/>
          </a:xfrm>
          <a:prstGeom prst="rect">
            <a:avLst/>
          </a:prstGeom>
          <a:solidFill>
            <a:srgbClr val="E8ECFF"/>
          </a:solidFill>
          <a:ln w="12700">
            <a:solidFill>
              <a:srgbClr val="E8ECFF">
                <a:alpha val="0"/>
              </a:srgbClr>
            </a:solidFill>
            <a:prstDash val="solid"/>
          </a:ln>
        </p:spPr>
      </p:sp>
      <p:sp>
        <p:nvSpPr>
          <p:cNvPr id="25" name="Text 22"/>
          <p:cNvSpPr/>
          <p:nvPr/>
        </p:nvSpPr>
        <p:spPr>
          <a:xfrm>
            <a:off x="832104" y="5925312"/>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July: Foundation mainnet shutoff   →   September: GraphQL subscriptions   →   Migrate each call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[ 1 / ARCHITECTURE + WORKLOAD CHOICES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Where each piece sits in the data stack.</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03 / 15</a:t>
            </a:r>
            <a:endParaRPr lang="en-US" sz="900" dirty="0"/>
          </a:p>
        </p:txBody>
      </p:sp>
      <p:sp>
        <p:nvSpPr>
          <p:cNvPr id="7" name="Shape 4"/>
          <p:cNvSpPr/>
          <p:nvPr/>
        </p:nvSpPr>
        <p:spPr>
          <a:xfrm>
            <a:off x="685800" y="2075688"/>
            <a:ext cx="2057400" cy="1920240"/>
          </a:xfrm>
          <a:prstGeom prst="rect">
            <a:avLst/>
          </a:prstGeom>
          <a:solidFill>
            <a:srgbClr val="FFFFFF"/>
          </a:solidFill>
          <a:ln w="12700">
            <a:solidFill>
              <a:srgbClr val="FFFFFF">
                <a:alpha val="0"/>
              </a:srgbClr>
            </a:solidFill>
            <a:prstDash val="solid"/>
          </a:ln>
        </p:spPr>
      </p:sp>
      <p:sp>
        <p:nvSpPr>
          <p:cNvPr id="8" name="Text 5"/>
          <p:cNvSpPr/>
          <p:nvPr/>
        </p:nvSpPr>
        <p:spPr>
          <a:xfrm>
            <a:off x="886968" y="2258568"/>
            <a:ext cx="165506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SOURCE</a:t>
            </a:r>
            <a:endParaRPr lang="en-US" sz="1000" dirty="0"/>
          </a:p>
        </p:txBody>
      </p:sp>
      <p:sp>
        <p:nvSpPr>
          <p:cNvPr id="9" name="Text 6"/>
          <p:cNvSpPr/>
          <p:nvPr/>
        </p:nvSpPr>
        <p:spPr>
          <a:xfrm>
            <a:off x="886968" y="2606040"/>
            <a:ext cx="1655064" cy="566928"/>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Sui</a:t>
            </a:r>
            <a:endParaRPr lang="en-US" sz="2200" dirty="0"/>
          </a:p>
        </p:txBody>
      </p:sp>
      <p:sp>
        <p:nvSpPr>
          <p:cNvPr id="10" name="Text 7"/>
          <p:cNvSpPr/>
          <p:nvPr/>
        </p:nvSpPr>
        <p:spPr>
          <a:xfrm>
            <a:off x="886968" y="3209544"/>
            <a:ext cx="1655064" cy="640080"/>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Finalized</a:t>
            </a:r>
            <a:endParaRPr lang="en-US" sz="1800" dirty="0"/>
          </a:p>
          <a:p>
            <a:pPr indent="0" marL="0">
              <a:buNone/>
            </a:pPr>
            <a:r>
              <a:rPr lang="en-US" sz="1800" dirty="0">
                <a:solidFill>
                  <a:srgbClr val="65708B"/>
                </a:solidFill>
                <a:latin typeface="DM Sans" pitchFamily="34" charset="0"/>
                <a:ea typeface="DM Sans" pitchFamily="34" charset="-122"/>
                <a:cs typeface="DM Sans" pitchFamily="34" charset="-120"/>
              </a:rPr>
              <a:t>checkpoints</a:t>
            </a:r>
            <a:endParaRPr lang="en-US" sz="1800" dirty="0"/>
          </a:p>
        </p:txBody>
      </p:sp>
      <p:sp>
        <p:nvSpPr>
          <p:cNvPr id="11" name="Shape 8"/>
          <p:cNvSpPr/>
          <p:nvPr/>
        </p:nvSpPr>
        <p:spPr>
          <a:xfrm>
            <a:off x="3182112" y="2075688"/>
            <a:ext cx="2788920" cy="1920240"/>
          </a:xfrm>
          <a:prstGeom prst="rect">
            <a:avLst/>
          </a:prstGeom>
          <a:solidFill>
            <a:srgbClr val="FFFFFF"/>
          </a:solidFill>
          <a:ln w="12700">
            <a:solidFill>
              <a:srgbClr val="FFFFFF">
                <a:alpha val="0"/>
              </a:srgbClr>
            </a:solidFill>
            <a:prstDash val="solid"/>
          </a:ln>
        </p:spPr>
      </p:sp>
      <p:sp>
        <p:nvSpPr>
          <p:cNvPr id="12" name="Text 9"/>
          <p:cNvSpPr/>
          <p:nvPr/>
        </p:nvSpPr>
        <p:spPr>
          <a:xfrm>
            <a:off x="3383280" y="2258568"/>
            <a:ext cx="238658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DATA SERVICES</a:t>
            </a:r>
            <a:endParaRPr lang="en-US" sz="1000" dirty="0"/>
          </a:p>
        </p:txBody>
      </p:sp>
      <p:sp>
        <p:nvSpPr>
          <p:cNvPr id="13" name="Text 10"/>
          <p:cNvSpPr/>
          <p:nvPr/>
        </p:nvSpPr>
        <p:spPr>
          <a:xfrm>
            <a:off x="3383280" y="2606040"/>
            <a:ext cx="2386584" cy="566928"/>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gRPC + archive</a:t>
            </a:r>
            <a:endParaRPr lang="en-US" sz="2200" dirty="0"/>
          </a:p>
        </p:txBody>
      </p:sp>
      <p:sp>
        <p:nvSpPr>
          <p:cNvPr id="14" name="Text 11"/>
          <p:cNvSpPr/>
          <p:nvPr/>
        </p:nvSpPr>
        <p:spPr>
          <a:xfrm>
            <a:off x="3383280" y="3209544"/>
            <a:ext cx="2386584" cy="640080"/>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Live data + retained history</a:t>
            </a:r>
            <a:endParaRPr lang="en-US" sz="1800" dirty="0"/>
          </a:p>
        </p:txBody>
      </p:sp>
      <p:sp>
        <p:nvSpPr>
          <p:cNvPr id="15" name="Shape 12"/>
          <p:cNvSpPr/>
          <p:nvPr/>
        </p:nvSpPr>
        <p:spPr>
          <a:xfrm>
            <a:off x="6400800" y="2075688"/>
            <a:ext cx="2377440" cy="1920240"/>
          </a:xfrm>
          <a:prstGeom prst="rect">
            <a:avLst/>
          </a:prstGeom>
          <a:solidFill>
            <a:srgbClr val="2338FF"/>
          </a:solidFill>
          <a:ln w="12700">
            <a:solidFill>
              <a:srgbClr val="2338FF">
                <a:alpha val="0"/>
              </a:srgbClr>
            </a:solidFill>
            <a:prstDash val="solid"/>
          </a:ln>
        </p:spPr>
      </p:sp>
      <p:sp>
        <p:nvSpPr>
          <p:cNvPr id="16" name="Text 13"/>
          <p:cNvSpPr/>
          <p:nvPr/>
        </p:nvSpPr>
        <p:spPr>
          <a:xfrm>
            <a:off x="6601968" y="2258568"/>
            <a:ext cx="1975104" cy="228600"/>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APP DATA VIEW</a:t>
            </a:r>
            <a:endParaRPr lang="en-US" sz="1000" dirty="0"/>
          </a:p>
        </p:txBody>
      </p:sp>
      <p:sp>
        <p:nvSpPr>
          <p:cNvPr id="17" name="Text 14"/>
          <p:cNvSpPr/>
          <p:nvPr/>
        </p:nvSpPr>
        <p:spPr>
          <a:xfrm>
            <a:off x="6601968" y="2606040"/>
            <a:ext cx="1975104" cy="566928"/>
          </a:xfrm>
          <a:prstGeom prst="rect">
            <a:avLst/>
          </a:prstGeom>
          <a:noFill/>
          <a:ln/>
        </p:spPr>
        <p:txBody>
          <a:bodyPr wrap="square" lIns="0" tIns="0" rIns="0" bIns="0" rtlCol="0" anchor="ctr"/>
          <a:lstStyle/>
          <a:p>
            <a:pPr indent="0" marL="0">
              <a:buNone/>
            </a:pPr>
            <a:r>
              <a:rPr lang="en-US" sz="2200" dirty="0">
                <a:solidFill>
                  <a:srgbClr val="FFFFFF"/>
                </a:solidFill>
                <a:latin typeface="DM Sans" pitchFamily="34" charset="0"/>
                <a:ea typeface="DM Sans" pitchFamily="34" charset="-122"/>
                <a:cs typeface="DM Sans" pitchFamily="34" charset="-120"/>
              </a:rPr>
              <a:t>GraphQL</a:t>
            </a:r>
            <a:endParaRPr lang="en-US" sz="2200" dirty="0"/>
          </a:p>
        </p:txBody>
      </p:sp>
      <p:sp>
        <p:nvSpPr>
          <p:cNvPr id="18" name="Text 15"/>
          <p:cNvSpPr/>
          <p:nvPr/>
        </p:nvSpPr>
        <p:spPr>
          <a:xfrm>
            <a:off x="6601968" y="3209544"/>
            <a:ext cx="1975104" cy="640080"/>
          </a:xfrm>
          <a:prstGeom prst="rect">
            <a:avLst/>
          </a:prstGeom>
          <a:noFill/>
          <a:ln/>
        </p:spPr>
        <p:txBody>
          <a:bodyPr wrap="square" lIns="0" tIns="0" rIns="0" bIns="0" rtlCol="0" anchor="t"/>
          <a:lstStyle/>
          <a:p>
            <a:pPr indent="0" marL="0">
              <a:buNone/>
            </a:pPr>
            <a:r>
              <a:rPr lang="en-US" sz="1800" dirty="0">
                <a:solidFill>
                  <a:srgbClr val="E4E9FF"/>
                </a:solidFill>
                <a:latin typeface="DM Sans" pitchFamily="34" charset="0"/>
                <a:ea typeface="DM Sans" pitchFamily="34" charset="-122"/>
                <a:cs typeface="DM Sans" pitchFamily="34" charset="-120"/>
              </a:rPr>
              <a:t>Filter · select · stream</a:t>
            </a:r>
            <a:endParaRPr lang="en-US" sz="1800" dirty="0"/>
          </a:p>
        </p:txBody>
      </p:sp>
      <p:sp>
        <p:nvSpPr>
          <p:cNvPr id="19" name="Shape 16"/>
          <p:cNvSpPr/>
          <p:nvPr/>
        </p:nvSpPr>
        <p:spPr>
          <a:xfrm>
            <a:off x="9208008" y="2075688"/>
            <a:ext cx="2286000" cy="1920240"/>
          </a:xfrm>
          <a:prstGeom prst="rect">
            <a:avLst/>
          </a:prstGeom>
          <a:solidFill>
            <a:srgbClr val="FFFFFF"/>
          </a:solidFill>
          <a:ln w="12700">
            <a:solidFill>
              <a:srgbClr val="FFFFFF">
                <a:alpha val="0"/>
              </a:srgbClr>
            </a:solidFill>
            <a:prstDash val="solid"/>
          </a:ln>
        </p:spPr>
      </p:sp>
      <p:sp>
        <p:nvSpPr>
          <p:cNvPr id="20" name="Text 17"/>
          <p:cNvSpPr/>
          <p:nvPr/>
        </p:nvSpPr>
        <p:spPr>
          <a:xfrm>
            <a:off x="9409176" y="2258568"/>
            <a:ext cx="188366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CONSUMER</a:t>
            </a:r>
            <a:endParaRPr lang="en-US" sz="1000" dirty="0"/>
          </a:p>
        </p:txBody>
      </p:sp>
      <p:sp>
        <p:nvSpPr>
          <p:cNvPr id="21" name="Text 18"/>
          <p:cNvSpPr/>
          <p:nvPr/>
        </p:nvSpPr>
        <p:spPr>
          <a:xfrm>
            <a:off x="9409176" y="2606040"/>
            <a:ext cx="1883664" cy="566928"/>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Your app</a:t>
            </a:r>
            <a:endParaRPr lang="en-US" sz="2200" dirty="0"/>
          </a:p>
        </p:txBody>
      </p:sp>
      <p:sp>
        <p:nvSpPr>
          <p:cNvPr id="22" name="Text 19"/>
          <p:cNvSpPr/>
          <p:nvPr/>
        </p:nvSpPr>
        <p:spPr>
          <a:xfrm>
            <a:off x="9409176" y="3209544"/>
            <a:ext cx="1883664" cy="640080"/>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Screen or small DB writer</a:t>
            </a:r>
            <a:endParaRPr lang="en-US" sz="1800" dirty="0"/>
          </a:p>
        </p:txBody>
      </p:sp>
      <p:sp>
        <p:nvSpPr>
          <p:cNvPr id="23" name="Text 20"/>
          <p:cNvSpPr/>
          <p:nvPr/>
        </p:nvSpPr>
        <p:spPr>
          <a:xfrm>
            <a:off x="2802636" y="27889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24" name="Text 21"/>
          <p:cNvSpPr/>
          <p:nvPr/>
        </p:nvSpPr>
        <p:spPr>
          <a:xfrm>
            <a:off x="6025896" y="27889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25" name="Text 22"/>
          <p:cNvSpPr/>
          <p:nvPr/>
        </p:nvSpPr>
        <p:spPr>
          <a:xfrm>
            <a:off x="8833104" y="27889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26" name="Text 23"/>
          <p:cNvSpPr/>
          <p:nvPr/>
        </p:nvSpPr>
        <p:spPr>
          <a:xfrm>
            <a:off x="685800" y="4270248"/>
            <a:ext cx="19202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OWNED PIPELINE</a:t>
            </a:r>
            <a:endParaRPr lang="en-US" sz="1000" dirty="0"/>
          </a:p>
        </p:txBody>
      </p:sp>
      <p:sp>
        <p:nvSpPr>
          <p:cNvPr id="27" name="Text 24"/>
          <p:cNvSpPr/>
          <p:nvPr/>
        </p:nvSpPr>
        <p:spPr>
          <a:xfrm>
            <a:off x="2761488" y="4178808"/>
            <a:ext cx="8723376" cy="457200"/>
          </a:xfrm>
          <a:prstGeom prst="rect">
            <a:avLst/>
          </a:prstGeom>
          <a:noFill/>
          <a:ln/>
        </p:spPr>
        <p:txBody>
          <a:bodyPr wrap="square" lIns="0" tIns="0" rIns="0" bIns="0" rtlCol="0" anchor="ctr"/>
          <a:lstStyle/>
          <a:p>
            <a:pPr indent="0" marL="0">
              <a:buNone/>
            </a:pPr>
            <a:r>
              <a:rPr lang="en-US" sz="1800" dirty="0">
                <a:solidFill>
                  <a:srgbClr val="131725"/>
                </a:solidFill>
                <a:latin typeface="DM Sans" pitchFamily="34" charset="0"/>
                <a:ea typeface="DM Sans" pitchFamily="34" charset="-122"/>
                <a:cs typeface="DM Sans" pitchFamily="34" charset="-120"/>
              </a:rPr>
              <a:t>Checkpoint data   →   Rust indexing framework   →   Your schema + database</a:t>
            </a:r>
            <a:endParaRPr lang="en-US" sz="1800" dirty="0"/>
          </a:p>
        </p:txBody>
      </p:sp>
      <p:sp>
        <p:nvSpPr>
          <p:cNvPr id="28" name="Shape 25"/>
          <p:cNvSpPr/>
          <p:nvPr/>
        </p:nvSpPr>
        <p:spPr>
          <a:xfrm>
            <a:off x="685800" y="4882896"/>
            <a:ext cx="10817352" cy="896112"/>
          </a:xfrm>
          <a:prstGeom prst="rect">
            <a:avLst/>
          </a:prstGeom>
          <a:solidFill>
            <a:srgbClr val="FFFFFF"/>
          </a:solidFill>
          <a:ln w="12700">
            <a:solidFill>
              <a:srgbClr val="FFFFFF">
                <a:alpha val="0"/>
              </a:srgbClr>
            </a:solidFill>
            <a:prstDash val="solid"/>
          </a:ln>
        </p:spPr>
      </p:sp>
      <p:sp>
        <p:nvSpPr>
          <p:cNvPr id="29" name="Text 26"/>
          <p:cNvSpPr/>
          <p:nvPr/>
        </p:nvSpPr>
        <p:spPr>
          <a:xfrm>
            <a:off x="868680" y="4983480"/>
            <a:ext cx="10424160" cy="694944"/>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Wallet: state + activity     Shop: filtered receipts</a:t>
            </a:r>
            <a:endParaRPr lang="en-US" sz="2000" dirty="0"/>
          </a:p>
          <a:p>
            <a:pPr indent="0" marL="0">
              <a:buNone/>
            </a:pPr>
            <a:r>
              <a:rPr lang="en-US" sz="2000" dirty="0">
                <a:solidFill>
                  <a:srgbClr val="131725"/>
                </a:solidFill>
                <a:latin typeface="DM Sans" pitchFamily="34" charset="0"/>
                <a:ea typeface="DM Sans" pitchFamily="34" charset="-122"/>
                <a:cs typeface="DM Sans" pitchFamily="34" charset="-120"/>
              </a:rPr>
              <a:t>Game: actions + domain events     Analytics: custom checkpoint processing</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THE ANNOUNCED BUILD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Till: follow one payment all the way through.</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04 / 15</a:t>
            </a:r>
            <a:endParaRPr lang="en-US" sz="900" dirty="0"/>
          </a:p>
        </p:txBody>
      </p:sp>
      <p:sp>
        <p:nvSpPr>
          <p:cNvPr id="7" name="Shape 4"/>
          <p:cNvSpPr/>
          <p:nvPr/>
        </p:nvSpPr>
        <p:spPr>
          <a:xfrm>
            <a:off x="685800" y="2194560"/>
            <a:ext cx="2523744" cy="2487168"/>
          </a:xfrm>
          <a:prstGeom prst="rect">
            <a:avLst/>
          </a:prstGeom>
          <a:solidFill>
            <a:srgbClr val="FFFFFF"/>
          </a:solidFill>
          <a:ln w="12700">
            <a:solidFill>
              <a:srgbClr val="FFFFFF">
                <a:alpha val="0"/>
              </a:srgbClr>
            </a:solidFill>
            <a:prstDash val="solid"/>
          </a:ln>
        </p:spPr>
      </p:sp>
      <p:sp>
        <p:nvSpPr>
          <p:cNvPr id="8" name="Text 5"/>
          <p:cNvSpPr/>
          <p:nvPr/>
        </p:nvSpPr>
        <p:spPr>
          <a:xfrm>
            <a:off x="886968" y="2377440"/>
            <a:ext cx="2121408"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CUSTOMER</a:t>
            </a:r>
            <a:endParaRPr lang="en-US" sz="1000" dirty="0"/>
          </a:p>
        </p:txBody>
      </p:sp>
      <p:sp>
        <p:nvSpPr>
          <p:cNvPr id="9" name="Text 6"/>
          <p:cNvSpPr/>
          <p:nvPr/>
        </p:nvSpPr>
        <p:spPr>
          <a:xfrm>
            <a:off x="886968" y="2779776"/>
            <a:ext cx="2121408" cy="841248"/>
          </a:xfrm>
          <a:prstGeom prst="rect">
            <a:avLst/>
          </a:prstGeom>
          <a:noFill/>
          <a:ln/>
        </p:spPr>
        <p:txBody>
          <a:bodyPr wrap="square" lIns="0" tIns="0" rIns="0" bIns="0" rtlCol="0" anchor="ctr"/>
          <a:lstStyle/>
          <a:p>
            <a:pPr indent="0" marL="0">
              <a:buNone/>
            </a:pPr>
            <a:r>
              <a:rPr lang="en-US" sz="2400" dirty="0">
                <a:solidFill>
                  <a:srgbClr val="131725"/>
                </a:solidFill>
                <a:latin typeface="DM Sans" pitchFamily="34" charset="0"/>
                <a:ea typeface="DM Sans" pitchFamily="34" charset="-122"/>
                <a:cs typeface="DM Sans" pitchFamily="34" charset="-120"/>
              </a:rPr>
              <a:t>Send 1 USDC</a:t>
            </a:r>
            <a:endParaRPr lang="en-US" sz="2400" dirty="0"/>
          </a:p>
        </p:txBody>
      </p:sp>
      <p:sp>
        <p:nvSpPr>
          <p:cNvPr id="10" name="Text 7"/>
          <p:cNvSpPr/>
          <p:nvPr/>
        </p:nvSpPr>
        <p:spPr>
          <a:xfrm>
            <a:off x="886968" y="3739896"/>
            <a:ext cx="2121408" cy="758952"/>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Pays SUI gas</a:t>
            </a:r>
            <a:endParaRPr lang="en-US" sz="1800" dirty="0"/>
          </a:p>
        </p:txBody>
      </p:sp>
      <p:sp>
        <p:nvSpPr>
          <p:cNvPr id="11" name="Text 8"/>
          <p:cNvSpPr/>
          <p:nvPr/>
        </p:nvSpPr>
        <p:spPr>
          <a:xfrm>
            <a:off x="3168396" y="3081528"/>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2" name="Shape 9"/>
          <p:cNvSpPr/>
          <p:nvPr/>
        </p:nvSpPr>
        <p:spPr>
          <a:xfrm>
            <a:off x="3447288" y="2194560"/>
            <a:ext cx="2523744" cy="2487168"/>
          </a:xfrm>
          <a:prstGeom prst="rect">
            <a:avLst/>
          </a:prstGeom>
          <a:solidFill>
            <a:srgbClr val="FFFFFF"/>
          </a:solidFill>
          <a:ln w="12700">
            <a:solidFill>
              <a:srgbClr val="FFFFFF">
                <a:alpha val="0"/>
              </a:srgbClr>
            </a:solidFill>
            <a:prstDash val="solid"/>
          </a:ln>
        </p:spPr>
      </p:sp>
      <p:sp>
        <p:nvSpPr>
          <p:cNvPr id="13" name="Text 10"/>
          <p:cNvSpPr/>
          <p:nvPr/>
        </p:nvSpPr>
        <p:spPr>
          <a:xfrm>
            <a:off x="3648456" y="2377440"/>
            <a:ext cx="2121408"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CHAIN</a:t>
            </a:r>
            <a:endParaRPr lang="en-US" sz="1000" dirty="0"/>
          </a:p>
        </p:txBody>
      </p:sp>
      <p:sp>
        <p:nvSpPr>
          <p:cNvPr id="14" name="Text 11"/>
          <p:cNvSpPr/>
          <p:nvPr/>
        </p:nvSpPr>
        <p:spPr>
          <a:xfrm>
            <a:off x="3648456" y="2779776"/>
            <a:ext cx="2121408" cy="841248"/>
          </a:xfrm>
          <a:prstGeom prst="rect">
            <a:avLst/>
          </a:prstGeom>
          <a:noFill/>
          <a:ln/>
        </p:spPr>
        <p:txBody>
          <a:bodyPr wrap="square" lIns="0" tIns="0" rIns="0" bIns="0" rtlCol="0" anchor="ctr"/>
          <a:lstStyle/>
          <a:p>
            <a:pPr indent="0" marL="0">
              <a:buNone/>
            </a:pPr>
            <a:r>
              <a:rPr lang="en-US" sz="2400" dirty="0">
                <a:solidFill>
                  <a:srgbClr val="131725"/>
                </a:solidFill>
                <a:latin typeface="DM Sans" pitchFamily="34" charset="0"/>
                <a:ea typeface="DM Sans" pitchFamily="34" charset="-122"/>
                <a:cs typeface="DM Sans" pitchFamily="34" charset="-120"/>
              </a:rPr>
              <a:t>Payment finalizes</a:t>
            </a:r>
            <a:endParaRPr lang="en-US" sz="2400" dirty="0"/>
          </a:p>
        </p:txBody>
      </p:sp>
      <p:sp>
        <p:nvSpPr>
          <p:cNvPr id="15" name="Text 12"/>
          <p:cNvSpPr/>
          <p:nvPr/>
        </p:nvSpPr>
        <p:spPr>
          <a:xfrm>
            <a:off x="3648456" y="3739896"/>
            <a:ext cx="2121408" cy="758952"/>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Shop gains 1 USDC</a:t>
            </a:r>
            <a:endParaRPr lang="en-US" sz="1800" dirty="0"/>
          </a:p>
        </p:txBody>
      </p:sp>
      <p:sp>
        <p:nvSpPr>
          <p:cNvPr id="16" name="Text 13"/>
          <p:cNvSpPr/>
          <p:nvPr/>
        </p:nvSpPr>
        <p:spPr>
          <a:xfrm>
            <a:off x="5929884" y="3081528"/>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7" name="Shape 14"/>
          <p:cNvSpPr/>
          <p:nvPr/>
        </p:nvSpPr>
        <p:spPr>
          <a:xfrm>
            <a:off x="6208776" y="2194560"/>
            <a:ext cx="2523744" cy="2487168"/>
          </a:xfrm>
          <a:prstGeom prst="rect">
            <a:avLst/>
          </a:prstGeom>
          <a:solidFill>
            <a:srgbClr val="2338FF"/>
          </a:solidFill>
          <a:ln w="12700">
            <a:solidFill>
              <a:srgbClr val="2338FF">
                <a:alpha val="0"/>
              </a:srgbClr>
            </a:solidFill>
            <a:prstDash val="solid"/>
          </a:ln>
        </p:spPr>
      </p:sp>
      <p:sp>
        <p:nvSpPr>
          <p:cNvPr id="18" name="Text 15"/>
          <p:cNvSpPr/>
          <p:nvPr/>
        </p:nvSpPr>
        <p:spPr>
          <a:xfrm>
            <a:off x="6409944" y="2377440"/>
            <a:ext cx="2121408" cy="228600"/>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LIVE SCREEN</a:t>
            </a:r>
            <a:endParaRPr lang="en-US" sz="1000" dirty="0"/>
          </a:p>
        </p:txBody>
      </p:sp>
      <p:sp>
        <p:nvSpPr>
          <p:cNvPr id="19" name="Text 16"/>
          <p:cNvSpPr/>
          <p:nvPr/>
        </p:nvSpPr>
        <p:spPr>
          <a:xfrm>
            <a:off x="6409944" y="2779776"/>
            <a:ext cx="2121408" cy="841248"/>
          </a:xfrm>
          <a:prstGeom prst="rect">
            <a:avLst/>
          </a:prstGeom>
          <a:noFill/>
          <a:ln/>
        </p:spPr>
        <p:txBody>
          <a:bodyPr wrap="square" lIns="0" tIns="0" rIns="0" bIns="0" rtlCol="0" anchor="ctr"/>
          <a:lstStyle/>
          <a:p>
            <a:pPr indent="0" marL="0">
              <a:buNone/>
            </a:pPr>
            <a:r>
              <a:rPr lang="en-US" sz="2400" dirty="0">
                <a:solidFill>
                  <a:srgbClr val="FFFFFF"/>
                </a:solidFill>
                <a:latin typeface="DM Sans" pitchFamily="34" charset="0"/>
                <a:ea typeface="DM Sans" pitchFamily="34" charset="-122"/>
                <a:cs typeface="DM Sans" pitchFamily="34" charset="-120"/>
              </a:rPr>
              <a:t>Receipt + chime</a:t>
            </a:r>
            <a:endParaRPr lang="en-US" sz="2400" dirty="0"/>
          </a:p>
        </p:txBody>
      </p:sp>
      <p:sp>
        <p:nvSpPr>
          <p:cNvPr id="20" name="Text 17"/>
          <p:cNvSpPr/>
          <p:nvPr/>
        </p:nvSpPr>
        <p:spPr>
          <a:xfrm>
            <a:off x="6409944" y="3739896"/>
            <a:ext cx="2121408" cy="758952"/>
          </a:xfrm>
          <a:prstGeom prst="rect">
            <a:avLst/>
          </a:prstGeom>
          <a:noFill/>
          <a:ln/>
        </p:spPr>
        <p:txBody>
          <a:bodyPr wrap="square" lIns="0" tIns="0" rIns="0" bIns="0" rtlCol="0" anchor="t"/>
          <a:lstStyle/>
          <a:p>
            <a:pPr indent="0" marL="0">
              <a:buNone/>
            </a:pPr>
            <a:r>
              <a:rPr lang="en-US" sz="1800" dirty="0">
                <a:solidFill>
                  <a:srgbClr val="E4E9FF"/>
                </a:solidFill>
                <a:latin typeface="DM Sans" pitchFamily="34" charset="0"/>
                <a:ea typeface="DM Sans" pitchFamily="34" charset="-122"/>
                <a:cs typeface="DM Sans" pitchFamily="34" charset="-120"/>
              </a:rPr>
              <a:t>Receives the delivery</a:t>
            </a:r>
            <a:endParaRPr lang="en-US" sz="1800" dirty="0"/>
          </a:p>
        </p:txBody>
      </p:sp>
      <p:sp>
        <p:nvSpPr>
          <p:cNvPr id="21" name="Text 18"/>
          <p:cNvSpPr/>
          <p:nvPr/>
        </p:nvSpPr>
        <p:spPr>
          <a:xfrm>
            <a:off x="8691372" y="3081528"/>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22" name="Shape 19"/>
          <p:cNvSpPr/>
          <p:nvPr/>
        </p:nvSpPr>
        <p:spPr>
          <a:xfrm>
            <a:off x="8970264" y="2194560"/>
            <a:ext cx="2523744" cy="2487168"/>
          </a:xfrm>
          <a:prstGeom prst="rect">
            <a:avLst/>
          </a:prstGeom>
          <a:solidFill>
            <a:srgbClr val="FFFFFF"/>
          </a:solidFill>
          <a:ln w="12700">
            <a:solidFill>
              <a:srgbClr val="FFFFFF">
                <a:alpha val="0"/>
              </a:srgbClr>
            </a:solidFill>
            <a:prstDash val="solid"/>
          </a:ln>
        </p:spPr>
      </p:sp>
      <p:sp>
        <p:nvSpPr>
          <p:cNvPr id="23" name="Text 20"/>
          <p:cNvSpPr/>
          <p:nvPr/>
        </p:nvSpPr>
        <p:spPr>
          <a:xfrm>
            <a:off x="9171432" y="2377440"/>
            <a:ext cx="2121408"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DURABLE LEDGER</a:t>
            </a:r>
            <a:endParaRPr lang="en-US" sz="1000" dirty="0"/>
          </a:p>
        </p:txBody>
      </p:sp>
      <p:sp>
        <p:nvSpPr>
          <p:cNvPr id="24" name="Text 21"/>
          <p:cNvSpPr/>
          <p:nvPr/>
        </p:nvSpPr>
        <p:spPr>
          <a:xfrm>
            <a:off x="9171432" y="2779776"/>
            <a:ext cx="2121408" cy="841248"/>
          </a:xfrm>
          <a:prstGeom prst="rect">
            <a:avLst/>
          </a:prstGeom>
          <a:noFill/>
          <a:ln/>
        </p:spPr>
        <p:txBody>
          <a:bodyPr wrap="square" lIns="0" tIns="0" rIns="0" bIns="0" rtlCol="0" anchor="ctr"/>
          <a:lstStyle/>
          <a:p>
            <a:pPr indent="0" marL="0">
              <a:buNone/>
            </a:pPr>
            <a:r>
              <a:rPr lang="en-US" sz="2400" dirty="0">
                <a:solidFill>
                  <a:srgbClr val="131725"/>
                </a:solidFill>
                <a:latin typeface="DM Sans" pitchFamily="34" charset="0"/>
                <a:ea typeface="DM Sans" pitchFamily="34" charset="-122"/>
                <a:cs typeface="DM Sans" pitchFamily="34" charset="-120"/>
              </a:rPr>
              <a:t>Save + total</a:t>
            </a:r>
            <a:endParaRPr lang="en-US" sz="2400" dirty="0"/>
          </a:p>
        </p:txBody>
      </p:sp>
      <p:sp>
        <p:nvSpPr>
          <p:cNvPr id="25" name="Text 22"/>
          <p:cNvSpPr/>
          <p:nvPr/>
        </p:nvSpPr>
        <p:spPr>
          <a:xfrm>
            <a:off x="9171432" y="3739896"/>
            <a:ext cx="2121408" cy="758952"/>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Keep the receipt</a:t>
            </a:r>
            <a:endParaRPr lang="en-US" sz="1800" dirty="0"/>
          </a:p>
        </p:txBody>
      </p:sp>
      <p:sp>
        <p:nvSpPr>
          <p:cNvPr id="26" name="Text 23"/>
          <p:cNvSpPr/>
          <p:nvPr/>
        </p:nvSpPr>
        <p:spPr>
          <a:xfrm>
            <a:off x="685800" y="5074920"/>
            <a:ext cx="10789920" cy="594360"/>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Then disconnect, recover, total the day and look up an old receipt.</a:t>
            </a:r>
            <a:endParaRPr lang="en-US" sz="2200" dirty="0"/>
          </a:p>
        </p:txBody>
      </p:sp>
      <p:sp>
        <p:nvSpPr>
          <p:cNvPr id="27" name="Shape 24"/>
          <p:cNvSpPr/>
          <p:nvPr/>
        </p:nvSpPr>
        <p:spPr>
          <a:xfrm>
            <a:off x="685800" y="5870448"/>
            <a:ext cx="10820400" cy="420624"/>
          </a:xfrm>
          <a:prstGeom prst="rect">
            <a:avLst/>
          </a:prstGeom>
          <a:solidFill>
            <a:srgbClr val="FFF0DA"/>
          </a:solidFill>
          <a:ln w="12700">
            <a:solidFill>
              <a:srgbClr val="FFF0DA">
                <a:alpha val="0"/>
              </a:srgbClr>
            </a:solidFill>
            <a:prstDash val="solid"/>
          </a:ln>
        </p:spPr>
      </p:sp>
      <p:sp>
        <p:nvSpPr>
          <p:cNvPr id="28" name="Text 25"/>
          <p:cNvSpPr/>
          <p:nvPr/>
        </p:nvSpPr>
        <p:spPr>
          <a:xfrm>
            <a:off x="832104" y="5925312"/>
            <a:ext cx="10527792" cy="310896"/>
          </a:xfrm>
          <a:prstGeom prst="rect">
            <a:avLst/>
          </a:prstGeom>
          <a:noFill/>
          <a:ln/>
        </p:spPr>
        <p:txBody>
          <a:bodyPr wrap="square" lIns="0" tIns="0" rIns="0" bIns="0" rtlCol="0" anchor="ctr"/>
          <a:lstStyle/>
          <a:p>
            <a:pPr indent="0" marL="0">
              <a:buNone/>
            </a:pPr>
            <a:r>
              <a:rPr lang="en-US" sz="1500" dirty="0">
                <a:solidFill>
                  <a:srgbClr val="89551C"/>
                </a:solidFill>
                <a:latin typeface="DM Sans" pitchFamily="34" charset="0"/>
                <a:ea typeface="DM Sans" pitchFamily="34" charset="-122"/>
                <a:cs typeface="DM Sans" pitchFamily="34" charset="-120"/>
              </a:rPr>
              <a:t>Target: USDC. Current live app: SUI verified; a funded USDC walkthrough is still pending.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TRANSACTIONS VS EVENTS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Filter for the activity your app needs.</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05 / 15</a:t>
            </a:r>
            <a:endParaRPr lang="en-US" sz="900" dirty="0"/>
          </a:p>
        </p:txBody>
      </p:sp>
      <p:sp>
        <p:nvSpPr>
          <p:cNvPr id="7" name="Shape 4"/>
          <p:cNvSpPr/>
          <p:nvPr/>
        </p:nvSpPr>
        <p:spPr>
          <a:xfrm>
            <a:off x="685800" y="2057400"/>
            <a:ext cx="10817352" cy="429768"/>
          </a:xfrm>
          <a:prstGeom prst="rect">
            <a:avLst/>
          </a:prstGeom>
          <a:solidFill>
            <a:srgbClr val="2338FF"/>
          </a:solidFill>
          <a:ln w="12700">
            <a:solidFill>
              <a:srgbClr val="2338FF">
                <a:alpha val="0"/>
              </a:srgbClr>
            </a:solidFill>
            <a:prstDash val="solid"/>
          </a:ln>
        </p:spPr>
      </p:sp>
      <p:sp>
        <p:nvSpPr>
          <p:cNvPr id="8" name="Text 5"/>
          <p:cNvSpPr/>
          <p:nvPr/>
        </p:nvSpPr>
        <p:spPr>
          <a:xfrm>
            <a:off x="832104" y="2130552"/>
            <a:ext cx="1920240" cy="301752"/>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STREAM</a:t>
            </a:r>
            <a:endParaRPr lang="en-US" sz="1700" dirty="0"/>
          </a:p>
        </p:txBody>
      </p:sp>
      <p:sp>
        <p:nvSpPr>
          <p:cNvPr id="9" name="Text 6"/>
          <p:cNvSpPr/>
          <p:nvPr/>
        </p:nvSpPr>
        <p:spPr>
          <a:xfrm>
            <a:off x="2834640" y="2130552"/>
            <a:ext cx="2468880" cy="301752"/>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FILTER</a:t>
            </a:r>
            <a:endParaRPr lang="en-US" sz="1700" dirty="0"/>
          </a:p>
        </p:txBody>
      </p:sp>
      <p:sp>
        <p:nvSpPr>
          <p:cNvPr id="10" name="Text 7"/>
          <p:cNvSpPr/>
          <p:nvPr/>
        </p:nvSpPr>
        <p:spPr>
          <a:xfrm>
            <a:off x="5486400" y="2130552"/>
            <a:ext cx="5833872" cy="301752"/>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EXAMPLE USE</a:t>
            </a:r>
            <a:endParaRPr lang="en-US" sz="1700" dirty="0"/>
          </a:p>
        </p:txBody>
      </p:sp>
      <p:sp>
        <p:nvSpPr>
          <p:cNvPr id="11" name="Shape 8"/>
          <p:cNvSpPr/>
          <p:nvPr/>
        </p:nvSpPr>
        <p:spPr>
          <a:xfrm>
            <a:off x="685800" y="2542032"/>
            <a:ext cx="10817352" cy="429768"/>
          </a:xfrm>
          <a:prstGeom prst="rect">
            <a:avLst/>
          </a:prstGeom>
          <a:solidFill>
            <a:srgbClr val="FFFFFF"/>
          </a:solidFill>
          <a:ln w="12700">
            <a:solidFill>
              <a:srgbClr val="FFFFFF">
                <a:alpha val="0"/>
              </a:srgbClr>
            </a:solidFill>
            <a:prstDash val="solid"/>
          </a:ln>
        </p:spPr>
      </p:sp>
      <p:sp>
        <p:nvSpPr>
          <p:cNvPr id="12" name="Text 9"/>
          <p:cNvSpPr/>
          <p:nvPr/>
        </p:nvSpPr>
        <p:spPr>
          <a:xfrm>
            <a:off x="832104" y="2615184"/>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transactions</a:t>
            </a:r>
            <a:endParaRPr lang="en-US" sz="1700" dirty="0"/>
          </a:p>
        </p:txBody>
      </p:sp>
      <p:sp>
        <p:nvSpPr>
          <p:cNvPr id="13" name="Text 10"/>
          <p:cNvSpPr/>
          <p:nvPr/>
        </p:nvSpPr>
        <p:spPr>
          <a:xfrm>
            <a:off x="2834640" y="2615184"/>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affectedAddress</a:t>
            </a:r>
            <a:endParaRPr lang="en-US" sz="1700" dirty="0"/>
          </a:p>
        </p:txBody>
      </p:sp>
      <p:sp>
        <p:nvSpPr>
          <p:cNvPr id="14" name="Text 11"/>
          <p:cNvSpPr/>
          <p:nvPr/>
        </p:nvSpPr>
        <p:spPr>
          <a:xfrm>
            <a:off x="5486400" y="2615184"/>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Any transaction touching this shop</a:t>
            </a:r>
            <a:endParaRPr lang="en-US" sz="1700" dirty="0"/>
          </a:p>
        </p:txBody>
      </p:sp>
      <p:sp>
        <p:nvSpPr>
          <p:cNvPr id="15" name="Shape 12"/>
          <p:cNvSpPr/>
          <p:nvPr/>
        </p:nvSpPr>
        <p:spPr>
          <a:xfrm>
            <a:off x="685800" y="3026664"/>
            <a:ext cx="10817352" cy="429768"/>
          </a:xfrm>
          <a:prstGeom prst="rect">
            <a:avLst/>
          </a:prstGeom>
          <a:solidFill>
            <a:srgbClr val="E8ECFF"/>
          </a:solidFill>
          <a:ln w="12700">
            <a:solidFill>
              <a:srgbClr val="E8ECFF">
                <a:alpha val="0"/>
              </a:srgbClr>
            </a:solidFill>
            <a:prstDash val="solid"/>
          </a:ln>
        </p:spPr>
      </p:sp>
      <p:sp>
        <p:nvSpPr>
          <p:cNvPr id="16" name="Text 13"/>
          <p:cNvSpPr/>
          <p:nvPr/>
        </p:nvSpPr>
        <p:spPr>
          <a:xfrm>
            <a:off x="832104" y="3099816"/>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transactions</a:t>
            </a:r>
            <a:endParaRPr lang="en-US" sz="1700" dirty="0"/>
          </a:p>
        </p:txBody>
      </p:sp>
      <p:sp>
        <p:nvSpPr>
          <p:cNvPr id="17" name="Text 14"/>
          <p:cNvSpPr/>
          <p:nvPr/>
        </p:nvSpPr>
        <p:spPr>
          <a:xfrm>
            <a:off x="2834640" y="3099816"/>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affectedObject</a:t>
            </a:r>
            <a:endParaRPr lang="en-US" sz="1700" dirty="0"/>
          </a:p>
        </p:txBody>
      </p:sp>
      <p:sp>
        <p:nvSpPr>
          <p:cNvPr id="18" name="Text 15"/>
          <p:cNvSpPr/>
          <p:nvPr/>
        </p:nvSpPr>
        <p:spPr>
          <a:xfrm>
            <a:off x="5486400" y="3099816"/>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Activity involving a game object</a:t>
            </a:r>
            <a:endParaRPr lang="en-US" sz="1700" dirty="0"/>
          </a:p>
        </p:txBody>
      </p:sp>
      <p:sp>
        <p:nvSpPr>
          <p:cNvPr id="19" name="Shape 16"/>
          <p:cNvSpPr/>
          <p:nvPr/>
        </p:nvSpPr>
        <p:spPr>
          <a:xfrm>
            <a:off x="685800" y="3511296"/>
            <a:ext cx="10817352" cy="429768"/>
          </a:xfrm>
          <a:prstGeom prst="rect">
            <a:avLst/>
          </a:prstGeom>
          <a:solidFill>
            <a:srgbClr val="FFFFFF"/>
          </a:solidFill>
          <a:ln w="12700">
            <a:solidFill>
              <a:srgbClr val="FFFFFF">
                <a:alpha val="0"/>
              </a:srgbClr>
            </a:solidFill>
            <a:prstDash val="solid"/>
          </a:ln>
        </p:spPr>
      </p:sp>
      <p:sp>
        <p:nvSpPr>
          <p:cNvPr id="20" name="Text 17"/>
          <p:cNvSpPr/>
          <p:nvPr/>
        </p:nvSpPr>
        <p:spPr>
          <a:xfrm>
            <a:off x="832104" y="3584448"/>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transactions</a:t>
            </a:r>
            <a:endParaRPr lang="en-US" sz="1700" dirty="0"/>
          </a:p>
        </p:txBody>
      </p:sp>
      <p:sp>
        <p:nvSpPr>
          <p:cNvPr id="21" name="Text 18"/>
          <p:cNvSpPr/>
          <p:nvPr/>
        </p:nvSpPr>
        <p:spPr>
          <a:xfrm>
            <a:off x="2834640" y="3584448"/>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function</a:t>
            </a:r>
            <a:endParaRPr lang="en-US" sz="1700" dirty="0"/>
          </a:p>
        </p:txBody>
      </p:sp>
      <p:sp>
        <p:nvSpPr>
          <p:cNvPr id="22" name="Text 19"/>
          <p:cNvSpPr/>
          <p:nvPr/>
        </p:nvSpPr>
        <p:spPr>
          <a:xfrm>
            <a:off x="5486400" y="3584448"/>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Calls to a Move package / module / function</a:t>
            </a:r>
            <a:endParaRPr lang="en-US" sz="1700" dirty="0"/>
          </a:p>
        </p:txBody>
      </p:sp>
      <p:sp>
        <p:nvSpPr>
          <p:cNvPr id="23" name="Shape 20"/>
          <p:cNvSpPr/>
          <p:nvPr/>
        </p:nvSpPr>
        <p:spPr>
          <a:xfrm>
            <a:off x="685800" y="3995928"/>
            <a:ext cx="10817352" cy="429768"/>
          </a:xfrm>
          <a:prstGeom prst="rect">
            <a:avLst/>
          </a:prstGeom>
          <a:solidFill>
            <a:srgbClr val="E8ECFF"/>
          </a:solidFill>
          <a:ln w="12700">
            <a:solidFill>
              <a:srgbClr val="E8ECFF">
                <a:alpha val="0"/>
              </a:srgbClr>
            </a:solidFill>
            <a:prstDash val="solid"/>
          </a:ln>
        </p:spPr>
      </p:sp>
      <p:sp>
        <p:nvSpPr>
          <p:cNvPr id="24" name="Text 21"/>
          <p:cNvSpPr/>
          <p:nvPr/>
        </p:nvSpPr>
        <p:spPr>
          <a:xfrm>
            <a:off x="832104" y="4069080"/>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events</a:t>
            </a:r>
            <a:endParaRPr lang="en-US" sz="1700" dirty="0"/>
          </a:p>
        </p:txBody>
      </p:sp>
      <p:sp>
        <p:nvSpPr>
          <p:cNvPr id="25" name="Text 22"/>
          <p:cNvSpPr/>
          <p:nvPr/>
        </p:nvSpPr>
        <p:spPr>
          <a:xfrm>
            <a:off x="2834640" y="4069080"/>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sender</a:t>
            </a:r>
            <a:endParaRPr lang="en-US" sz="1700" dirty="0"/>
          </a:p>
        </p:txBody>
      </p:sp>
      <p:sp>
        <p:nvSpPr>
          <p:cNvPr id="26" name="Text 23"/>
          <p:cNvSpPr/>
          <p:nvPr/>
        </p:nvSpPr>
        <p:spPr>
          <a:xfrm>
            <a:off x="5486400" y="4069080"/>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Events from transactions sent by an address</a:t>
            </a:r>
            <a:endParaRPr lang="en-US" sz="1700" dirty="0"/>
          </a:p>
        </p:txBody>
      </p:sp>
      <p:sp>
        <p:nvSpPr>
          <p:cNvPr id="27" name="Shape 24"/>
          <p:cNvSpPr/>
          <p:nvPr/>
        </p:nvSpPr>
        <p:spPr>
          <a:xfrm>
            <a:off x="685800" y="4480560"/>
            <a:ext cx="10817352" cy="429768"/>
          </a:xfrm>
          <a:prstGeom prst="rect">
            <a:avLst/>
          </a:prstGeom>
          <a:solidFill>
            <a:srgbClr val="FFFFFF"/>
          </a:solidFill>
          <a:ln w="12700">
            <a:solidFill>
              <a:srgbClr val="FFFFFF">
                <a:alpha val="0"/>
              </a:srgbClr>
            </a:solidFill>
            <a:prstDash val="solid"/>
          </a:ln>
        </p:spPr>
      </p:sp>
      <p:sp>
        <p:nvSpPr>
          <p:cNvPr id="28" name="Text 25"/>
          <p:cNvSpPr/>
          <p:nvPr/>
        </p:nvSpPr>
        <p:spPr>
          <a:xfrm>
            <a:off x="832104" y="4553712"/>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events</a:t>
            </a:r>
            <a:endParaRPr lang="en-US" sz="1700" dirty="0"/>
          </a:p>
        </p:txBody>
      </p:sp>
      <p:sp>
        <p:nvSpPr>
          <p:cNvPr id="29" name="Text 26"/>
          <p:cNvSpPr/>
          <p:nvPr/>
        </p:nvSpPr>
        <p:spPr>
          <a:xfrm>
            <a:off x="2834640" y="4553712"/>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module</a:t>
            </a:r>
            <a:endParaRPr lang="en-US" sz="1700" dirty="0"/>
          </a:p>
        </p:txBody>
      </p:sp>
      <p:sp>
        <p:nvSpPr>
          <p:cNvPr id="30" name="Text 27"/>
          <p:cNvSpPr/>
          <p:nvPr/>
        </p:nvSpPr>
        <p:spPr>
          <a:xfrm>
            <a:off x="5486400" y="4553712"/>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Events emitted by a particular module</a:t>
            </a:r>
            <a:endParaRPr lang="en-US" sz="1700" dirty="0"/>
          </a:p>
        </p:txBody>
      </p:sp>
      <p:sp>
        <p:nvSpPr>
          <p:cNvPr id="31" name="Shape 28"/>
          <p:cNvSpPr/>
          <p:nvPr/>
        </p:nvSpPr>
        <p:spPr>
          <a:xfrm>
            <a:off x="685800" y="4965192"/>
            <a:ext cx="10817352" cy="429768"/>
          </a:xfrm>
          <a:prstGeom prst="rect">
            <a:avLst/>
          </a:prstGeom>
          <a:solidFill>
            <a:srgbClr val="E8ECFF"/>
          </a:solidFill>
          <a:ln w="12700">
            <a:solidFill>
              <a:srgbClr val="E8ECFF">
                <a:alpha val="0"/>
              </a:srgbClr>
            </a:solidFill>
            <a:prstDash val="solid"/>
          </a:ln>
        </p:spPr>
      </p:sp>
      <p:sp>
        <p:nvSpPr>
          <p:cNvPr id="32" name="Text 29"/>
          <p:cNvSpPr/>
          <p:nvPr/>
        </p:nvSpPr>
        <p:spPr>
          <a:xfrm>
            <a:off x="832104" y="5038344"/>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events</a:t>
            </a:r>
            <a:endParaRPr lang="en-US" sz="1700" dirty="0"/>
          </a:p>
        </p:txBody>
      </p:sp>
      <p:sp>
        <p:nvSpPr>
          <p:cNvPr id="33" name="Text 30"/>
          <p:cNvSpPr/>
          <p:nvPr/>
        </p:nvSpPr>
        <p:spPr>
          <a:xfrm>
            <a:off x="2834640" y="5038344"/>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type</a:t>
            </a:r>
            <a:endParaRPr lang="en-US" sz="1700" dirty="0"/>
          </a:p>
        </p:txBody>
      </p:sp>
      <p:sp>
        <p:nvSpPr>
          <p:cNvPr id="34" name="Text 31"/>
          <p:cNvSpPr/>
          <p:nvPr/>
        </p:nvSpPr>
        <p:spPr>
          <a:xfrm>
            <a:off x="5486400" y="5038344"/>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One domain event, such as a sale event</a:t>
            </a:r>
            <a:endParaRPr lang="en-US" sz="1700" dirty="0"/>
          </a:p>
        </p:txBody>
      </p:sp>
      <p:sp>
        <p:nvSpPr>
          <p:cNvPr id="35" name="Shape 32"/>
          <p:cNvSpPr/>
          <p:nvPr/>
        </p:nvSpPr>
        <p:spPr>
          <a:xfrm>
            <a:off x="685800" y="5742432"/>
            <a:ext cx="10820400" cy="420624"/>
          </a:xfrm>
          <a:prstGeom prst="rect">
            <a:avLst/>
          </a:prstGeom>
          <a:solidFill>
            <a:srgbClr val="E8ECFF"/>
          </a:solidFill>
          <a:ln w="12700">
            <a:solidFill>
              <a:srgbClr val="E8ECFF">
                <a:alpha val="0"/>
              </a:srgbClr>
            </a:solidFill>
            <a:prstDash val="solid"/>
          </a:ln>
        </p:spPr>
      </p:sp>
      <p:sp>
        <p:nvSpPr>
          <p:cNvPr id="36" name="Text 33"/>
          <p:cNvSpPr/>
          <p:nvPr/>
        </p:nvSpPr>
        <p:spPr>
          <a:xfrm>
            <a:off x="832104" y="5797296"/>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Till uses transactions + affectedAddress. A match still needs payment validation.</a:t>
            </a:r>
            <a:endParaRPr lang="en-US" sz="1500" dirty="0"/>
          </a:p>
        </p:txBody>
      </p:sp>
      <p:sp>
        <p:nvSpPr>
          <p:cNvPr id="37" name="Text 34"/>
          <p:cNvSpPr/>
          <p:nvPr/>
        </p:nvSpPr>
        <p:spPr>
          <a:xfrm>
            <a:off x="685800" y="6236208"/>
            <a:ext cx="10789920" cy="182880"/>
          </a:xfrm>
          <a:prstGeom prst="rect">
            <a:avLst/>
          </a:prstGeom>
          <a:noFill/>
          <a:ln/>
        </p:spPr>
        <p:txBody>
          <a:bodyPr wrap="square" lIns="0" tIns="0" rIns="0" bIns="0" rtlCol="0" anchor="ctr"/>
          <a:lstStyle/>
          <a:p>
            <a:pPr indent="0" marL="0">
              <a:buNone/>
            </a:pPr>
            <a:r>
              <a:rPr lang="en-US" sz="1000" dirty="0">
                <a:solidFill>
                  <a:srgbClr val="65708B"/>
                </a:solidFill>
                <a:latin typeface="DM Sans" pitchFamily="34" charset="0"/>
                <a:ea typeface="DM Sans" pitchFamily="34" charset="-122"/>
                <a:cs typeface="DM Sans" pitchFamily="34" charset="-120"/>
              </a:rPr>
              <a:t>Current schema: choose module or type for an event filter; combining them returns an error.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THE ACTUAL TILL QUERY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A matching transaction becomes a receipt.</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06 / 15</a:t>
            </a:r>
            <a:endParaRPr lang="en-US" sz="900" dirty="0"/>
          </a:p>
        </p:txBody>
      </p:sp>
      <p:sp>
        <p:nvSpPr>
          <p:cNvPr id="7" name="Shape 4"/>
          <p:cNvSpPr/>
          <p:nvPr/>
        </p:nvSpPr>
        <p:spPr>
          <a:xfrm>
            <a:off x="685800" y="2057400"/>
            <a:ext cx="7086600" cy="4187952"/>
          </a:xfrm>
          <a:prstGeom prst="rect">
            <a:avLst/>
          </a:prstGeom>
          <a:solidFill>
            <a:srgbClr val="111529"/>
          </a:solidFill>
          <a:ln w="12700">
            <a:solidFill>
              <a:srgbClr val="111529">
                <a:alpha val="0"/>
              </a:srgbClr>
            </a:solidFill>
            <a:prstDash val="solid"/>
          </a:ln>
        </p:spPr>
      </p:sp>
      <p:sp>
        <p:nvSpPr>
          <p:cNvPr id="8" name="Text 5"/>
          <p:cNvSpPr/>
          <p:nvPr/>
        </p:nvSpPr>
        <p:spPr>
          <a:xfrm>
            <a:off x="886968" y="2240280"/>
            <a:ext cx="6684264" cy="3822192"/>
          </a:xfrm>
          <a:prstGeom prst="rect">
            <a:avLst/>
          </a:prstGeom>
          <a:noFill/>
          <a:ln/>
        </p:spPr>
        <p:txBody>
          <a:bodyPr wrap="square" lIns="0" tIns="0" rIns="0" bIns="0" rtlCol="0" anchor="t"/>
          <a:lstStyle/>
          <a:p>
            <a:pPr indent="0" marL="0">
              <a:buNone/>
            </a:pPr>
            <a:r>
              <a:rPr lang="en-US" sz="1450" dirty="0">
                <a:solidFill>
                  <a:srgbClr val="E1E7FF"/>
                </a:solidFill>
                <a:latin typeface="JetBrains Mono" pitchFamily="34" charset="0"/>
                <a:ea typeface="JetBrains Mono" pitchFamily="34" charset="-122"/>
                <a:cs typeface="JetBrains Mono" pitchFamily="34" charset="-120"/>
              </a:rPr>
              <a:t>subscription Till($shop: SuiAddress!,</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$after: String, $afterCheckpoint: UInt53)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transactions(filter: { affectedAddress: $shop,</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afterCheckpoint: $afterCheckpoint }, after: $after)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cursor</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node { digest sender { address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effects { status timestamp</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checkpoint { sequenceNumber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balanceChanges(first: 50) { nodes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owner { address } coinType { repr } amount</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a:t>
            </a:r>
            <a:endParaRPr lang="en-US" sz="1450" dirty="0"/>
          </a:p>
        </p:txBody>
      </p:sp>
      <p:sp>
        <p:nvSpPr>
          <p:cNvPr id="9" name="Text 6"/>
          <p:cNvSpPr/>
          <p:nvPr/>
        </p:nvSpPr>
        <p:spPr>
          <a:xfrm>
            <a:off x="8074152" y="2258568"/>
            <a:ext cx="3410712"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CURSOR</a:t>
            </a:r>
            <a:endParaRPr lang="en-US" sz="1000" dirty="0"/>
          </a:p>
        </p:txBody>
      </p:sp>
      <p:sp>
        <p:nvSpPr>
          <p:cNvPr id="10" name="Text 7"/>
          <p:cNvSpPr/>
          <p:nvPr/>
        </p:nvSpPr>
        <p:spPr>
          <a:xfrm>
            <a:off x="8074152" y="2551176"/>
            <a:ext cx="3410712" cy="45720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Where to resume delivery</a:t>
            </a:r>
            <a:endParaRPr lang="en-US" sz="2000" dirty="0"/>
          </a:p>
        </p:txBody>
      </p:sp>
      <p:sp>
        <p:nvSpPr>
          <p:cNvPr id="11" name="Text 8"/>
          <p:cNvSpPr/>
          <p:nvPr/>
        </p:nvSpPr>
        <p:spPr>
          <a:xfrm>
            <a:off x="8074152" y="3118104"/>
            <a:ext cx="3410712"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DIGEST + STATUS</a:t>
            </a:r>
            <a:endParaRPr lang="en-US" sz="1000" dirty="0"/>
          </a:p>
        </p:txBody>
      </p:sp>
      <p:sp>
        <p:nvSpPr>
          <p:cNvPr id="12" name="Text 9"/>
          <p:cNvSpPr/>
          <p:nvPr/>
        </p:nvSpPr>
        <p:spPr>
          <a:xfrm>
            <a:off x="8074152" y="3410712"/>
            <a:ext cx="3410712" cy="45720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Transaction + outcome</a:t>
            </a:r>
            <a:endParaRPr lang="en-US" sz="2000" dirty="0"/>
          </a:p>
        </p:txBody>
      </p:sp>
      <p:sp>
        <p:nvSpPr>
          <p:cNvPr id="13" name="Text 10"/>
          <p:cNvSpPr/>
          <p:nvPr/>
        </p:nvSpPr>
        <p:spPr>
          <a:xfrm>
            <a:off x="8074152" y="3977640"/>
            <a:ext cx="3410712"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OWNER + COIN + AMOUNT</a:t>
            </a:r>
            <a:endParaRPr lang="en-US" sz="1000" dirty="0"/>
          </a:p>
        </p:txBody>
      </p:sp>
      <p:sp>
        <p:nvSpPr>
          <p:cNvPr id="14" name="Text 11"/>
          <p:cNvSpPr/>
          <p:nvPr/>
        </p:nvSpPr>
        <p:spPr>
          <a:xfrm>
            <a:off x="8074152" y="4270248"/>
            <a:ext cx="3410712" cy="45720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Net credit to this shop</a:t>
            </a:r>
            <a:endParaRPr lang="en-US" sz="2000" dirty="0"/>
          </a:p>
        </p:txBody>
      </p:sp>
      <p:sp>
        <p:nvSpPr>
          <p:cNvPr id="15" name="Text 12"/>
          <p:cNvSpPr/>
          <p:nvPr/>
        </p:nvSpPr>
        <p:spPr>
          <a:xfrm>
            <a:off x="8074152" y="4837176"/>
            <a:ext cx="3410712"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TIMESTAMP + CHECKPOINT</a:t>
            </a:r>
            <a:endParaRPr lang="en-US" sz="1000" dirty="0"/>
          </a:p>
        </p:txBody>
      </p:sp>
      <p:sp>
        <p:nvSpPr>
          <p:cNvPr id="16" name="Text 13"/>
          <p:cNvSpPr/>
          <p:nvPr/>
        </p:nvSpPr>
        <p:spPr>
          <a:xfrm>
            <a:off x="8074152" y="5129784"/>
            <a:ext cx="3410712" cy="45720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When the receipt belongs</a:t>
            </a:r>
            <a:endParaRPr lang="en-US" sz="2000" dirty="0"/>
          </a:p>
        </p:txBody>
      </p:sp>
      <p:sp>
        <p:nvSpPr>
          <p:cNvPr id="17" name="Text 14"/>
          <p:cNvSpPr/>
          <p:nvPr/>
        </p:nvSpPr>
        <p:spPr>
          <a:xfrm>
            <a:off x="8074152" y="5742432"/>
            <a:ext cx="3410712" cy="521208"/>
          </a:xfrm>
          <a:prstGeom prst="rect">
            <a:avLst/>
          </a:prstGeom>
          <a:noFill/>
          <a:ln/>
        </p:spPr>
        <p:txBody>
          <a:bodyPr wrap="square" lIns="0" tIns="0" rIns="0" bIns="0" rtlCol="0" anchor="ctr"/>
          <a:lstStyle/>
          <a:p>
            <a:pPr indent="0" marL="0">
              <a:buNone/>
            </a:pPr>
            <a:r>
              <a:rPr lang="en-US" sz="1600" dirty="0">
                <a:solidFill>
                  <a:srgbClr val="078256"/>
                </a:solidFill>
                <a:latin typeface="DM Sans" pitchFamily="34" charset="0"/>
                <a:ea typeface="DM Sans" pitchFamily="34" charset="-122"/>
                <a:cs typeface="DM Sans" pitchFamily="34" charset="-120"/>
              </a:rPr>
              <a:t>SUCCESS + positive net credit</a:t>
            </a:r>
            <a:endParaRPr lang="en-US" sz="1600" dirty="0"/>
          </a:p>
          <a:p>
            <a:pPr indent="0" marL="0">
              <a:buNone/>
            </a:pPr>
            <a:r>
              <a:rPr lang="en-US" sz="1600" dirty="0">
                <a:solidFill>
                  <a:srgbClr val="078256"/>
                </a:solidFill>
                <a:latin typeface="DM Sans" pitchFamily="34" charset="0"/>
                <a:ea typeface="DM Sans" pitchFamily="34" charset="-122"/>
                <a:cs typeface="DM Sans" pitchFamily="34" charset="-120"/>
              </a:rPr>
              <a:t>→ receipt → render + chime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THE TRANSPORT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One POST request. Many SSE deliveries.</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07 / 15</a:t>
            </a:r>
            <a:endParaRPr lang="en-US" sz="900" dirty="0"/>
          </a:p>
        </p:txBody>
      </p:sp>
      <p:sp>
        <p:nvSpPr>
          <p:cNvPr id="7" name="Shape 4"/>
          <p:cNvSpPr/>
          <p:nvPr/>
        </p:nvSpPr>
        <p:spPr>
          <a:xfrm>
            <a:off x="685800" y="2194560"/>
            <a:ext cx="6675120" cy="3017520"/>
          </a:xfrm>
          <a:prstGeom prst="rect">
            <a:avLst/>
          </a:prstGeom>
          <a:solidFill>
            <a:srgbClr val="111529"/>
          </a:solidFill>
          <a:ln w="12700">
            <a:solidFill>
              <a:srgbClr val="111529">
                <a:alpha val="0"/>
              </a:srgbClr>
            </a:solidFill>
            <a:prstDash val="solid"/>
          </a:ln>
        </p:spPr>
      </p:sp>
      <p:sp>
        <p:nvSpPr>
          <p:cNvPr id="8" name="Text 5"/>
          <p:cNvSpPr/>
          <p:nvPr/>
        </p:nvSpPr>
        <p:spPr>
          <a:xfrm>
            <a:off x="886968" y="2377440"/>
            <a:ext cx="6272784" cy="2651760"/>
          </a:xfrm>
          <a:prstGeom prst="rect">
            <a:avLst/>
          </a:prstGeom>
          <a:noFill/>
          <a:ln/>
        </p:spPr>
        <p:txBody>
          <a:bodyPr wrap="square" lIns="0" tIns="0" rIns="0" bIns="0" rtlCol="0" anchor="t"/>
          <a:lstStyle/>
          <a:p>
            <a:pPr indent="0" marL="0">
              <a:buNone/>
            </a:pPr>
            <a:r>
              <a:rPr lang="en-US" sz="1600" dirty="0">
                <a:solidFill>
                  <a:srgbClr val="E1E7FF"/>
                </a:solidFill>
                <a:latin typeface="JetBrains Mono" pitchFamily="34" charset="0"/>
                <a:ea typeface="JetBrains Mono" pitchFamily="34" charset="-122"/>
                <a:cs typeface="JetBrains Mono" pitchFamily="34" charset="-120"/>
              </a:rPr>
              <a:t>const res = await fetch(url, {</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method: 'POST',</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headers: {</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'content-type': 'application/json',</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accept: 'text/event-stream',</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body: JSON.stringify({ query, variables }),</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signal,</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a:t>
            </a:r>
            <a:endParaRPr lang="en-US" sz="1600" dirty="0"/>
          </a:p>
        </p:txBody>
      </p:sp>
      <p:sp>
        <p:nvSpPr>
          <p:cNvPr id="9" name="Text 6"/>
          <p:cNvSpPr/>
          <p:nvPr/>
        </p:nvSpPr>
        <p:spPr>
          <a:xfrm>
            <a:off x="7699248" y="2212848"/>
            <a:ext cx="3474720" cy="228600"/>
          </a:xfrm>
          <a:prstGeom prst="rect">
            <a:avLst/>
          </a:prstGeom>
          <a:noFill/>
          <a:ln/>
        </p:spPr>
        <p:txBody>
          <a:bodyPr wrap="square" lIns="0" tIns="0" rIns="0" bIns="0" rtlCol="0" anchor="ctr"/>
          <a:lstStyle/>
          <a:p>
            <a:pPr indent="0" marL="0">
              <a:buNone/>
            </a:pPr>
            <a:r>
              <a:rPr lang="en-US" sz="1100" dirty="0">
                <a:solidFill>
                  <a:srgbClr val="2338FF"/>
                </a:solidFill>
                <a:latin typeface="JetBrains Mono" pitchFamily="34" charset="0"/>
                <a:ea typeface="JetBrains Mono" pitchFamily="34" charset="-122"/>
                <a:cs typeface="JetBrains Mono" pitchFamily="34" charset="-120"/>
              </a:rPr>
              <a:t>REQUEST</a:t>
            </a:r>
            <a:endParaRPr lang="en-US" sz="1100" dirty="0"/>
          </a:p>
        </p:txBody>
      </p:sp>
      <p:sp>
        <p:nvSpPr>
          <p:cNvPr id="10" name="Text 7"/>
          <p:cNvSpPr/>
          <p:nvPr/>
        </p:nvSpPr>
        <p:spPr>
          <a:xfrm>
            <a:off x="7699248" y="2606040"/>
            <a:ext cx="3749040" cy="77724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POST /graphql/subscriptions</a:t>
            </a:r>
            <a:endParaRPr lang="en-US" sz="2000" dirty="0"/>
          </a:p>
          <a:p>
            <a:pPr indent="0" marL="0">
              <a:buNone/>
            </a:pPr>
            <a:r>
              <a:rPr lang="en-US" sz="2000" dirty="0">
                <a:solidFill>
                  <a:srgbClr val="131725"/>
                </a:solidFill>
                <a:latin typeface="DM Sans" pitchFamily="34" charset="0"/>
                <a:ea typeface="DM Sans" pitchFamily="34" charset="-122"/>
                <a:cs typeface="DM Sans" pitchFamily="34" charset="-120"/>
              </a:rPr>
              <a:t>query + variables</a:t>
            </a:r>
            <a:endParaRPr lang="en-US" sz="2000" dirty="0"/>
          </a:p>
        </p:txBody>
      </p:sp>
      <p:sp>
        <p:nvSpPr>
          <p:cNvPr id="11" name="Text 8"/>
          <p:cNvSpPr/>
          <p:nvPr/>
        </p:nvSpPr>
        <p:spPr>
          <a:xfrm>
            <a:off x="7699248" y="3712464"/>
            <a:ext cx="3474720" cy="228600"/>
          </a:xfrm>
          <a:prstGeom prst="rect">
            <a:avLst/>
          </a:prstGeom>
          <a:noFill/>
          <a:ln/>
        </p:spPr>
        <p:txBody>
          <a:bodyPr wrap="square" lIns="0" tIns="0" rIns="0" bIns="0" rtlCol="0" anchor="ctr"/>
          <a:lstStyle/>
          <a:p>
            <a:pPr indent="0" marL="0">
              <a:buNone/>
            </a:pPr>
            <a:r>
              <a:rPr lang="en-US" sz="1100" dirty="0">
                <a:solidFill>
                  <a:srgbClr val="2338FF"/>
                </a:solidFill>
                <a:latin typeface="JetBrains Mono" pitchFamily="34" charset="0"/>
                <a:ea typeface="JetBrains Mono" pitchFamily="34" charset="-122"/>
                <a:cs typeface="JetBrains Mono" pitchFamily="34" charset="-120"/>
              </a:rPr>
              <a:t>RESPONSE STAYS OPEN</a:t>
            </a:r>
            <a:endParaRPr lang="en-US" sz="1100" dirty="0"/>
          </a:p>
        </p:txBody>
      </p:sp>
      <p:sp>
        <p:nvSpPr>
          <p:cNvPr id="12" name="Text 9"/>
          <p:cNvSpPr/>
          <p:nvPr/>
        </p:nvSpPr>
        <p:spPr>
          <a:xfrm>
            <a:off x="7699248" y="4096512"/>
            <a:ext cx="3749040" cy="82296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text/event-stream</a:t>
            </a:r>
            <a:endParaRPr lang="en-US" sz="2000" dirty="0"/>
          </a:p>
          <a:p>
            <a:pPr indent="0" marL="0">
              <a:buNone/>
            </a:pPr>
            <a:r>
              <a:rPr lang="en-US" sz="2000" dirty="0">
                <a:solidFill>
                  <a:srgbClr val="131725"/>
                </a:solidFill>
                <a:latin typeface="DM Sans" pitchFamily="34" charset="0"/>
                <a:ea typeface="DM Sans" pitchFamily="34" charset="-122"/>
                <a:cs typeface="DM Sans" pitchFamily="34" charset="-120"/>
              </a:rPr>
              <a:t>receipt A → B → C → …</a:t>
            </a:r>
            <a:endParaRPr lang="en-US" sz="2000" dirty="0"/>
          </a:p>
        </p:txBody>
      </p:sp>
      <p:sp>
        <p:nvSpPr>
          <p:cNvPr id="13" name="Shape 10"/>
          <p:cNvSpPr/>
          <p:nvPr/>
        </p:nvSpPr>
        <p:spPr>
          <a:xfrm>
            <a:off x="685800" y="5623560"/>
            <a:ext cx="10820400" cy="420624"/>
          </a:xfrm>
          <a:prstGeom prst="rect">
            <a:avLst/>
          </a:prstGeom>
          <a:solidFill>
            <a:srgbClr val="E8ECFF"/>
          </a:solidFill>
          <a:ln w="12700">
            <a:solidFill>
              <a:srgbClr val="E8ECFF">
                <a:alpha val="0"/>
              </a:srgbClr>
            </a:solidFill>
            <a:prstDash val="solid"/>
          </a:ln>
        </p:spPr>
      </p:sp>
      <p:sp>
        <p:nvSpPr>
          <p:cNvPr id="14" name="Text 11"/>
          <p:cNvSpPr/>
          <p:nvPr/>
        </p:nvSpPr>
        <p:spPr>
          <a:xfrm>
            <a:off x="832104" y="5678424"/>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fetch → decode text → buffer complete SSE frames → inspect errors → await the handler</a:t>
            </a:r>
            <a:endParaRPr lang="en-US" sz="1500" dirty="0"/>
          </a:p>
        </p:txBody>
      </p:sp>
      <p:sp>
        <p:nvSpPr>
          <p:cNvPr id="15" name="Text 12"/>
          <p:cNvSpPr/>
          <p:nvPr/>
        </p:nvSpPr>
        <p:spPr>
          <a:xfrm>
            <a:off x="685800" y="6172200"/>
            <a:ext cx="10789920" cy="228600"/>
          </a:xfrm>
          <a:prstGeom prst="rect">
            <a:avLst/>
          </a:prstGeom>
          <a:noFill/>
          <a:ln/>
        </p:spPr>
        <p:txBody>
          <a:bodyPr wrap="square" lIns="0" tIns="0" rIns="0" bIns="0" rtlCol="0" anchor="ctr"/>
          <a:lstStyle/>
          <a:p>
            <a:pPr indent="0" marL="0">
              <a:buNone/>
            </a:pPr>
            <a:r>
              <a:rPr lang="en-US" sz="1300" dirty="0">
                <a:solidFill>
                  <a:srgbClr val="65708B"/>
                </a:solidFill>
                <a:latin typeface="DM Sans" pitchFamily="34" charset="0"/>
                <a:ea typeface="DM Sans" pitchFamily="34" charset="-122"/>
                <a:cs typeface="DM Sans" pitchFamily="34" charset="-120"/>
              </a:rPr>
              <a:t>EventSource cannot send this POST body. A network chunk is not a complete SSE message.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CURSORS, BACKFILL AND ORDER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The connection drops. The payments do not.</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08 / 15</a:t>
            </a:r>
            <a:endParaRPr lang="en-US" sz="900" dirty="0"/>
          </a:p>
        </p:txBody>
      </p:sp>
      <p:sp>
        <p:nvSpPr>
          <p:cNvPr id="7" name="Shape 4"/>
          <p:cNvSpPr/>
          <p:nvPr/>
        </p:nvSpPr>
        <p:spPr>
          <a:xfrm>
            <a:off x="685800" y="2286000"/>
            <a:ext cx="2523744" cy="1005840"/>
          </a:xfrm>
          <a:prstGeom prst="rect">
            <a:avLst/>
          </a:prstGeom>
          <a:solidFill>
            <a:srgbClr val="2338FF"/>
          </a:solidFill>
          <a:ln w="12700">
            <a:solidFill>
              <a:srgbClr val="2338FF">
                <a:alpha val="0"/>
              </a:srgbClr>
            </a:solidFill>
            <a:prstDash val="solid"/>
          </a:ln>
        </p:spPr>
      </p:sp>
      <p:sp>
        <p:nvSpPr>
          <p:cNvPr id="8" name="Text 5"/>
          <p:cNvSpPr/>
          <p:nvPr/>
        </p:nvSpPr>
        <p:spPr>
          <a:xfrm>
            <a:off x="850392" y="2468880"/>
            <a:ext cx="2194560" cy="228600"/>
          </a:xfrm>
          <a:prstGeom prst="rect">
            <a:avLst/>
          </a:prstGeom>
          <a:noFill/>
          <a:ln/>
        </p:spPr>
        <p:txBody>
          <a:bodyPr wrap="square" lIns="0" tIns="0" rIns="0" bIns="0" rtlCol="0" anchor="ct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A / cp 100</a:t>
            </a:r>
            <a:endParaRPr lang="en-US" sz="1400" dirty="0"/>
          </a:p>
        </p:txBody>
      </p:sp>
      <p:sp>
        <p:nvSpPr>
          <p:cNvPr id="9" name="Text 6"/>
          <p:cNvSpPr/>
          <p:nvPr/>
        </p:nvSpPr>
        <p:spPr>
          <a:xfrm>
            <a:off x="850392" y="2825496"/>
            <a:ext cx="2194560" cy="274320"/>
          </a:xfrm>
          <a:prstGeom prst="rect">
            <a:avLst/>
          </a:prstGeom>
          <a:noFill/>
          <a:ln/>
        </p:spPr>
        <p:txBody>
          <a:bodyPr wrap="square" lIns="0" tIns="0" rIns="0" bIns="0" rtlCol="0" anchor="ctr"/>
          <a:lstStyle/>
          <a:p>
            <a:pPr indent="0" marL="0">
              <a:buNone/>
            </a:pPr>
            <a:r>
              <a:rPr lang="en-US" sz="1600" dirty="0">
                <a:solidFill>
                  <a:srgbClr val="B7C3E2"/>
                </a:solidFill>
                <a:latin typeface="DM Sans" pitchFamily="34" charset="0"/>
                <a:ea typeface="DM Sans" pitchFamily="34" charset="-122"/>
                <a:cs typeface="DM Sans" pitchFamily="34" charset="-120"/>
              </a:rPr>
              <a:t>Delivered + saved</a:t>
            </a:r>
            <a:endParaRPr lang="en-US" sz="1600" dirty="0"/>
          </a:p>
        </p:txBody>
      </p:sp>
      <p:sp>
        <p:nvSpPr>
          <p:cNvPr id="10" name="Text 7"/>
          <p:cNvSpPr/>
          <p:nvPr/>
        </p:nvSpPr>
        <p:spPr>
          <a:xfrm>
            <a:off x="3168396" y="25603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1" name="Shape 8"/>
          <p:cNvSpPr/>
          <p:nvPr/>
        </p:nvSpPr>
        <p:spPr>
          <a:xfrm>
            <a:off x="3447288" y="2286000"/>
            <a:ext cx="2523744" cy="1005840"/>
          </a:xfrm>
          <a:prstGeom prst="rect">
            <a:avLst/>
          </a:prstGeom>
          <a:solidFill>
            <a:srgbClr val="FFFFFF"/>
          </a:solidFill>
          <a:ln w="12700">
            <a:solidFill>
              <a:srgbClr val="FFFFFF">
                <a:alpha val="0"/>
              </a:srgbClr>
            </a:solidFill>
            <a:prstDash val="solid"/>
          </a:ln>
        </p:spPr>
      </p:sp>
      <p:sp>
        <p:nvSpPr>
          <p:cNvPr id="12" name="Text 9"/>
          <p:cNvSpPr/>
          <p:nvPr/>
        </p:nvSpPr>
        <p:spPr>
          <a:xfrm>
            <a:off x="3611880" y="2468880"/>
            <a:ext cx="2194560" cy="228600"/>
          </a:xfrm>
          <a:prstGeom prst="rect">
            <a:avLst/>
          </a:prstGeom>
          <a:noFill/>
          <a:ln/>
        </p:spPr>
        <p:txBody>
          <a:bodyPr wrap="square" lIns="0" tIns="0" rIns="0" bIns="0" rtlCol="0" anchor="ctr"/>
          <a:lstStyle/>
          <a:p>
            <a:pPr indent="0" marL="0">
              <a:buNone/>
            </a:pPr>
            <a:r>
              <a:rPr lang="en-US" sz="1400" dirty="0">
                <a:solidFill>
                  <a:srgbClr val="2338FF"/>
                </a:solidFill>
                <a:latin typeface="JetBrains Mono" pitchFamily="34" charset="0"/>
                <a:ea typeface="JetBrains Mono" pitchFamily="34" charset="-122"/>
                <a:cs typeface="JetBrains Mono" pitchFamily="34" charset="-120"/>
              </a:rPr>
              <a:t>B / cp 101</a:t>
            </a:r>
            <a:endParaRPr lang="en-US" sz="1400" dirty="0"/>
          </a:p>
        </p:txBody>
      </p:sp>
      <p:sp>
        <p:nvSpPr>
          <p:cNvPr id="13" name="Text 10"/>
          <p:cNvSpPr/>
          <p:nvPr/>
        </p:nvSpPr>
        <p:spPr>
          <a:xfrm>
            <a:off x="3611880" y="2825496"/>
            <a:ext cx="2194560" cy="274320"/>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Finalizes offline</a:t>
            </a:r>
            <a:endParaRPr lang="en-US" sz="1600" dirty="0"/>
          </a:p>
        </p:txBody>
      </p:sp>
      <p:sp>
        <p:nvSpPr>
          <p:cNvPr id="14" name="Text 11"/>
          <p:cNvSpPr/>
          <p:nvPr/>
        </p:nvSpPr>
        <p:spPr>
          <a:xfrm>
            <a:off x="5929884" y="25603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5" name="Shape 12"/>
          <p:cNvSpPr/>
          <p:nvPr/>
        </p:nvSpPr>
        <p:spPr>
          <a:xfrm>
            <a:off x="6208776" y="2286000"/>
            <a:ext cx="2523744" cy="1005840"/>
          </a:xfrm>
          <a:prstGeom prst="rect">
            <a:avLst/>
          </a:prstGeom>
          <a:solidFill>
            <a:srgbClr val="FFFFFF"/>
          </a:solidFill>
          <a:ln w="12700">
            <a:solidFill>
              <a:srgbClr val="FFFFFF">
                <a:alpha val="0"/>
              </a:srgbClr>
            </a:solidFill>
            <a:prstDash val="solid"/>
          </a:ln>
        </p:spPr>
      </p:sp>
      <p:sp>
        <p:nvSpPr>
          <p:cNvPr id="16" name="Text 13"/>
          <p:cNvSpPr/>
          <p:nvPr/>
        </p:nvSpPr>
        <p:spPr>
          <a:xfrm>
            <a:off x="6373368" y="2468880"/>
            <a:ext cx="2194560" cy="228600"/>
          </a:xfrm>
          <a:prstGeom prst="rect">
            <a:avLst/>
          </a:prstGeom>
          <a:noFill/>
          <a:ln/>
        </p:spPr>
        <p:txBody>
          <a:bodyPr wrap="square" lIns="0" tIns="0" rIns="0" bIns="0" rtlCol="0" anchor="ctr"/>
          <a:lstStyle/>
          <a:p>
            <a:pPr indent="0" marL="0">
              <a:buNone/>
            </a:pPr>
            <a:r>
              <a:rPr lang="en-US" sz="1400" dirty="0">
                <a:solidFill>
                  <a:srgbClr val="2338FF"/>
                </a:solidFill>
                <a:latin typeface="JetBrains Mono" pitchFamily="34" charset="0"/>
                <a:ea typeface="JetBrains Mono" pitchFamily="34" charset="-122"/>
                <a:cs typeface="JetBrains Mono" pitchFamily="34" charset="-120"/>
              </a:rPr>
              <a:t>C / cp 101</a:t>
            </a:r>
            <a:endParaRPr lang="en-US" sz="1400" dirty="0"/>
          </a:p>
        </p:txBody>
      </p:sp>
      <p:sp>
        <p:nvSpPr>
          <p:cNvPr id="17" name="Text 14"/>
          <p:cNvSpPr/>
          <p:nvPr/>
        </p:nvSpPr>
        <p:spPr>
          <a:xfrm>
            <a:off x="6373368" y="2825496"/>
            <a:ext cx="2194560" cy="274320"/>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Finalizes offline</a:t>
            </a:r>
            <a:endParaRPr lang="en-US" sz="1600" dirty="0"/>
          </a:p>
        </p:txBody>
      </p:sp>
      <p:sp>
        <p:nvSpPr>
          <p:cNvPr id="18" name="Text 15"/>
          <p:cNvSpPr/>
          <p:nvPr/>
        </p:nvSpPr>
        <p:spPr>
          <a:xfrm>
            <a:off x="8691372" y="25603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9" name="Shape 16"/>
          <p:cNvSpPr/>
          <p:nvPr/>
        </p:nvSpPr>
        <p:spPr>
          <a:xfrm>
            <a:off x="8970264" y="2286000"/>
            <a:ext cx="2523744" cy="1005840"/>
          </a:xfrm>
          <a:prstGeom prst="rect">
            <a:avLst/>
          </a:prstGeom>
          <a:solidFill>
            <a:srgbClr val="2338FF"/>
          </a:solidFill>
          <a:ln w="12700">
            <a:solidFill>
              <a:srgbClr val="2338FF">
                <a:alpha val="0"/>
              </a:srgbClr>
            </a:solidFill>
            <a:prstDash val="solid"/>
          </a:ln>
        </p:spPr>
      </p:sp>
      <p:sp>
        <p:nvSpPr>
          <p:cNvPr id="20" name="Text 17"/>
          <p:cNvSpPr/>
          <p:nvPr/>
        </p:nvSpPr>
        <p:spPr>
          <a:xfrm>
            <a:off x="9134856" y="2468880"/>
            <a:ext cx="2194560" cy="228600"/>
          </a:xfrm>
          <a:prstGeom prst="rect">
            <a:avLst/>
          </a:prstGeom>
          <a:noFill/>
          <a:ln/>
        </p:spPr>
        <p:txBody>
          <a:bodyPr wrap="square" lIns="0" tIns="0" rIns="0" bIns="0" rtlCol="0" anchor="ct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D / cp 102</a:t>
            </a:r>
            <a:endParaRPr lang="en-US" sz="1400" dirty="0"/>
          </a:p>
        </p:txBody>
      </p:sp>
      <p:sp>
        <p:nvSpPr>
          <p:cNvPr id="21" name="Text 18"/>
          <p:cNvSpPr/>
          <p:nvPr/>
        </p:nvSpPr>
        <p:spPr>
          <a:xfrm>
            <a:off x="9134856" y="2825496"/>
            <a:ext cx="2194560" cy="274320"/>
          </a:xfrm>
          <a:prstGeom prst="rect">
            <a:avLst/>
          </a:prstGeom>
          <a:noFill/>
          <a:ln/>
        </p:spPr>
        <p:txBody>
          <a:bodyPr wrap="square" lIns="0" tIns="0" rIns="0" bIns="0" rtlCol="0" anchor="ctr"/>
          <a:lstStyle/>
          <a:p>
            <a:pPr indent="0" marL="0">
              <a:buNone/>
            </a:pPr>
            <a:r>
              <a:rPr lang="en-US" sz="1600" dirty="0">
                <a:solidFill>
                  <a:srgbClr val="B7C3E2"/>
                </a:solidFill>
                <a:latin typeface="DM Sans" pitchFamily="34" charset="0"/>
                <a:ea typeface="DM Sans" pitchFamily="34" charset="-122"/>
                <a:cs typeface="DM Sans" pitchFamily="34" charset="-120"/>
              </a:rPr>
              <a:t>Continues live</a:t>
            </a:r>
            <a:endParaRPr lang="en-US" sz="1600" dirty="0"/>
          </a:p>
        </p:txBody>
      </p:sp>
      <p:sp>
        <p:nvSpPr>
          <p:cNvPr id="22" name="Shape 19"/>
          <p:cNvSpPr/>
          <p:nvPr/>
        </p:nvSpPr>
        <p:spPr>
          <a:xfrm>
            <a:off x="3447288" y="3511296"/>
            <a:ext cx="5285232" cy="457200"/>
          </a:xfrm>
          <a:prstGeom prst="rect">
            <a:avLst/>
          </a:prstGeom>
          <a:solidFill>
            <a:srgbClr val="FFF0DA"/>
          </a:solidFill>
          <a:ln w="12700">
            <a:solidFill>
              <a:srgbClr val="FFF0DA">
                <a:alpha val="0"/>
              </a:srgbClr>
            </a:solidFill>
            <a:prstDash val="solid"/>
          </a:ln>
        </p:spPr>
      </p:sp>
      <p:sp>
        <p:nvSpPr>
          <p:cNvPr id="23" name="Text 20"/>
          <p:cNvSpPr/>
          <p:nvPr/>
        </p:nvSpPr>
        <p:spPr>
          <a:xfrm>
            <a:off x="3447288" y="3584448"/>
            <a:ext cx="5285232" cy="274320"/>
          </a:xfrm>
          <a:prstGeom prst="rect">
            <a:avLst/>
          </a:prstGeom>
          <a:noFill/>
          <a:ln/>
        </p:spPr>
        <p:txBody>
          <a:bodyPr wrap="square" lIns="0" tIns="0" rIns="0" bIns="0" rtlCol="0" anchor="ctr"/>
          <a:lstStyle/>
          <a:p>
            <a:pPr algn="ctr" indent="0" marL="0">
              <a:buNone/>
            </a:pPr>
            <a:r>
              <a:rPr lang="en-US" sz="1500" dirty="0">
                <a:solidFill>
                  <a:srgbClr val="89551C"/>
                </a:solidFill>
                <a:latin typeface="DM Sans" pitchFamily="34" charset="0"/>
                <a:ea typeface="DM Sans" pitchFamily="34" charset="-122"/>
                <a:cs typeface="DM Sans" pitchFamily="34" charset="-120"/>
              </a:rPr>
              <a:t>LISTENER OFFLINE</a:t>
            </a:r>
            <a:endParaRPr lang="en-US" sz="1500" dirty="0"/>
          </a:p>
        </p:txBody>
      </p:sp>
      <p:sp>
        <p:nvSpPr>
          <p:cNvPr id="24" name="Text 21"/>
          <p:cNvSpPr/>
          <p:nvPr/>
        </p:nvSpPr>
        <p:spPr>
          <a:xfrm>
            <a:off x="685800" y="4361688"/>
            <a:ext cx="2286000" cy="411480"/>
          </a:xfrm>
          <a:prstGeom prst="rect">
            <a:avLst/>
          </a:prstGeom>
          <a:noFill/>
          <a:ln/>
        </p:spPr>
        <p:txBody>
          <a:bodyPr wrap="square" lIns="0" tIns="0" rIns="0" bIns="0" rtlCol="0" anchor="ctr"/>
          <a:lstStyle/>
          <a:p>
            <a:pPr indent="0" marL="0">
              <a:buNone/>
            </a:pPr>
            <a:r>
              <a:rPr lang="en-US" sz="2300" dirty="0">
                <a:solidFill>
                  <a:srgbClr val="131725"/>
                </a:solidFill>
                <a:latin typeface="DM Sans" pitchFamily="34" charset="0"/>
                <a:ea typeface="DM Sans" pitchFamily="34" charset="-122"/>
                <a:cs typeface="DM Sans" pitchFamily="34" charset="-120"/>
              </a:rPr>
              <a:t>Saved cA</a:t>
            </a:r>
            <a:endParaRPr lang="en-US" sz="2300" dirty="0"/>
          </a:p>
        </p:txBody>
      </p:sp>
      <p:sp>
        <p:nvSpPr>
          <p:cNvPr id="25" name="Text 22"/>
          <p:cNvSpPr/>
          <p:nvPr/>
        </p:nvSpPr>
        <p:spPr>
          <a:xfrm>
            <a:off x="3447288" y="4361688"/>
            <a:ext cx="5285232" cy="411480"/>
          </a:xfrm>
          <a:prstGeom prst="rect">
            <a:avLst/>
          </a:prstGeom>
          <a:noFill/>
          <a:ln/>
        </p:spPr>
        <p:txBody>
          <a:bodyPr wrap="square" lIns="0" tIns="0" rIns="0" bIns="0" rtlCol="0" anchor="ctr"/>
          <a:lstStyle/>
          <a:p>
            <a:pPr indent="0" marL="0">
              <a:buNone/>
            </a:pPr>
            <a:r>
              <a:rPr lang="en-US" sz="2300" dirty="0">
                <a:solidFill>
                  <a:srgbClr val="131725"/>
                </a:solidFill>
                <a:latin typeface="DM Sans" pitchFamily="34" charset="0"/>
                <a:ea typeface="DM Sans" pitchFamily="34" charset="-122"/>
                <a:cs typeface="DM Sans" pitchFamily="34" charset="-120"/>
              </a:rPr>
              <a:t>Reconnect: after = cA</a:t>
            </a:r>
            <a:endParaRPr lang="en-US" sz="2300" dirty="0"/>
          </a:p>
        </p:txBody>
      </p:sp>
      <p:sp>
        <p:nvSpPr>
          <p:cNvPr id="26" name="Text 23"/>
          <p:cNvSpPr/>
          <p:nvPr/>
        </p:nvSpPr>
        <p:spPr>
          <a:xfrm>
            <a:off x="9144000" y="4361688"/>
            <a:ext cx="2377440" cy="411480"/>
          </a:xfrm>
          <a:prstGeom prst="rect">
            <a:avLst/>
          </a:prstGeom>
          <a:noFill/>
          <a:ln/>
        </p:spPr>
        <p:txBody>
          <a:bodyPr wrap="square" lIns="0" tIns="0" rIns="0" bIns="0" rtlCol="0" anchor="ctr"/>
          <a:lstStyle/>
          <a:p>
            <a:pPr indent="0" marL="0">
              <a:buNone/>
            </a:pPr>
            <a:r>
              <a:rPr lang="en-US" sz="2300" dirty="0">
                <a:solidFill>
                  <a:srgbClr val="2338FF"/>
                </a:solidFill>
                <a:latin typeface="DM Sans" pitchFamily="34" charset="0"/>
                <a:ea typeface="DM Sans" pitchFamily="34" charset="-122"/>
                <a:cs typeface="DM Sans" pitchFamily="34" charset="-120"/>
              </a:rPr>
              <a:t>B → C → D</a:t>
            </a:r>
            <a:endParaRPr lang="en-US" sz="2300" dirty="0"/>
          </a:p>
        </p:txBody>
      </p:sp>
      <p:sp>
        <p:nvSpPr>
          <p:cNvPr id="27" name="Text 24"/>
          <p:cNvSpPr/>
          <p:nvPr/>
        </p:nvSpPr>
        <p:spPr>
          <a:xfrm>
            <a:off x="685800" y="5120640"/>
            <a:ext cx="10789920" cy="384048"/>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No cursor yet? Save the opening checkpoint, then use filter.afterCheckpoint.</a:t>
            </a:r>
            <a:endParaRPr lang="en-US" sz="2000" dirty="0"/>
          </a:p>
        </p:txBody>
      </p:sp>
      <p:sp>
        <p:nvSpPr>
          <p:cNvPr id="28" name="Shape 25"/>
          <p:cNvSpPr/>
          <p:nvPr/>
        </p:nvSpPr>
        <p:spPr>
          <a:xfrm>
            <a:off x="685800" y="5733288"/>
            <a:ext cx="10820400" cy="420624"/>
          </a:xfrm>
          <a:prstGeom prst="rect">
            <a:avLst/>
          </a:prstGeom>
          <a:solidFill>
            <a:srgbClr val="E8ECFF"/>
          </a:solidFill>
          <a:ln w="12700">
            <a:solidFill>
              <a:srgbClr val="E8ECFF">
                <a:alpha val="0"/>
              </a:srgbClr>
            </a:solidFill>
            <a:prstDash val="solid"/>
          </a:ln>
        </p:spPr>
      </p:sp>
      <p:sp>
        <p:nvSpPr>
          <p:cNvPr id="29" name="Text 26"/>
          <p:cNvSpPr/>
          <p:nvPr/>
        </p:nvSpPr>
        <p:spPr>
          <a:xfrm>
            <a:off x="832104" y="5788152"/>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Order: checkpoint → transaction position → event position. Persist before advancing.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A TYPESCRIPT WRITER + SQLITE OR POSTGRES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Replay safely. Count each receipt once.</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09 / 15</a:t>
            </a:r>
            <a:endParaRPr lang="en-US" sz="900" dirty="0"/>
          </a:p>
        </p:txBody>
      </p:sp>
      <p:sp>
        <p:nvSpPr>
          <p:cNvPr id="7" name="Shape 4"/>
          <p:cNvSpPr/>
          <p:nvPr/>
        </p:nvSpPr>
        <p:spPr>
          <a:xfrm>
            <a:off x="685800" y="2103120"/>
            <a:ext cx="6675120" cy="3273552"/>
          </a:xfrm>
          <a:prstGeom prst="rect">
            <a:avLst/>
          </a:prstGeom>
          <a:solidFill>
            <a:srgbClr val="111529"/>
          </a:solidFill>
          <a:ln w="12700">
            <a:solidFill>
              <a:srgbClr val="111529">
                <a:alpha val="0"/>
              </a:srgbClr>
            </a:solidFill>
            <a:prstDash val="solid"/>
          </a:ln>
        </p:spPr>
      </p:sp>
      <p:sp>
        <p:nvSpPr>
          <p:cNvPr id="8" name="Text 5"/>
          <p:cNvSpPr/>
          <p:nvPr/>
        </p:nvSpPr>
        <p:spPr>
          <a:xfrm>
            <a:off x="886968" y="2286000"/>
            <a:ext cx="6272784" cy="2907792"/>
          </a:xfrm>
          <a:prstGeom prst="rect">
            <a:avLst/>
          </a:prstGeom>
          <a:noFill/>
          <a:ln/>
        </p:spPr>
        <p:txBody>
          <a:bodyPr wrap="square" lIns="0" tIns="0" rIns="0" bIns="0" rtlCol="0" anchor="t"/>
          <a:lstStyle/>
          <a:p>
            <a:pPr indent="0" marL="0">
              <a:buNone/>
            </a:pPr>
            <a:r>
              <a:rPr lang="en-US" sz="1500" dirty="0">
                <a:solidFill>
                  <a:srgbClr val="E1E7FF"/>
                </a:solidFill>
                <a:latin typeface="JetBrains Mono" pitchFamily="34" charset="0"/>
                <a:ea typeface="JetBrains Mono" pitchFamily="34" charset="-122"/>
                <a:cs typeface="JetBrains Mono" pitchFamily="34" charset="-120"/>
              </a:rPr>
              <a:t>db.exec('BEGIN');</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for (const p of payments) {</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  const r = insert.run(p.digest, p.coinType,</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    p.amount, p.sender, p.checkpoint,</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    p.timestamp, p.cursor);</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saveCursor.run(shop, d.transactions.cursor,</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  new Date().toISOString());</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db.exec('COMMIT');</a:t>
            </a:r>
            <a:endParaRPr lang="en-US" sz="1500" dirty="0"/>
          </a:p>
        </p:txBody>
      </p:sp>
      <p:sp>
        <p:nvSpPr>
          <p:cNvPr id="9" name="Text 6"/>
          <p:cNvSpPr/>
          <p:nvPr/>
        </p:nvSpPr>
        <p:spPr>
          <a:xfrm>
            <a:off x="685800" y="5468112"/>
            <a:ext cx="667512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TRANSACTION BODY EXCERPT / ERROR PATH IN indexer/indexer.ts</a:t>
            </a:r>
            <a:endParaRPr lang="en-US" sz="800" dirty="0"/>
          </a:p>
        </p:txBody>
      </p:sp>
      <p:sp>
        <p:nvSpPr>
          <p:cNvPr id="10" name="Text 7"/>
          <p:cNvSpPr/>
          <p:nvPr/>
        </p:nvSpPr>
        <p:spPr>
          <a:xfrm>
            <a:off x="7699248" y="2313432"/>
            <a:ext cx="37490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DEDUPLICATE</a:t>
            </a:r>
            <a:endParaRPr lang="en-US" sz="1000" dirty="0"/>
          </a:p>
        </p:txBody>
      </p:sp>
      <p:sp>
        <p:nvSpPr>
          <p:cNvPr id="11" name="Text 8"/>
          <p:cNvSpPr/>
          <p:nvPr/>
        </p:nvSpPr>
        <p:spPr>
          <a:xfrm>
            <a:off x="7699248" y="2624328"/>
            <a:ext cx="3749040" cy="475488"/>
          </a:xfrm>
          <a:prstGeom prst="rect">
            <a:avLst/>
          </a:prstGeom>
          <a:noFill/>
          <a:ln/>
        </p:spPr>
        <p:txBody>
          <a:bodyPr wrap="square" lIns="0" tIns="0" rIns="0" bIns="0" rtlCol="0" anchor="ctr"/>
          <a:lstStyle/>
          <a:p>
            <a:pPr indent="0" marL="0">
              <a:buNone/>
            </a:pPr>
            <a:r>
              <a:rPr lang="en-US" sz="2100" dirty="0">
                <a:solidFill>
                  <a:srgbClr val="131725"/>
                </a:solidFill>
                <a:latin typeface="DM Sans" pitchFamily="34" charset="0"/>
                <a:ea typeface="DM Sans" pitchFamily="34" charset="-122"/>
                <a:cs typeface="DM Sans" pitchFamily="34" charset="-120"/>
              </a:rPr>
              <a:t>Unique (digest, coin_type)</a:t>
            </a:r>
            <a:endParaRPr lang="en-US" sz="2100" dirty="0"/>
          </a:p>
        </p:txBody>
      </p:sp>
      <p:sp>
        <p:nvSpPr>
          <p:cNvPr id="12" name="Text 9"/>
          <p:cNvSpPr/>
          <p:nvPr/>
        </p:nvSpPr>
        <p:spPr>
          <a:xfrm>
            <a:off x="7699248" y="3246120"/>
            <a:ext cx="37490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COMMIT ATOMICALLY</a:t>
            </a:r>
            <a:endParaRPr lang="en-US" sz="1000" dirty="0"/>
          </a:p>
        </p:txBody>
      </p:sp>
      <p:sp>
        <p:nvSpPr>
          <p:cNvPr id="13" name="Text 10"/>
          <p:cNvSpPr/>
          <p:nvPr/>
        </p:nvSpPr>
        <p:spPr>
          <a:xfrm>
            <a:off x="7699248" y="3557016"/>
            <a:ext cx="3749040" cy="475488"/>
          </a:xfrm>
          <a:prstGeom prst="rect">
            <a:avLst/>
          </a:prstGeom>
          <a:noFill/>
          <a:ln/>
        </p:spPr>
        <p:txBody>
          <a:bodyPr wrap="square" lIns="0" tIns="0" rIns="0" bIns="0" rtlCol="0" anchor="ctr"/>
          <a:lstStyle/>
          <a:p>
            <a:pPr indent="0" marL="0">
              <a:buNone/>
            </a:pPr>
            <a:r>
              <a:rPr lang="en-US" sz="2100" dirty="0">
                <a:solidFill>
                  <a:srgbClr val="131725"/>
                </a:solidFill>
                <a:latin typeface="DM Sans" pitchFamily="34" charset="0"/>
                <a:ea typeface="DM Sans" pitchFamily="34" charset="-122"/>
                <a:cs typeface="DM Sans" pitchFamily="34" charset="-120"/>
              </a:rPr>
              <a:t>Receipt rows + saved cursor</a:t>
            </a:r>
            <a:endParaRPr lang="en-US" sz="2100" dirty="0"/>
          </a:p>
        </p:txBody>
      </p:sp>
      <p:sp>
        <p:nvSpPr>
          <p:cNvPr id="14" name="Text 11"/>
          <p:cNvSpPr/>
          <p:nvPr/>
        </p:nvSpPr>
        <p:spPr>
          <a:xfrm>
            <a:off x="7699248" y="4178808"/>
            <a:ext cx="37490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ON FAILURE</a:t>
            </a:r>
            <a:endParaRPr lang="en-US" sz="1000" dirty="0"/>
          </a:p>
        </p:txBody>
      </p:sp>
      <p:sp>
        <p:nvSpPr>
          <p:cNvPr id="15" name="Text 12"/>
          <p:cNvSpPr/>
          <p:nvPr/>
        </p:nvSpPr>
        <p:spPr>
          <a:xfrm>
            <a:off x="7699248" y="4489704"/>
            <a:ext cx="3749040" cy="475488"/>
          </a:xfrm>
          <a:prstGeom prst="rect">
            <a:avLst/>
          </a:prstGeom>
          <a:noFill/>
          <a:ln/>
        </p:spPr>
        <p:txBody>
          <a:bodyPr wrap="square" lIns="0" tIns="0" rIns="0" bIns="0" rtlCol="0" anchor="ctr"/>
          <a:lstStyle/>
          <a:p>
            <a:pPr indent="0" marL="0">
              <a:buNone/>
            </a:pPr>
            <a:r>
              <a:rPr lang="en-US" sz="2100" dirty="0">
                <a:solidFill>
                  <a:srgbClr val="131725"/>
                </a:solidFill>
                <a:latin typeface="DM Sans" pitchFamily="34" charset="0"/>
                <a:ea typeface="DM Sans" pitchFamily="34" charset="-122"/>
                <a:cs typeface="DM Sans" pitchFamily="34" charset="-120"/>
              </a:rPr>
              <a:t>Roll back both; reconnect</a:t>
            </a:r>
            <a:endParaRPr lang="en-US" sz="2100" dirty="0"/>
          </a:p>
        </p:txBody>
      </p:sp>
      <p:sp>
        <p:nvSpPr>
          <p:cNvPr id="16" name="Shape 13"/>
          <p:cNvSpPr/>
          <p:nvPr/>
        </p:nvSpPr>
        <p:spPr>
          <a:xfrm>
            <a:off x="685800" y="5669280"/>
            <a:ext cx="10820400" cy="420624"/>
          </a:xfrm>
          <a:prstGeom prst="rect">
            <a:avLst/>
          </a:prstGeom>
          <a:solidFill>
            <a:srgbClr val="E8ECFF"/>
          </a:solidFill>
          <a:ln w="12700">
            <a:solidFill>
              <a:srgbClr val="E8ECFF">
                <a:alpha val="0"/>
              </a:srgbClr>
            </a:solidFill>
            <a:prstDash val="solid"/>
          </a:ln>
        </p:spPr>
      </p:sp>
      <p:sp>
        <p:nvSpPr>
          <p:cNvPr id="17" name="Text 14"/>
          <p:cNvSpPr/>
          <p:nvPr/>
        </p:nvSpPr>
        <p:spPr>
          <a:xfrm>
            <a:off x="832104" y="5724144"/>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pnpm indexer  →  stop  →  pay  →  restart  →  pnpm totals 2026-10-16</a:t>
            </a:r>
            <a:endParaRPr lang="en-US" sz="1500" dirty="0"/>
          </a:p>
        </p:txBody>
      </p:sp>
      <p:sp>
        <p:nvSpPr>
          <p:cNvPr id="18" name="Text 15"/>
          <p:cNvSpPr/>
          <p:nvPr/>
        </p:nvSpPr>
        <p:spPr>
          <a:xfrm>
            <a:off x="685800" y="6190488"/>
            <a:ext cx="10789920" cy="201168"/>
          </a:xfrm>
          <a:prstGeom prst="rect">
            <a:avLst/>
          </a:prstGeom>
          <a:noFill/>
          <a:ln/>
        </p:spPr>
        <p:txBody>
          <a:bodyPr wrap="square" lIns="0" tIns="0" rIns="0" bIns="0" rtlCol="0" anchor="ctr"/>
          <a:lstStyle/>
          <a:p>
            <a:pPr indent="0" marL="0">
              <a:buNone/>
            </a:pPr>
            <a:r>
              <a:rPr lang="en-US" sz="1300" dirty="0">
                <a:solidFill>
                  <a:srgbClr val="65708B"/>
                </a:solidFill>
                <a:latin typeface="DM Sans" pitchFamily="34" charset="0"/>
                <a:ea typeface="DM Sans" pitchFamily="34" charset="-122"/>
                <a:cs typeface="DM Sans" pitchFamily="34" charset="-120"/>
              </a:rPr>
              <a:t>Totals come from durable rows, grouped by coin and UTC day, using BigInt base units.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THE CUSTOM INDEXING DECISION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When does a small writer stop being enough?</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10 / 15</a:t>
            </a:r>
            <a:endParaRPr lang="en-US" sz="900" dirty="0"/>
          </a:p>
        </p:txBody>
      </p:sp>
      <p:sp>
        <p:nvSpPr>
          <p:cNvPr id="7" name="Shape 4"/>
          <p:cNvSpPr/>
          <p:nvPr/>
        </p:nvSpPr>
        <p:spPr>
          <a:xfrm>
            <a:off x="685800" y="2103120"/>
            <a:ext cx="5285232" cy="3246120"/>
          </a:xfrm>
          <a:prstGeom prst="rect">
            <a:avLst/>
          </a:prstGeom>
          <a:solidFill>
            <a:srgbClr val="FFFFFF"/>
          </a:solidFill>
          <a:ln w="12700">
            <a:solidFill>
              <a:srgbClr val="FFFFFF">
                <a:alpha val="0"/>
              </a:srgbClr>
            </a:solidFill>
            <a:prstDash val="solid"/>
          </a:ln>
        </p:spPr>
      </p:sp>
      <p:sp>
        <p:nvSpPr>
          <p:cNvPr id="8" name="Text 5"/>
          <p:cNvSpPr/>
          <p:nvPr/>
        </p:nvSpPr>
        <p:spPr>
          <a:xfrm>
            <a:off x="886968" y="2286000"/>
            <a:ext cx="4882896"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TILL / SMALL APPLICATION FEED</a:t>
            </a:r>
            <a:endParaRPr lang="en-US" sz="1000" dirty="0"/>
          </a:p>
        </p:txBody>
      </p:sp>
      <p:sp>
        <p:nvSpPr>
          <p:cNvPr id="9" name="Text 6"/>
          <p:cNvSpPr/>
          <p:nvPr/>
        </p:nvSpPr>
        <p:spPr>
          <a:xfrm>
            <a:off x="886968" y="2688336"/>
            <a:ext cx="4882896" cy="841248"/>
          </a:xfrm>
          <a:prstGeom prst="rect">
            <a:avLst/>
          </a:prstGeom>
          <a:noFill/>
          <a:ln/>
        </p:spPr>
        <p:txBody>
          <a:bodyPr wrap="square" lIns="0" tIns="0" rIns="0" bIns="0" rtlCol="0" anchor="ctr"/>
          <a:lstStyle/>
          <a:p>
            <a:pPr indent="0" marL="0">
              <a:buNone/>
            </a:pPr>
            <a:r>
              <a:rPr lang="en-US" sz="2400" dirty="0">
                <a:solidFill>
                  <a:srgbClr val="131725"/>
                </a:solidFill>
                <a:latin typeface="DM Sans" pitchFamily="34" charset="0"/>
                <a:ea typeface="DM Sans" pitchFamily="34" charset="-122"/>
                <a:cs typeface="DM Sans" pitchFamily="34" charset="-120"/>
              </a:rPr>
              <a:t>GraphQL → TypeScript → DB</a:t>
            </a:r>
            <a:endParaRPr lang="en-US" sz="2400" dirty="0"/>
          </a:p>
        </p:txBody>
      </p:sp>
      <p:sp>
        <p:nvSpPr>
          <p:cNvPr id="10" name="Text 7"/>
          <p:cNvSpPr/>
          <p:nvPr/>
        </p:nvSpPr>
        <p:spPr>
          <a:xfrm>
            <a:off x="886968" y="3648456"/>
            <a:ext cx="4882896" cy="1517904"/>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One shop or selected event types</a:t>
            </a:r>
            <a:endParaRPr lang="en-US" sz="1800" dirty="0"/>
          </a:p>
          <a:p>
            <a:pPr indent="0" marL="0">
              <a:buNone/>
            </a:pPr>
            <a:r>
              <a:rPr lang="en-US" sz="1800" dirty="0">
                <a:solidFill>
                  <a:srgbClr val="65708B"/>
                </a:solidFill>
                <a:latin typeface="DM Sans" pitchFamily="34" charset="0"/>
                <a:ea typeface="DM Sans" pitchFamily="34" charset="-122"/>
                <a:cs typeface="DM Sans" pitchFamily="34" charset="-120"/>
              </a:rPr>
              <a:t>A few derived tables and totals</a:t>
            </a:r>
            <a:endParaRPr lang="en-US" sz="1800" dirty="0"/>
          </a:p>
          <a:p>
            <a:pPr indent="0" marL="0">
              <a:buNone/>
            </a:pPr>
            <a:r>
              <a:rPr lang="en-US" sz="1800" dirty="0">
                <a:solidFill>
                  <a:srgbClr val="65708B"/>
                </a:solidFill>
                <a:latin typeface="DM Sans" pitchFamily="34" charset="0"/>
                <a:ea typeface="DM Sans" pitchFamily="34" charset="-122"/>
                <a:cs typeface="DM Sans" pitchFamily="34" charset="-120"/>
              </a:rPr>
              <a:t>Restart from a committed cursor</a:t>
            </a:r>
            <a:endParaRPr lang="en-US" sz="1800" dirty="0"/>
          </a:p>
        </p:txBody>
      </p:sp>
      <p:sp>
        <p:nvSpPr>
          <p:cNvPr id="11" name="Shape 8"/>
          <p:cNvSpPr/>
          <p:nvPr/>
        </p:nvSpPr>
        <p:spPr>
          <a:xfrm>
            <a:off x="6217920" y="2103120"/>
            <a:ext cx="5285232" cy="3246120"/>
          </a:xfrm>
          <a:prstGeom prst="rect">
            <a:avLst/>
          </a:prstGeom>
          <a:solidFill>
            <a:srgbClr val="2338FF"/>
          </a:solidFill>
          <a:ln w="12700">
            <a:solidFill>
              <a:srgbClr val="2338FF">
                <a:alpha val="0"/>
              </a:srgbClr>
            </a:solidFill>
            <a:prstDash val="solid"/>
          </a:ln>
        </p:spPr>
      </p:sp>
      <p:sp>
        <p:nvSpPr>
          <p:cNvPr id="12" name="Text 9"/>
          <p:cNvSpPr/>
          <p:nvPr/>
        </p:nvSpPr>
        <p:spPr>
          <a:xfrm>
            <a:off x="6419088" y="2286000"/>
            <a:ext cx="4882896" cy="228600"/>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ANALYTICS / OWNED PIPELINE</a:t>
            </a:r>
            <a:endParaRPr lang="en-US" sz="1000" dirty="0"/>
          </a:p>
        </p:txBody>
      </p:sp>
      <p:sp>
        <p:nvSpPr>
          <p:cNvPr id="13" name="Text 10"/>
          <p:cNvSpPr/>
          <p:nvPr/>
        </p:nvSpPr>
        <p:spPr>
          <a:xfrm>
            <a:off x="6419088" y="2688336"/>
            <a:ext cx="4882896" cy="841248"/>
          </a:xfrm>
          <a:prstGeom prst="rect">
            <a:avLst/>
          </a:prstGeom>
          <a:noFill/>
          <a:ln/>
        </p:spPr>
        <p:txBody>
          <a:bodyPr wrap="square" lIns="0" tIns="0" rIns="0" bIns="0" rtlCol="0" anchor="ctr"/>
          <a:lstStyle/>
          <a:p>
            <a:pPr indent="0" marL="0">
              <a:buNone/>
            </a:pPr>
            <a:r>
              <a:rPr lang="en-US" sz="2400" dirty="0">
                <a:solidFill>
                  <a:srgbClr val="FFFFFF"/>
                </a:solidFill>
                <a:latin typeface="DM Sans" pitchFamily="34" charset="0"/>
                <a:ea typeface="DM Sans" pitchFamily="34" charset="-122"/>
                <a:cs typeface="DM Sans" pitchFamily="34" charset="-120"/>
              </a:rPr>
              <a:t>Checkpoints → Rust → DB</a:t>
            </a:r>
            <a:endParaRPr lang="en-US" sz="2400" dirty="0"/>
          </a:p>
        </p:txBody>
      </p:sp>
      <p:sp>
        <p:nvSpPr>
          <p:cNvPr id="14" name="Text 11"/>
          <p:cNvSpPr/>
          <p:nvPr/>
        </p:nvSpPr>
        <p:spPr>
          <a:xfrm>
            <a:off x="6419088" y="3648456"/>
            <a:ext cx="4882896" cy="1517904"/>
          </a:xfrm>
          <a:prstGeom prst="rect">
            <a:avLst/>
          </a:prstGeom>
          <a:noFill/>
          <a:ln/>
        </p:spPr>
        <p:txBody>
          <a:bodyPr wrap="square" lIns="0" tIns="0" rIns="0" bIns="0" rtlCol="0" anchor="t"/>
          <a:lstStyle/>
          <a:p>
            <a:pPr indent="0" marL="0">
              <a:buNone/>
            </a:pPr>
            <a:r>
              <a:rPr lang="en-US" sz="1800" dirty="0">
                <a:solidFill>
                  <a:srgbClr val="E4E9FF"/>
                </a:solidFill>
                <a:latin typeface="DM Sans" pitchFamily="34" charset="0"/>
                <a:ea typeface="DM Sans" pitchFamily="34" charset="-122"/>
                <a:cs typeface="DM Sans" pitchFamily="34" charset="-120"/>
              </a:rPr>
              <a:t>Broad backfills and reprocessing</a:t>
            </a:r>
            <a:endParaRPr lang="en-US" sz="1800" dirty="0"/>
          </a:p>
          <a:p>
            <a:pPr indent="0" marL="0">
              <a:buNone/>
            </a:pPr>
            <a:r>
              <a:rPr lang="en-US" sz="1800" dirty="0">
                <a:solidFill>
                  <a:srgbClr val="E4E9FF"/>
                </a:solidFill>
                <a:latin typeface="DM Sans" pitchFamily="34" charset="0"/>
                <a:ea typeface="DM Sans" pitchFamily="34" charset="-122"/>
                <a:cs typeface="DM Sans" pitchFamily="34" charset="-120"/>
              </a:rPr>
              <a:t>Custom schemas and joins</a:t>
            </a:r>
            <a:endParaRPr lang="en-US" sz="1800" dirty="0"/>
          </a:p>
          <a:p>
            <a:pPr indent="0" marL="0">
              <a:buNone/>
            </a:pPr>
            <a:r>
              <a:rPr lang="en-US" sz="1800" dirty="0">
                <a:solidFill>
                  <a:srgbClr val="E4E9FF"/>
                </a:solidFill>
                <a:latin typeface="DM Sans" pitchFamily="34" charset="0"/>
                <a:ea typeface="DM Sans" pitchFamily="34" charset="-122"/>
                <a:cs typeface="DM Sans" pitchFamily="34" charset="-120"/>
              </a:rPr>
              <a:t>Control throughput and retention</a:t>
            </a:r>
            <a:endParaRPr lang="en-US" sz="1800" dirty="0"/>
          </a:p>
        </p:txBody>
      </p:sp>
      <p:sp>
        <p:nvSpPr>
          <p:cNvPr id="15" name="Shape 12"/>
          <p:cNvSpPr/>
          <p:nvPr/>
        </p:nvSpPr>
        <p:spPr>
          <a:xfrm>
            <a:off x="685800" y="5779008"/>
            <a:ext cx="10820400" cy="420624"/>
          </a:xfrm>
          <a:prstGeom prst="rect">
            <a:avLst/>
          </a:prstGeom>
          <a:solidFill>
            <a:srgbClr val="E8ECFF"/>
          </a:solidFill>
          <a:ln w="12700">
            <a:solidFill>
              <a:srgbClr val="E8ECFF">
                <a:alpha val="0"/>
              </a:srgbClr>
            </a:solidFill>
            <a:prstDash val="solid"/>
          </a:ln>
        </p:spPr>
      </p:sp>
      <p:sp>
        <p:nvSpPr>
          <p:cNvPr id="16" name="Text 13"/>
          <p:cNvSpPr/>
          <p:nvPr/>
        </p:nvSpPr>
        <p:spPr>
          <a:xfrm>
            <a:off x="832104" y="5833872"/>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Decide from coverage, processing cost and operational ownership; measure before scaling.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ARCHIVE LOOKUP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An old receipt needs retained history.</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11 / 15</a:t>
            </a:r>
            <a:endParaRPr lang="en-US" sz="900" dirty="0"/>
          </a:p>
        </p:txBody>
      </p:sp>
      <p:sp>
        <p:nvSpPr>
          <p:cNvPr id="7" name="Text 4"/>
          <p:cNvSpPr/>
          <p:nvPr/>
        </p:nvSpPr>
        <p:spPr>
          <a:xfrm>
            <a:off x="685800" y="2066544"/>
            <a:ext cx="10789920" cy="228600"/>
          </a:xfrm>
          <a:prstGeom prst="rect">
            <a:avLst/>
          </a:prstGeom>
          <a:noFill/>
          <a:ln/>
        </p:spPr>
        <p:txBody>
          <a:bodyPr wrap="square" lIns="0" tIns="0" rIns="0" bIns="0" rtlCol="0" anchor="ctr"/>
          <a:lstStyle/>
          <a:p>
            <a:pPr indent="0" marL="0">
              <a:buNone/>
            </a:pPr>
            <a:r>
              <a:rPr lang="en-US" sz="1100" dirty="0">
                <a:solidFill>
                  <a:srgbClr val="2338FF"/>
                </a:solidFill>
                <a:latin typeface="JetBrains Mono" pitchFamily="34" charset="0"/>
                <a:ea typeface="JetBrains Mono" pitchFamily="34" charset="-122"/>
                <a:cs typeface="JetBrains Mono" pitchFamily="34" charset="-120"/>
              </a:rPr>
              <a:t>ONE KNOWN TESTNET TRANSACTION</a:t>
            </a:r>
            <a:endParaRPr lang="en-US" sz="1100" dirty="0"/>
          </a:p>
        </p:txBody>
      </p:sp>
      <p:sp>
        <p:nvSpPr>
          <p:cNvPr id="8" name="Text 5"/>
          <p:cNvSpPr/>
          <p:nvPr/>
        </p:nvSpPr>
        <p:spPr>
          <a:xfrm>
            <a:off x="685800" y="2505456"/>
            <a:ext cx="10789920" cy="365760"/>
          </a:xfrm>
          <a:prstGeom prst="rect">
            <a:avLst/>
          </a:prstGeom>
          <a:noFill/>
          <a:ln/>
        </p:spPr>
        <p:txBody>
          <a:bodyPr wrap="square" lIns="0" tIns="0" rIns="0" bIns="0" rtlCol="0" anchor="ctr"/>
          <a:lstStyle/>
          <a:p>
            <a:pPr indent="0" marL="0">
              <a:buNone/>
            </a:pPr>
            <a:r>
              <a:rPr lang="en-US" sz="1800" dirty="0">
                <a:solidFill>
                  <a:srgbClr val="131725"/>
                </a:solidFill>
                <a:latin typeface="JetBrains Mono" pitchFamily="34" charset="0"/>
                <a:ea typeface="JetBrains Mono" pitchFamily="34" charset="-122"/>
                <a:cs typeface="JetBrains Mono" pitchFamily="34" charset="-120"/>
              </a:rPr>
              <a:t>ArCwXsZUTywBuM4GbNX4CVMERmBBgeYY2mgmJJjdHa3a</a:t>
            </a:r>
            <a:endParaRPr lang="en-US" sz="1800" dirty="0"/>
          </a:p>
        </p:txBody>
      </p:sp>
      <p:sp>
        <p:nvSpPr>
          <p:cNvPr id="9" name="Shape 6"/>
          <p:cNvSpPr/>
          <p:nvPr/>
        </p:nvSpPr>
        <p:spPr>
          <a:xfrm>
            <a:off x="685800" y="3191256"/>
            <a:ext cx="4937760" cy="2148840"/>
          </a:xfrm>
          <a:prstGeom prst="rect">
            <a:avLst/>
          </a:prstGeom>
          <a:solidFill>
            <a:srgbClr val="FFFFFF"/>
          </a:solidFill>
          <a:ln w="12700">
            <a:solidFill>
              <a:srgbClr val="FFFFFF">
                <a:alpha val="0"/>
              </a:srgbClr>
            </a:solidFill>
            <a:prstDash val="solid"/>
          </a:ln>
        </p:spPr>
      </p:sp>
      <p:sp>
        <p:nvSpPr>
          <p:cNvPr id="10" name="Text 7"/>
          <p:cNvSpPr/>
          <p:nvPr/>
        </p:nvSpPr>
        <p:spPr>
          <a:xfrm>
            <a:off x="886968" y="3374136"/>
            <a:ext cx="453542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PUBLIC FULL NODE / VERIFIED 15 OCT</a:t>
            </a:r>
            <a:endParaRPr lang="en-US" sz="1000" dirty="0"/>
          </a:p>
        </p:txBody>
      </p:sp>
      <p:sp>
        <p:nvSpPr>
          <p:cNvPr id="11" name="Text 8"/>
          <p:cNvSpPr/>
          <p:nvPr/>
        </p:nvSpPr>
        <p:spPr>
          <a:xfrm>
            <a:off x="886968" y="3721608"/>
            <a:ext cx="4535424" cy="566928"/>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Not found</a:t>
            </a:r>
            <a:endParaRPr lang="en-US" sz="2200" dirty="0"/>
          </a:p>
        </p:txBody>
      </p:sp>
      <p:sp>
        <p:nvSpPr>
          <p:cNvPr id="12" name="Text 9"/>
          <p:cNvSpPr/>
          <p:nvPr/>
        </p:nvSpPr>
        <p:spPr>
          <a:xfrm>
            <a:off x="886968" y="4325112"/>
            <a:ext cx="4535424" cy="868680"/>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This endpoint did not return the old record.</a:t>
            </a:r>
            <a:endParaRPr lang="en-US" sz="1800" dirty="0"/>
          </a:p>
        </p:txBody>
      </p:sp>
      <p:sp>
        <p:nvSpPr>
          <p:cNvPr id="13" name="Shape 10"/>
          <p:cNvSpPr/>
          <p:nvPr/>
        </p:nvSpPr>
        <p:spPr>
          <a:xfrm>
            <a:off x="6053328" y="3191256"/>
            <a:ext cx="5440680" cy="2148840"/>
          </a:xfrm>
          <a:prstGeom prst="rect">
            <a:avLst/>
          </a:prstGeom>
          <a:solidFill>
            <a:srgbClr val="2338FF"/>
          </a:solidFill>
          <a:ln w="12700">
            <a:solidFill>
              <a:srgbClr val="2338FF">
                <a:alpha val="0"/>
              </a:srgbClr>
            </a:solidFill>
            <a:prstDash val="solid"/>
          </a:ln>
        </p:spPr>
      </p:sp>
      <p:sp>
        <p:nvSpPr>
          <p:cNvPr id="14" name="Text 11"/>
          <p:cNvSpPr/>
          <p:nvPr/>
        </p:nvSpPr>
        <p:spPr>
          <a:xfrm>
            <a:off x="6254496" y="3374136"/>
            <a:ext cx="5038344" cy="228600"/>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GRAPHQL / VERIFIED 15 OCT</a:t>
            </a:r>
            <a:endParaRPr lang="en-US" sz="1000" dirty="0"/>
          </a:p>
        </p:txBody>
      </p:sp>
      <p:sp>
        <p:nvSpPr>
          <p:cNvPr id="15" name="Text 12"/>
          <p:cNvSpPr/>
          <p:nvPr/>
        </p:nvSpPr>
        <p:spPr>
          <a:xfrm>
            <a:off x="6254496" y="3721608"/>
            <a:ext cx="5038344" cy="566928"/>
          </a:xfrm>
          <a:prstGeom prst="rect">
            <a:avLst/>
          </a:prstGeom>
          <a:noFill/>
          <a:ln/>
        </p:spPr>
        <p:txBody>
          <a:bodyPr wrap="square" lIns="0" tIns="0" rIns="0" bIns="0" rtlCol="0" anchor="ctr"/>
          <a:lstStyle/>
          <a:p>
            <a:pPr indent="0" marL="0">
              <a:buNone/>
            </a:pPr>
            <a:r>
              <a:rPr lang="en-US" sz="2200" dirty="0">
                <a:solidFill>
                  <a:srgbClr val="FFFFFF"/>
                </a:solidFill>
                <a:latin typeface="DM Sans" pitchFamily="34" charset="0"/>
                <a:ea typeface="DM Sans" pitchFamily="34" charset="-122"/>
                <a:cs typeface="DM Sans" pitchFamily="34" charset="-120"/>
              </a:rPr>
              <a:t>SUCCESS · 7 October 2025</a:t>
            </a:r>
            <a:endParaRPr lang="en-US" sz="2200" dirty="0"/>
          </a:p>
        </p:txBody>
      </p:sp>
      <p:sp>
        <p:nvSpPr>
          <p:cNvPr id="16" name="Text 13"/>
          <p:cNvSpPr/>
          <p:nvPr/>
        </p:nvSpPr>
        <p:spPr>
          <a:xfrm>
            <a:off x="6254496" y="4325112"/>
            <a:ext cx="5038344" cy="868680"/>
          </a:xfrm>
          <a:prstGeom prst="rect">
            <a:avLst/>
          </a:prstGeom>
          <a:noFill/>
          <a:ln/>
        </p:spPr>
        <p:txBody>
          <a:bodyPr wrap="square" lIns="0" tIns="0" rIns="0" bIns="0" rtlCol="0" anchor="t"/>
          <a:lstStyle/>
          <a:p>
            <a:pPr indent="0" marL="0">
              <a:buNone/>
            </a:pPr>
            <a:r>
              <a:rPr lang="en-US" sz="1800" dirty="0">
                <a:solidFill>
                  <a:srgbClr val="E4E9FF"/>
                </a:solidFill>
                <a:latin typeface="DM Sans" pitchFamily="34" charset="0"/>
                <a:ea typeface="DM Sans" pitchFamily="34" charset="-122"/>
                <a:cs typeface="DM Sans" pitchFamily="34" charset="-120"/>
              </a:rPr>
              <a:t>Checkpoint 250,000,000</a:t>
            </a:r>
            <a:endParaRPr lang="en-US" sz="1800" dirty="0"/>
          </a:p>
          <a:p>
            <a:pPr indent="0" marL="0">
              <a:buNone/>
            </a:pPr>
            <a:r>
              <a:rPr lang="en-US" sz="1800" dirty="0">
                <a:solidFill>
                  <a:srgbClr val="E4E9FF"/>
                </a:solidFill>
                <a:latin typeface="DM Sans" pitchFamily="34" charset="0"/>
                <a:ea typeface="DM Sans" pitchFamily="34" charset="-122"/>
                <a:cs typeface="DM Sans" pitchFamily="34" charset="-120"/>
              </a:rPr>
              <a:t>Archive-backed history path</a:t>
            </a:r>
            <a:endParaRPr lang="en-US" sz="1800" dirty="0"/>
          </a:p>
        </p:txBody>
      </p:sp>
      <p:sp>
        <p:nvSpPr>
          <p:cNvPr id="17" name="Text 14"/>
          <p:cNvSpPr/>
          <p:nvPr/>
        </p:nvSpPr>
        <p:spPr>
          <a:xfrm>
            <a:off x="5669280" y="4078224"/>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8" name="Shape 15"/>
          <p:cNvSpPr/>
          <p:nvPr/>
        </p:nvSpPr>
        <p:spPr>
          <a:xfrm>
            <a:off x="685800" y="5760720"/>
            <a:ext cx="10820400" cy="420624"/>
          </a:xfrm>
          <a:prstGeom prst="rect">
            <a:avLst/>
          </a:prstGeom>
          <a:solidFill>
            <a:srgbClr val="E8ECFF"/>
          </a:solidFill>
          <a:ln w="12700">
            <a:solidFill>
              <a:srgbClr val="E8ECFF">
                <a:alpha val="0"/>
              </a:srgbClr>
            </a:solidFill>
            <a:prstDash val="solid"/>
          </a:ln>
        </p:spPr>
      </p:sp>
      <p:sp>
        <p:nvSpPr>
          <p:cNvPr id="19" name="Text 16"/>
          <p:cNvSpPr/>
          <p:nvPr/>
        </p:nvSpPr>
        <p:spPr>
          <a:xfrm>
            <a:off x="832104" y="5815584"/>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pnpm receipt   /   Full node retention and archival history serve different needs.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PRODUCTION + REAL GOTCHAS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Build for limits, reconnects and changes.</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12 / 15</a:t>
            </a:r>
            <a:endParaRPr lang="en-US" sz="900" dirty="0"/>
          </a:p>
        </p:txBody>
      </p:sp>
      <p:sp>
        <p:nvSpPr>
          <p:cNvPr id="7" name="Shape 4"/>
          <p:cNvSpPr/>
          <p:nvPr/>
        </p:nvSpPr>
        <p:spPr>
          <a:xfrm>
            <a:off x="685800" y="2039112"/>
            <a:ext cx="10817352" cy="512064"/>
          </a:xfrm>
          <a:prstGeom prst="rect">
            <a:avLst/>
          </a:prstGeom>
          <a:solidFill>
            <a:srgbClr val="2338FF"/>
          </a:solidFill>
          <a:ln w="12700">
            <a:solidFill>
              <a:srgbClr val="2338FF">
                <a:alpha val="0"/>
              </a:srgbClr>
            </a:solidFill>
            <a:prstDash val="solid"/>
          </a:ln>
        </p:spPr>
      </p:sp>
      <p:sp>
        <p:nvSpPr>
          <p:cNvPr id="8" name="Text 5"/>
          <p:cNvSpPr/>
          <p:nvPr/>
        </p:nvSpPr>
        <p:spPr>
          <a:xfrm>
            <a:off x="832104" y="2112264"/>
            <a:ext cx="2240280" cy="384048"/>
          </a:xfrm>
          <a:prstGeom prst="rect">
            <a:avLst/>
          </a:prstGeom>
          <a:noFill/>
          <a:ln/>
        </p:spPr>
        <p:txBody>
          <a:bodyPr wrap="square" lIns="0" tIns="0" rIns="0" bIns="0" rtlCol="0" anchor="ctr"/>
          <a:lstStyle/>
          <a:p>
            <a:pPr indent="0" marL="0">
              <a:buNone/>
            </a:pPr>
            <a:r>
              <a:rPr lang="en-US" sz="1600" dirty="0">
                <a:solidFill>
                  <a:srgbClr val="FFFFFF"/>
                </a:solidFill>
                <a:latin typeface="DM Sans" pitchFamily="34" charset="0"/>
                <a:ea typeface="DM Sans" pitchFamily="34" charset="-122"/>
                <a:cs typeface="DM Sans" pitchFamily="34" charset="-120"/>
              </a:rPr>
              <a:t>WHAT CAN FAIL</a:t>
            </a:r>
            <a:endParaRPr lang="en-US" sz="1600" dirty="0"/>
          </a:p>
        </p:txBody>
      </p:sp>
      <p:sp>
        <p:nvSpPr>
          <p:cNvPr id="9" name="Text 6"/>
          <p:cNvSpPr/>
          <p:nvPr/>
        </p:nvSpPr>
        <p:spPr>
          <a:xfrm>
            <a:off x="3154680" y="2112264"/>
            <a:ext cx="3538728" cy="384048"/>
          </a:xfrm>
          <a:prstGeom prst="rect">
            <a:avLst/>
          </a:prstGeom>
          <a:noFill/>
          <a:ln/>
        </p:spPr>
        <p:txBody>
          <a:bodyPr wrap="square" lIns="0" tIns="0" rIns="0" bIns="0" rtlCol="0" anchor="ctr"/>
          <a:lstStyle/>
          <a:p>
            <a:pPr indent="0" marL="0">
              <a:buNone/>
            </a:pPr>
            <a:r>
              <a:rPr lang="en-US" sz="1600" dirty="0">
                <a:solidFill>
                  <a:srgbClr val="FFFFFF"/>
                </a:solidFill>
                <a:latin typeface="DM Sans" pitchFamily="34" charset="0"/>
                <a:ea typeface="DM Sans" pitchFamily="34" charset="-122"/>
                <a:cs typeface="DM Sans" pitchFamily="34" charset="-120"/>
              </a:rPr>
              <a:t>FAILURE / LIMIT</a:t>
            </a:r>
            <a:endParaRPr lang="en-US" sz="1600" dirty="0"/>
          </a:p>
        </p:txBody>
      </p:sp>
      <p:sp>
        <p:nvSpPr>
          <p:cNvPr id="10" name="Text 7"/>
          <p:cNvSpPr/>
          <p:nvPr/>
        </p:nvSpPr>
        <p:spPr>
          <a:xfrm>
            <a:off x="6876288" y="2112264"/>
            <a:ext cx="4443984" cy="384048"/>
          </a:xfrm>
          <a:prstGeom prst="rect">
            <a:avLst/>
          </a:prstGeom>
          <a:noFill/>
          <a:ln/>
        </p:spPr>
        <p:txBody>
          <a:bodyPr wrap="square" lIns="0" tIns="0" rIns="0" bIns="0" rtlCol="0" anchor="ctr"/>
          <a:lstStyle/>
          <a:p>
            <a:pPr indent="0" marL="0">
              <a:buNone/>
            </a:pPr>
            <a:r>
              <a:rPr lang="en-US" sz="1600" dirty="0">
                <a:solidFill>
                  <a:srgbClr val="FFFFFF"/>
                </a:solidFill>
                <a:latin typeface="DM Sans" pitchFamily="34" charset="0"/>
                <a:ea typeface="DM Sans" pitchFamily="34" charset="-122"/>
                <a:cs typeface="DM Sans" pitchFamily="34" charset="-120"/>
              </a:rPr>
              <a:t>WHAT TO DO</a:t>
            </a:r>
            <a:endParaRPr lang="en-US" sz="1600" dirty="0"/>
          </a:p>
        </p:txBody>
      </p:sp>
      <p:sp>
        <p:nvSpPr>
          <p:cNvPr id="11" name="Shape 8"/>
          <p:cNvSpPr/>
          <p:nvPr/>
        </p:nvSpPr>
        <p:spPr>
          <a:xfrm>
            <a:off x="685800" y="2606040"/>
            <a:ext cx="10817352" cy="512064"/>
          </a:xfrm>
          <a:prstGeom prst="rect">
            <a:avLst/>
          </a:prstGeom>
          <a:solidFill>
            <a:srgbClr val="FFFFFF"/>
          </a:solidFill>
          <a:ln w="12700">
            <a:solidFill>
              <a:srgbClr val="FFFFFF">
                <a:alpha val="0"/>
              </a:srgbClr>
            </a:solidFill>
            <a:prstDash val="solid"/>
          </a:ln>
        </p:spPr>
      </p:sp>
      <p:sp>
        <p:nvSpPr>
          <p:cNvPr id="12" name="Text 9"/>
          <p:cNvSpPr/>
          <p:nvPr/>
        </p:nvSpPr>
        <p:spPr>
          <a:xfrm>
            <a:off x="832104" y="2679192"/>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Query limits</a:t>
            </a:r>
            <a:endParaRPr lang="en-US" sz="1600" dirty="0"/>
          </a:p>
        </p:txBody>
      </p:sp>
      <p:sp>
        <p:nvSpPr>
          <p:cNvPr id="13" name="Text 10"/>
          <p:cNvSpPr/>
          <p:nvPr/>
        </p:nvSpPr>
        <p:spPr>
          <a:xfrm>
            <a:off x="3154680" y="2679192"/>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5,000 B / 40 s; pages 20 / 50</a:t>
            </a:r>
            <a:endParaRPr lang="en-US" sz="1600" dirty="0"/>
          </a:p>
        </p:txBody>
      </p:sp>
      <p:sp>
        <p:nvSpPr>
          <p:cNvPr id="14" name="Text 11"/>
          <p:cNvSpPr/>
          <p:nvPr/>
        </p:nvSpPr>
        <p:spPr>
          <a:xfrm>
            <a:off x="6876288" y="2679192"/>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Select less; page nested collections</a:t>
            </a:r>
            <a:endParaRPr lang="en-US" sz="1600" dirty="0"/>
          </a:p>
        </p:txBody>
      </p:sp>
      <p:sp>
        <p:nvSpPr>
          <p:cNvPr id="15" name="Shape 12"/>
          <p:cNvSpPr/>
          <p:nvPr/>
        </p:nvSpPr>
        <p:spPr>
          <a:xfrm>
            <a:off x="685800" y="3172968"/>
            <a:ext cx="10817352" cy="512064"/>
          </a:xfrm>
          <a:prstGeom prst="rect">
            <a:avLst/>
          </a:prstGeom>
          <a:solidFill>
            <a:srgbClr val="E8ECFF"/>
          </a:solidFill>
          <a:ln w="12700">
            <a:solidFill>
              <a:srgbClr val="E8ECFF">
                <a:alpha val="0"/>
              </a:srgbClr>
            </a:solidFill>
            <a:prstDash val="solid"/>
          </a:ln>
        </p:spPr>
      </p:sp>
      <p:sp>
        <p:nvSpPr>
          <p:cNvPr id="16" name="Text 13"/>
          <p:cNvSpPr/>
          <p:nvPr/>
        </p:nvSpPr>
        <p:spPr>
          <a:xfrm>
            <a:off x="832104" y="3246120"/>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Subscriber pressure</a:t>
            </a:r>
            <a:endParaRPr lang="en-US" sz="1600" dirty="0"/>
          </a:p>
        </p:txBody>
      </p:sp>
      <p:sp>
        <p:nvSpPr>
          <p:cNvPr id="17" name="Text 14"/>
          <p:cNvSpPr/>
          <p:nvPr/>
        </p:nvSpPr>
        <p:spPr>
          <a:xfrm>
            <a:off x="3154680" y="3246120"/>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Throttling / stream disconnects</a:t>
            </a:r>
            <a:endParaRPr lang="en-US" sz="1600" dirty="0"/>
          </a:p>
        </p:txBody>
      </p:sp>
      <p:sp>
        <p:nvSpPr>
          <p:cNvPr id="18" name="Text 15"/>
          <p:cNvSpPr/>
          <p:nvPr/>
        </p:nvSpPr>
        <p:spPr>
          <a:xfrm>
            <a:off x="6876288" y="3246120"/>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Bound work; back off; resume cursor</a:t>
            </a:r>
            <a:endParaRPr lang="en-US" sz="1600" dirty="0"/>
          </a:p>
        </p:txBody>
      </p:sp>
      <p:sp>
        <p:nvSpPr>
          <p:cNvPr id="19" name="Shape 16"/>
          <p:cNvSpPr/>
          <p:nvPr/>
        </p:nvSpPr>
        <p:spPr>
          <a:xfrm>
            <a:off x="685800" y="3739896"/>
            <a:ext cx="10817352" cy="512064"/>
          </a:xfrm>
          <a:prstGeom prst="rect">
            <a:avLst/>
          </a:prstGeom>
          <a:solidFill>
            <a:srgbClr val="FFFFFF"/>
          </a:solidFill>
          <a:ln w="12700">
            <a:solidFill>
              <a:srgbClr val="FFFFFF">
                <a:alpha val="0"/>
              </a:srgbClr>
            </a:solidFill>
            <a:prstDash val="solid"/>
          </a:ln>
        </p:spPr>
      </p:sp>
      <p:sp>
        <p:nvSpPr>
          <p:cNvPr id="20" name="Text 17"/>
          <p:cNvSpPr/>
          <p:nvPr/>
        </p:nvSpPr>
        <p:spPr>
          <a:xfrm>
            <a:off x="832104" y="3813048"/>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Account / query</a:t>
            </a:r>
            <a:endParaRPr lang="en-US" sz="1600" dirty="0"/>
          </a:p>
        </p:txBody>
      </p:sp>
      <p:sp>
        <p:nvSpPr>
          <p:cNvPr id="21" name="Text 18"/>
          <p:cNvSpPr/>
          <p:nvPr/>
        </p:nvSpPr>
        <p:spPr>
          <a:xfrm>
            <a:off x="3154680" y="3813048"/>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Old cursor may no longer fit</a:t>
            </a:r>
            <a:endParaRPr lang="en-US" sz="1600" dirty="0"/>
          </a:p>
        </p:txBody>
      </p:sp>
      <p:sp>
        <p:nvSpPr>
          <p:cNvPr id="22" name="Text 19"/>
          <p:cNvSpPr/>
          <p:nvPr/>
        </p:nvSpPr>
        <p:spPr>
          <a:xfrm>
            <a:off x="6876288" y="3813048"/>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Scope state; stop stale connections</a:t>
            </a:r>
            <a:endParaRPr lang="en-US" sz="1600" dirty="0"/>
          </a:p>
        </p:txBody>
      </p:sp>
      <p:sp>
        <p:nvSpPr>
          <p:cNvPr id="23" name="Shape 20"/>
          <p:cNvSpPr/>
          <p:nvPr/>
        </p:nvSpPr>
        <p:spPr>
          <a:xfrm>
            <a:off x="685800" y="4306824"/>
            <a:ext cx="10817352" cy="512064"/>
          </a:xfrm>
          <a:prstGeom prst="rect">
            <a:avLst/>
          </a:prstGeom>
          <a:solidFill>
            <a:srgbClr val="E8ECFF"/>
          </a:solidFill>
          <a:ln w="12700">
            <a:solidFill>
              <a:srgbClr val="E8ECFF">
                <a:alpha val="0"/>
              </a:srgbClr>
            </a:solidFill>
            <a:prstDash val="solid"/>
          </a:ln>
        </p:spPr>
      </p:sp>
      <p:sp>
        <p:nvSpPr>
          <p:cNvPr id="24" name="Text 21"/>
          <p:cNvSpPr/>
          <p:nvPr/>
        </p:nvSpPr>
        <p:spPr>
          <a:xfrm>
            <a:off x="832104" y="4379976"/>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Address deposits</a:t>
            </a:r>
            <a:endParaRPr lang="en-US" sz="1600" dirty="0"/>
          </a:p>
        </p:txBody>
      </p:sp>
      <p:sp>
        <p:nvSpPr>
          <p:cNvPr id="25" name="Text 22"/>
          <p:cNvSpPr/>
          <p:nvPr/>
        </p:nvSpPr>
        <p:spPr>
          <a:xfrm>
            <a:off x="3154680" y="4379976"/>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Credit arrived after catch-up</a:t>
            </a:r>
            <a:endParaRPr lang="en-US" sz="1600" dirty="0"/>
          </a:p>
        </p:txBody>
      </p:sp>
      <p:sp>
        <p:nvSpPr>
          <p:cNvPr id="26" name="Text 23"/>
          <p:cNvSpPr/>
          <p:nvPr/>
        </p:nvSpPr>
        <p:spPr>
          <a:xfrm>
            <a:off x="6876288" y="4379976"/>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Verify digest; reconcile missed data</a:t>
            </a:r>
            <a:endParaRPr lang="en-US" sz="1600" dirty="0"/>
          </a:p>
        </p:txBody>
      </p:sp>
      <p:sp>
        <p:nvSpPr>
          <p:cNvPr id="27" name="Shape 24"/>
          <p:cNvSpPr/>
          <p:nvPr/>
        </p:nvSpPr>
        <p:spPr>
          <a:xfrm>
            <a:off x="685800" y="4873752"/>
            <a:ext cx="10817352" cy="512064"/>
          </a:xfrm>
          <a:prstGeom prst="rect">
            <a:avLst/>
          </a:prstGeom>
          <a:solidFill>
            <a:srgbClr val="FFFFFF"/>
          </a:solidFill>
          <a:ln w="12700">
            <a:solidFill>
              <a:srgbClr val="FFFFFF">
                <a:alpha val="0"/>
              </a:srgbClr>
            </a:solidFill>
            <a:prstDash val="solid"/>
          </a:ln>
        </p:spPr>
      </p:sp>
      <p:sp>
        <p:nvSpPr>
          <p:cNvPr id="28" name="Text 25"/>
          <p:cNvSpPr/>
          <p:nvPr/>
        </p:nvSpPr>
        <p:spPr>
          <a:xfrm>
            <a:off x="832104" y="4946904"/>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Prototype persistence</a:t>
            </a:r>
            <a:endParaRPr lang="en-US" sz="1600" dirty="0"/>
          </a:p>
        </p:txBody>
      </p:sp>
      <p:sp>
        <p:nvSpPr>
          <p:cNvPr id="29" name="Text 26"/>
          <p:cNvSpPr/>
          <p:nvPr/>
        </p:nvSpPr>
        <p:spPr>
          <a:xfrm>
            <a:off x="3154680" y="4946904"/>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Browser has only 500 receipts</a:t>
            </a:r>
            <a:endParaRPr lang="en-US" sz="1600" dirty="0"/>
          </a:p>
        </p:txBody>
      </p:sp>
      <p:sp>
        <p:nvSpPr>
          <p:cNvPr id="30" name="Text 27"/>
          <p:cNvSpPr/>
          <p:nvPr/>
        </p:nvSpPr>
        <p:spPr>
          <a:xfrm>
            <a:off x="6876288" y="4946904"/>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Keep a durable writer + database</a:t>
            </a:r>
            <a:endParaRPr lang="en-US" sz="1600" dirty="0"/>
          </a:p>
        </p:txBody>
      </p:sp>
      <p:sp>
        <p:nvSpPr>
          <p:cNvPr id="31" name="Shape 28"/>
          <p:cNvSpPr/>
          <p:nvPr/>
        </p:nvSpPr>
        <p:spPr>
          <a:xfrm>
            <a:off x="685800" y="5742432"/>
            <a:ext cx="10820400" cy="420624"/>
          </a:xfrm>
          <a:prstGeom prst="rect">
            <a:avLst/>
          </a:prstGeom>
          <a:solidFill>
            <a:srgbClr val="E8ECFF"/>
          </a:solidFill>
          <a:ln w="12700">
            <a:solidFill>
              <a:srgbClr val="E8ECFF">
                <a:alpha val="0"/>
              </a:srgbClr>
            </a:solidFill>
            <a:prstDash val="solid"/>
          </a:ln>
        </p:spPr>
      </p:sp>
      <p:sp>
        <p:nvSpPr>
          <p:cNvPr id="32" name="Text 29"/>
          <p:cNvSpPr/>
          <p:nvPr/>
        </p:nvSpPr>
        <p:spPr>
          <a:xfrm>
            <a:off x="832104" y="5797296"/>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Before launch: use a provider or operate the service; verify quotas, retention and stream support.</a:t>
            </a:r>
            <a:endParaRPr lang="en-US" sz="1500" dirty="0"/>
          </a:p>
        </p:txBody>
      </p:sp>
      <p:sp>
        <p:nvSpPr>
          <p:cNvPr id="33" name="Text 30"/>
          <p:cNvSpPr/>
          <p:nvPr/>
        </p:nvSpPr>
        <p:spPr>
          <a:xfrm>
            <a:off x="685800" y="6227064"/>
            <a:ext cx="10789920" cy="210312"/>
          </a:xfrm>
          <a:prstGeom prst="rect">
            <a:avLst/>
          </a:prstGeom>
          <a:noFill/>
          <a:ln/>
        </p:spPr>
        <p:txBody>
          <a:bodyPr wrap="square" lIns="0" tIns="0" rIns="0" bIns="0" rtlCol="0" anchor="ctr"/>
          <a:lstStyle/>
          <a:p>
            <a:pPr indent="0" marL="0">
              <a:buNone/>
            </a:pPr>
            <a:r>
              <a:rPr lang="en-US" sz="1100" dirty="0">
                <a:solidFill>
                  <a:srgbClr val="65708B"/>
                </a:solidFill>
                <a:latin typeface="DM Sans" pitchFamily="34" charset="0"/>
                <a:ea typeface="DM Sans" pitchFamily="34" charset="-122"/>
                <a:cs typeface="DM Sans" pitchFamily="34" charset="-120"/>
              </a:rPr>
              <a:t>Also: HTTP 200 can contain errors; public faucets can delay; clearing site data loses demo keys.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BUILD TILL AND TRY TO BREAK IT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Lab: prove each part of the payment journey.</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13 / 15</a:t>
            </a:r>
            <a:endParaRPr lang="en-US" sz="900" dirty="0"/>
          </a:p>
        </p:txBody>
      </p:sp>
      <p:sp>
        <p:nvSpPr>
          <p:cNvPr id="7" name="Shape 4"/>
          <p:cNvSpPr/>
          <p:nvPr/>
        </p:nvSpPr>
        <p:spPr>
          <a:xfrm>
            <a:off x="685800" y="2084832"/>
            <a:ext cx="10817352" cy="530352"/>
          </a:xfrm>
          <a:prstGeom prst="rect">
            <a:avLst/>
          </a:prstGeom>
          <a:solidFill>
            <a:srgbClr val="2338FF"/>
          </a:solidFill>
          <a:ln w="12700">
            <a:solidFill>
              <a:srgbClr val="2338FF">
                <a:alpha val="0"/>
              </a:srgbClr>
            </a:solidFill>
            <a:prstDash val="solid"/>
          </a:ln>
        </p:spPr>
      </p:sp>
      <p:sp>
        <p:nvSpPr>
          <p:cNvPr id="8" name="Text 5"/>
          <p:cNvSpPr/>
          <p:nvPr/>
        </p:nvSpPr>
        <p:spPr>
          <a:xfrm>
            <a:off x="832104" y="2157984"/>
            <a:ext cx="2679192" cy="402336"/>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ACTION</a:t>
            </a:r>
            <a:endParaRPr lang="en-US" sz="1700" dirty="0"/>
          </a:p>
        </p:txBody>
      </p:sp>
      <p:sp>
        <p:nvSpPr>
          <p:cNvPr id="9" name="Text 6"/>
          <p:cNvSpPr/>
          <p:nvPr/>
        </p:nvSpPr>
        <p:spPr>
          <a:xfrm>
            <a:off x="3593592" y="2157984"/>
            <a:ext cx="3867912" cy="402336"/>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EXPECTED EVIDENCE</a:t>
            </a:r>
            <a:endParaRPr lang="en-US" sz="1700" dirty="0"/>
          </a:p>
        </p:txBody>
      </p:sp>
      <p:sp>
        <p:nvSpPr>
          <p:cNvPr id="10" name="Text 7"/>
          <p:cNvSpPr/>
          <p:nvPr/>
        </p:nvSpPr>
        <p:spPr>
          <a:xfrm>
            <a:off x="7644384" y="2157984"/>
            <a:ext cx="3675888" cy="402336"/>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PART OF THE STACK</a:t>
            </a:r>
            <a:endParaRPr lang="en-US" sz="1700" dirty="0"/>
          </a:p>
        </p:txBody>
      </p:sp>
      <p:sp>
        <p:nvSpPr>
          <p:cNvPr id="11" name="Shape 8"/>
          <p:cNvSpPr/>
          <p:nvPr/>
        </p:nvSpPr>
        <p:spPr>
          <a:xfrm>
            <a:off x="685800" y="2670048"/>
            <a:ext cx="10817352" cy="530352"/>
          </a:xfrm>
          <a:prstGeom prst="rect">
            <a:avLst/>
          </a:prstGeom>
          <a:solidFill>
            <a:srgbClr val="FFFFFF"/>
          </a:solidFill>
          <a:ln w="12700">
            <a:solidFill>
              <a:srgbClr val="FFFFFF">
                <a:alpha val="0"/>
              </a:srgbClr>
            </a:solidFill>
            <a:prstDash val="solid"/>
          </a:ln>
        </p:spPr>
      </p:sp>
      <p:sp>
        <p:nvSpPr>
          <p:cNvPr id="12" name="Text 9"/>
          <p:cNvSpPr/>
          <p:nvPr/>
        </p:nvSpPr>
        <p:spPr>
          <a:xfrm>
            <a:off x="832104" y="2743200"/>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Open + pay</a:t>
            </a:r>
            <a:endParaRPr lang="en-US" sz="1700" dirty="0"/>
          </a:p>
        </p:txBody>
      </p:sp>
      <p:sp>
        <p:nvSpPr>
          <p:cNvPr id="13" name="Text 10"/>
          <p:cNvSpPr/>
          <p:nvPr/>
        </p:nvSpPr>
        <p:spPr>
          <a:xfrm>
            <a:off x="3593592" y="2743200"/>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One receipt + chime; shop credit</a:t>
            </a:r>
            <a:endParaRPr lang="en-US" sz="1700" dirty="0"/>
          </a:p>
        </p:txBody>
      </p:sp>
      <p:sp>
        <p:nvSpPr>
          <p:cNvPr id="14" name="Text 11"/>
          <p:cNvSpPr/>
          <p:nvPr/>
        </p:nvSpPr>
        <p:spPr>
          <a:xfrm>
            <a:off x="7644384" y="2743200"/>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gRPC execution + GraphQL feed</a:t>
            </a:r>
            <a:endParaRPr lang="en-US" sz="1700" dirty="0"/>
          </a:p>
        </p:txBody>
      </p:sp>
      <p:sp>
        <p:nvSpPr>
          <p:cNvPr id="15" name="Shape 12"/>
          <p:cNvSpPr/>
          <p:nvPr/>
        </p:nvSpPr>
        <p:spPr>
          <a:xfrm>
            <a:off x="685800" y="3255264"/>
            <a:ext cx="10817352" cy="530352"/>
          </a:xfrm>
          <a:prstGeom prst="rect">
            <a:avLst/>
          </a:prstGeom>
          <a:solidFill>
            <a:srgbClr val="E8ECFF"/>
          </a:solidFill>
          <a:ln w="12700">
            <a:solidFill>
              <a:srgbClr val="E8ECFF">
                <a:alpha val="0"/>
              </a:srgbClr>
            </a:solidFill>
            <a:prstDash val="solid"/>
          </a:ln>
        </p:spPr>
      </p:sp>
      <p:sp>
        <p:nvSpPr>
          <p:cNvPr id="16" name="Text 13"/>
          <p:cNvSpPr/>
          <p:nvPr/>
        </p:nvSpPr>
        <p:spPr>
          <a:xfrm>
            <a:off x="832104" y="3328416"/>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Pause → pay → resume</a:t>
            </a:r>
            <a:endParaRPr lang="en-US" sz="1700" dirty="0"/>
          </a:p>
        </p:txBody>
      </p:sp>
      <p:sp>
        <p:nvSpPr>
          <p:cNvPr id="17" name="Text 14"/>
          <p:cNvSpPr/>
          <p:nvPr/>
        </p:nvSpPr>
        <p:spPr>
          <a:xfrm>
            <a:off x="3593592" y="3328416"/>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Missed digest appears</a:t>
            </a:r>
            <a:endParaRPr lang="en-US" sz="1700" dirty="0"/>
          </a:p>
        </p:txBody>
      </p:sp>
      <p:sp>
        <p:nvSpPr>
          <p:cNvPr id="18" name="Text 15"/>
          <p:cNvSpPr/>
          <p:nvPr/>
        </p:nvSpPr>
        <p:spPr>
          <a:xfrm>
            <a:off x="7644384" y="3328416"/>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Cursor backfill → live</a:t>
            </a:r>
            <a:endParaRPr lang="en-US" sz="1700" dirty="0"/>
          </a:p>
        </p:txBody>
      </p:sp>
      <p:sp>
        <p:nvSpPr>
          <p:cNvPr id="19" name="Shape 16"/>
          <p:cNvSpPr/>
          <p:nvPr/>
        </p:nvSpPr>
        <p:spPr>
          <a:xfrm>
            <a:off x="685800" y="3840480"/>
            <a:ext cx="10817352" cy="530352"/>
          </a:xfrm>
          <a:prstGeom prst="rect">
            <a:avLst/>
          </a:prstGeom>
          <a:solidFill>
            <a:srgbClr val="FFFFFF"/>
          </a:solidFill>
          <a:ln w="12700">
            <a:solidFill>
              <a:srgbClr val="FFFFFF">
                <a:alpha val="0"/>
              </a:srgbClr>
            </a:solidFill>
            <a:prstDash val="solid"/>
          </a:ln>
        </p:spPr>
      </p:sp>
      <p:sp>
        <p:nvSpPr>
          <p:cNvPr id="20" name="Text 17"/>
          <p:cNvSpPr/>
          <p:nvPr/>
        </p:nvSpPr>
        <p:spPr>
          <a:xfrm>
            <a:off x="832104" y="3913632"/>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Reload / restart writer</a:t>
            </a:r>
            <a:endParaRPr lang="en-US" sz="1700" dirty="0"/>
          </a:p>
        </p:txBody>
      </p:sp>
      <p:sp>
        <p:nvSpPr>
          <p:cNvPr id="21" name="Text 18"/>
          <p:cNvSpPr/>
          <p:nvPr/>
        </p:nvSpPr>
        <p:spPr>
          <a:xfrm>
            <a:off x="3593592" y="3913632"/>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Same receipt counted once</a:t>
            </a:r>
            <a:endParaRPr lang="en-US" sz="1700" dirty="0"/>
          </a:p>
        </p:txBody>
      </p:sp>
      <p:sp>
        <p:nvSpPr>
          <p:cNvPr id="22" name="Text 19"/>
          <p:cNvSpPr/>
          <p:nvPr/>
        </p:nvSpPr>
        <p:spPr>
          <a:xfrm>
            <a:off x="7644384" y="3913632"/>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Deduplication + durable cursor</a:t>
            </a:r>
            <a:endParaRPr lang="en-US" sz="1700" dirty="0"/>
          </a:p>
        </p:txBody>
      </p:sp>
      <p:sp>
        <p:nvSpPr>
          <p:cNvPr id="23" name="Shape 20"/>
          <p:cNvSpPr/>
          <p:nvPr/>
        </p:nvSpPr>
        <p:spPr>
          <a:xfrm>
            <a:off x="685800" y="4425696"/>
            <a:ext cx="10817352" cy="530352"/>
          </a:xfrm>
          <a:prstGeom prst="rect">
            <a:avLst/>
          </a:prstGeom>
          <a:solidFill>
            <a:srgbClr val="E8ECFF"/>
          </a:solidFill>
          <a:ln w="12700">
            <a:solidFill>
              <a:srgbClr val="E8ECFF">
                <a:alpha val="0"/>
              </a:srgbClr>
            </a:solidFill>
            <a:prstDash val="solid"/>
          </a:ln>
        </p:spPr>
      </p:sp>
      <p:sp>
        <p:nvSpPr>
          <p:cNvPr id="24" name="Text 21"/>
          <p:cNvSpPr/>
          <p:nvPr/>
        </p:nvSpPr>
        <p:spPr>
          <a:xfrm>
            <a:off x="832104" y="4498848"/>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pnpm totals</a:t>
            </a:r>
            <a:endParaRPr lang="en-US" sz="1700" dirty="0"/>
          </a:p>
        </p:txBody>
      </p:sp>
      <p:sp>
        <p:nvSpPr>
          <p:cNvPr id="25" name="Text 22"/>
          <p:cNvSpPr/>
          <p:nvPr/>
        </p:nvSpPr>
        <p:spPr>
          <a:xfrm>
            <a:off x="3593592" y="4498848"/>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DB total for the chosen UTC day</a:t>
            </a:r>
            <a:endParaRPr lang="en-US" sz="1700" dirty="0"/>
          </a:p>
        </p:txBody>
      </p:sp>
      <p:sp>
        <p:nvSpPr>
          <p:cNvPr id="26" name="Text 23"/>
          <p:cNvSpPr/>
          <p:nvPr/>
        </p:nvSpPr>
        <p:spPr>
          <a:xfrm>
            <a:off x="7644384" y="4498848"/>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SQLite writer + BigInt</a:t>
            </a:r>
            <a:endParaRPr lang="en-US" sz="1700" dirty="0"/>
          </a:p>
        </p:txBody>
      </p:sp>
      <p:sp>
        <p:nvSpPr>
          <p:cNvPr id="27" name="Shape 24"/>
          <p:cNvSpPr/>
          <p:nvPr/>
        </p:nvSpPr>
        <p:spPr>
          <a:xfrm>
            <a:off x="685800" y="5010912"/>
            <a:ext cx="10817352" cy="530352"/>
          </a:xfrm>
          <a:prstGeom prst="rect">
            <a:avLst/>
          </a:prstGeom>
          <a:solidFill>
            <a:srgbClr val="FFFFFF"/>
          </a:solidFill>
          <a:ln w="12700">
            <a:solidFill>
              <a:srgbClr val="FFFFFF">
                <a:alpha val="0"/>
              </a:srgbClr>
            </a:solidFill>
            <a:prstDash val="solid"/>
          </a:ln>
        </p:spPr>
      </p:sp>
      <p:sp>
        <p:nvSpPr>
          <p:cNvPr id="28" name="Text 25"/>
          <p:cNvSpPr/>
          <p:nvPr/>
        </p:nvSpPr>
        <p:spPr>
          <a:xfrm>
            <a:off x="832104" y="5084064"/>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Find old receipt</a:t>
            </a:r>
            <a:endParaRPr lang="en-US" sz="1700" dirty="0"/>
          </a:p>
        </p:txBody>
      </p:sp>
      <p:sp>
        <p:nvSpPr>
          <p:cNvPr id="29" name="Text 26"/>
          <p:cNvSpPr/>
          <p:nvPr/>
        </p:nvSpPr>
        <p:spPr>
          <a:xfrm>
            <a:off x="3593592" y="5084064"/>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Date + checkpoint + SUCCESS</a:t>
            </a:r>
            <a:endParaRPr lang="en-US" sz="1700" dirty="0"/>
          </a:p>
        </p:txBody>
      </p:sp>
      <p:sp>
        <p:nvSpPr>
          <p:cNvPr id="30" name="Text 27"/>
          <p:cNvSpPr/>
          <p:nvPr/>
        </p:nvSpPr>
        <p:spPr>
          <a:xfrm>
            <a:off x="7644384" y="5084064"/>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Archive-backed lookup</a:t>
            </a:r>
            <a:endParaRPr lang="en-US" sz="1700" dirty="0"/>
          </a:p>
        </p:txBody>
      </p:sp>
      <p:sp>
        <p:nvSpPr>
          <p:cNvPr id="31" name="Text 28"/>
          <p:cNvSpPr/>
          <p:nvPr/>
        </p:nvSpPr>
        <p:spPr>
          <a:xfrm>
            <a:off x="685800" y="5806440"/>
            <a:ext cx="10789920" cy="219456"/>
          </a:xfrm>
          <a:prstGeom prst="rect">
            <a:avLst/>
          </a:prstGeom>
          <a:noFill/>
          <a:ln/>
        </p:spPr>
        <p:txBody>
          <a:bodyPr wrap="square" lIns="0" tIns="0" rIns="0" bIns="0" rtlCol="0" anchor="ctr"/>
          <a:lstStyle/>
          <a:p>
            <a:pPr indent="0" marL="0">
              <a:buNone/>
            </a:pPr>
            <a:r>
              <a:rPr lang="en-US" sz="1000" dirty="0">
                <a:solidFill>
                  <a:srgbClr val="89551C"/>
                </a:solidFill>
                <a:latin typeface="JetBrains Mono" pitchFamily="34" charset="0"/>
                <a:ea typeface="JetBrains Mono" pitchFamily="34" charset="-122"/>
                <a:cs typeface="JetBrains Mono" pitchFamily="34" charset="-120"/>
              </a:rPr>
              <a:t>TESTNET / VERIFIED PAYMENT PATH: SUI / USDC RUN STILL PENDING</a:t>
            </a:r>
            <a:endParaRPr lang="en-US" sz="1000" dirty="0"/>
          </a:p>
        </p:txBody>
      </p:sp>
      <p:sp>
        <p:nvSpPr>
          <p:cNvPr id="32" name="Text 29">
            <a:hlinkClick r:id="rId1" tooltip=""/>
          </p:cNvPr>
          <p:cNvSpPr/>
          <p:nvPr/>
        </p:nvSpPr>
        <p:spPr>
          <a:xfrm>
            <a:off x="685800" y="6190488"/>
            <a:ext cx="5029200" cy="228600"/>
          </a:xfrm>
          <a:prstGeom prst="rect">
            <a:avLst/>
          </a:prstGeom>
          <a:noFill/>
          <a:ln/>
        </p:spPr>
        <p:txBody>
          <a:bodyPr wrap="square" lIns="0" tIns="0" rIns="0" bIns="0" rtlCol="0" anchor="ctr"/>
          <a:lstStyle/>
          <a:p>
            <a:pPr indent="0" marL="0">
              <a:buNone/>
            </a:pPr>
            <a:r>
              <a:rPr lang="en-US" sz="1400" u="sng" dirty="0">
                <a:solidFill>
                  <a:srgbClr val="2338FF"/>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day3-till.vercel.app</a:t>
            </a:r>
            <a:endParaRPr lang="en-US" sz="1400" dirty="0"/>
          </a:p>
        </p:txBody>
      </p:sp>
      <p:sp>
        <p:nvSpPr>
          <p:cNvPr id="33" name="Text 30">
            <a:hlinkClick r:id="rId2" tooltip=""/>
          </p:cNvPr>
          <p:cNvSpPr/>
          <p:nvPr/>
        </p:nvSpPr>
        <p:spPr>
          <a:xfrm>
            <a:off x="5577840" y="6190488"/>
            <a:ext cx="5916168" cy="228600"/>
          </a:xfrm>
          <a:prstGeom prst="rect">
            <a:avLst/>
          </a:prstGeom>
          <a:noFill/>
          <a:ln/>
        </p:spPr>
        <p:txBody>
          <a:bodyPr wrap="square" lIns="0" tIns="0" rIns="0" bIns="0" rtlCol="0" anchor="ctr"/>
          <a:lstStyle/>
          <a:p>
            <a:pPr indent="0" marL="0">
              <a:buNone/>
            </a:pPr>
            <a:r>
              <a:rPr lang="en-US" sz="1300" u="sng" dirty="0">
                <a:solidFill>
                  <a:srgbClr val="2338FF"/>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Repo: github.com/Nuel-osas/day3-till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[ 3 / ONE REAL JSON-RPC MIGRATION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Migrate the client, then check the response.</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14 / 15</a:t>
            </a:r>
            <a:endParaRPr lang="en-US" sz="900" dirty="0"/>
          </a:p>
        </p:txBody>
      </p:sp>
      <p:sp>
        <p:nvSpPr>
          <p:cNvPr id="7" name="Text 4"/>
          <p:cNvSpPr/>
          <p:nvPr/>
        </p:nvSpPr>
        <p:spPr>
          <a:xfrm>
            <a:off x="685800" y="2057400"/>
            <a:ext cx="526694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BEFORE / migration/legacy-jsonrpc.ts</a:t>
            </a:r>
            <a:endParaRPr lang="en-US" sz="1000" dirty="0"/>
          </a:p>
        </p:txBody>
      </p:sp>
      <p:sp>
        <p:nvSpPr>
          <p:cNvPr id="8" name="Text 5"/>
          <p:cNvSpPr/>
          <p:nvPr/>
        </p:nvSpPr>
        <p:spPr>
          <a:xfrm>
            <a:off x="6217920" y="2057400"/>
            <a:ext cx="526694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AFTER / migration/migrated-grpc.ts</a:t>
            </a:r>
            <a:endParaRPr lang="en-US" sz="1000" dirty="0"/>
          </a:p>
        </p:txBody>
      </p:sp>
      <p:sp>
        <p:nvSpPr>
          <p:cNvPr id="9" name="Shape 6"/>
          <p:cNvSpPr/>
          <p:nvPr/>
        </p:nvSpPr>
        <p:spPr>
          <a:xfrm>
            <a:off x="685800" y="2532888"/>
            <a:ext cx="5285232" cy="2898648"/>
          </a:xfrm>
          <a:prstGeom prst="rect">
            <a:avLst/>
          </a:prstGeom>
          <a:solidFill>
            <a:srgbClr val="111529"/>
          </a:solidFill>
          <a:ln w="12700">
            <a:solidFill>
              <a:srgbClr val="111529">
                <a:alpha val="0"/>
              </a:srgbClr>
            </a:solidFill>
            <a:prstDash val="solid"/>
          </a:ln>
        </p:spPr>
      </p:sp>
      <p:sp>
        <p:nvSpPr>
          <p:cNvPr id="10" name="Text 7"/>
          <p:cNvSpPr/>
          <p:nvPr/>
        </p:nvSpPr>
        <p:spPr>
          <a:xfrm>
            <a:off x="886968" y="2715768"/>
            <a:ext cx="4882896" cy="2532888"/>
          </a:xfrm>
          <a:prstGeom prst="rect">
            <a:avLst/>
          </a:prstGeom>
          <a:noFill/>
          <a:ln/>
        </p:spPr>
        <p:txBody>
          <a:bodyPr wrap="square" lIns="0" tIns="0" rIns="0" bIns="0" rtlCol="0" anchor="t"/>
          <a:lstStyle/>
          <a:p>
            <a:pPr indent="0" marL="0">
              <a:buNone/>
            </a:pPr>
            <a:r>
              <a:rPr lang="en-US" sz="1370" dirty="0">
                <a:solidFill>
                  <a:srgbClr val="E1E7FF"/>
                </a:solidFill>
                <a:latin typeface="JetBrains Mono" pitchFamily="34" charset="0"/>
                <a:ea typeface="JetBrains Mono" pitchFamily="34" charset="-122"/>
                <a:cs typeface="JetBrains Mono" pitchFamily="34" charset="-120"/>
              </a:rPr>
              <a:t>import { SuiJsonRpcClient,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getJsonRpcFullnodeUrl</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from '@mysten/sui/jsonRpc';</a:t>
            </a:r>
            <a:endParaRPr lang="en-US" sz="1370" dirty="0"/>
          </a:p>
          <a:p>
            <a:pPr indent="0" marL="0">
              <a:buNone/>
            </a:pP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const client = new SuiJsonRpcClient({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url: getJsonRpcFullnodeUrl('testnet'),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network: 'testnet'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a:t>
            </a:r>
            <a:endParaRPr lang="en-US" sz="1370" dirty="0"/>
          </a:p>
          <a:p>
            <a:pPr indent="0" marL="0">
              <a:buNone/>
            </a:pP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client.getBalance({ owner: SHOP })</a:t>
            </a:r>
            <a:endParaRPr lang="en-US" sz="1370" dirty="0"/>
          </a:p>
        </p:txBody>
      </p:sp>
      <p:sp>
        <p:nvSpPr>
          <p:cNvPr id="11" name="Shape 8"/>
          <p:cNvSpPr/>
          <p:nvPr/>
        </p:nvSpPr>
        <p:spPr>
          <a:xfrm>
            <a:off x="6217920" y="2532888"/>
            <a:ext cx="5285232" cy="2898648"/>
          </a:xfrm>
          <a:prstGeom prst="rect">
            <a:avLst/>
          </a:prstGeom>
          <a:solidFill>
            <a:srgbClr val="111529"/>
          </a:solidFill>
          <a:ln w="12700">
            <a:solidFill>
              <a:srgbClr val="111529">
                <a:alpha val="0"/>
              </a:srgbClr>
            </a:solidFill>
            <a:prstDash val="solid"/>
          </a:ln>
        </p:spPr>
      </p:sp>
      <p:sp>
        <p:nvSpPr>
          <p:cNvPr id="12" name="Text 9"/>
          <p:cNvSpPr/>
          <p:nvPr/>
        </p:nvSpPr>
        <p:spPr>
          <a:xfrm>
            <a:off x="6419088" y="2715768"/>
            <a:ext cx="4882896" cy="2532888"/>
          </a:xfrm>
          <a:prstGeom prst="rect">
            <a:avLst/>
          </a:prstGeom>
          <a:noFill/>
          <a:ln/>
        </p:spPr>
        <p:txBody>
          <a:bodyPr wrap="square" lIns="0" tIns="0" rIns="0" bIns="0" rtlCol="0" anchor="t"/>
          <a:lstStyle/>
          <a:p>
            <a:pPr indent="0" marL="0">
              <a:buNone/>
            </a:pPr>
            <a:r>
              <a:rPr lang="en-US" sz="1370" dirty="0">
                <a:solidFill>
                  <a:srgbClr val="E1E7FF"/>
                </a:solidFill>
                <a:latin typeface="JetBrains Mono" pitchFamily="34" charset="0"/>
                <a:ea typeface="JetBrains Mono" pitchFamily="34" charset="-122"/>
                <a:cs typeface="JetBrains Mono" pitchFamily="34" charset="-120"/>
              </a:rPr>
              <a:t>import { SuiGrpcClient }</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from '@mysten/sui/grpc';</a:t>
            </a:r>
            <a:endParaRPr lang="en-US" sz="1370" dirty="0"/>
          </a:p>
          <a:p>
            <a:pPr indent="0" marL="0">
              <a:buNone/>
            </a:pP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const client = new SuiGrpcClient({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network: 'testnet',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baseUrl:</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'https://fullnode.testnet.sui.io:443'</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a:t>
            </a:r>
            <a:endParaRPr lang="en-US" sz="1370" dirty="0"/>
          </a:p>
          <a:p>
            <a:pPr indent="0" marL="0">
              <a:buNone/>
            </a:pP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const { balance } =</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await client.getBalance({ owner: SHOP });</a:t>
            </a:r>
            <a:endParaRPr lang="en-US" sz="1370" dirty="0"/>
          </a:p>
        </p:txBody>
      </p:sp>
      <p:sp>
        <p:nvSpPr>
          <p:cNvPr id="13" name="Shape 10"/>
          <p:cNvSpPr/>
          <p:nvPr/>
        </p:nvSpPr>
        <p:spPr>
          <a:xfrm>
            <a:off x="685800" y="5779008"/>
            <a:ext cx="10820400" cy="420624"/>
          </a:xfrm>
          <a:prstGeom prst="rect">
            <a:avLst/>
          </a:prstGeom>
          <a:solidFill>
            <a:srgbClr val="E8ECFF"/>
          </a:solidFill>
          <a:ln w="12700">
            <a:solidFill>
              <a:srgbClr val="E8ECFF">
                <a:alpha val="0"/>
              </a:srgbClr>
            </a:solidFill>
            <a:prstDash val="solid"/>
          </a:ln>
        </p:spPr>
      </p:sp>
      <p:sp>
        <p:nvSpPr>
          <p:cNvPr id="14" name="Text 11"/>
          <p:cNvSpPr/>
          <p:nvPr/>
        </p:nvSpPr>
        <p:spPr>
          <a:xfrm>
            <a:off x="832104" y="5833872"/>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Check: result shape + total balance + errors + pagination. Obtain fresh API cursors.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80F"/>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B7C3E2"/>
                </a:solidFill>
                <a:latin typeface="JetBrains Mono" pitchFamily="34" charset="0"/>
                <a:ea typeface="JetBrains Mono" pitchFamily="34" charset="-122"/>
                <a:cs typeface="JetBrains Mono" pitchFamily="34" charset="-120"/>
              </a:rPr>
              <a:t>[ 3 / THE ROOM’S MIGRATION WORKSHOP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FFFFFF"/>
                </a:solidFill>
                <a:latin typeface="DM Sans" pitchFamily="34" charset="0"/>
                <a:ea typeface="DM Sans" pitchFamily="34" charset="-122"/>
                <a:cs typeface="DM Sans" pitchFamily="34" charset="-120"/>
              </a:rPr>
              <a:t>Your app: replace one call and prove it works.</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B7C3E2"/>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B7C3E2"/>
                </a:solidFill>
                <a:latin typeface="JetBrains Mono" pitchFamily="34" charset="0"/>
                <a:ea typeface="JetBrains Mono" pitchFamily="34" charset="-122"/>
                <a:cs typeface="JetBrains Mono" pitchFamily="34" charset="-120"/>
              </a:rPr>
              <a:t>15 / 15</a:t>
            </a:r>
            <a:endParaRPr lang="en-US" sz="900" dirty="0"/>
          </a:p>
        </p:txBody>
      </p:sp>
      <p:sp>
        <p:nvSpPr>
          <p:cNvPr id="7" name="Text 4"/>
          <p:cNvSpPr/>
          <p:nvPr/>
        </p:nvSpPr>
        <p:spPr>
          <a:xfrm>
            <a:off x="685800" y="2167128"/>
            <a:ext cx="502920" cy="274320"/>
          </a:xfrm>
          <a:prstGeom prst="rect">
            <a:avLst/>
          </a:prstGeom>
          <a:noFill/>
          <a:ln/>
        </p:spPr>
        <p:txBody>
          <a:bodyPr wrap="square" lIns="0" tIns="0" rIns="0" bIns="0" rtlCol="0" anchor="ctr"/>
          <a:lstStyle/>
          <a:p>
            <a:pPr indent="0" marL="0">
              <a:buNone/>
            </a:pPr>
            <a:r>
              <a:rPr lang="en-US" sz="1800" dirty="0">
                <a:solidFill>
                  <a:srgbClr val="B7C3E2"/>
                </a:solidFill>
                <a:latin typeface="JetBrains Mono" pitchFamily="34" charset="0"/>
                <a:ea typeface="JetBrains Mono" pitchFamily="34" charset="-122"/>
                <a:cs typeface="JetBrains Mono" pitchFamily="34" charset="-120"/>
              </a:rPr>
              <a:t>01</a:t>
            </a:r>
            <a:endParaRPr lang="en-US" sz="1800" dirty="0"/>
          </a:p>
        </p:txBody>
      </p:sp>
      <p:sp>
        <p:nvSpPr>
          <p:cNvPr id="8" name="Text 5"/>
          <p:cNvSpPr/>
          <p:nvPr/>
        </p:nvSpPr>
        <p:spPr>
          <a:xfrm>
            <a:off x="1463040" y="2057400"/>
            <a:ext cx="4297680" cy="548640"/>
          </a:xfrm>
          <a:prstGeom prst="rect">
            <a:avLst/>
          </a:prstGeom>
          <a:noFill/>
          <a:ln/>
        </p:spPr>
        <p:txBody>
          <a:bodyPr wrap="square" lIns="0" tIns="0" rIns="0" bIns="0" rtlCol="0" anchor="ctr"/>
          <a:lstStyle/>
          <a:p>
            <a:pPr indent="0" marL="0">
              <a:buNone/>
            </a:pPr>
            <a:r>
              <a:rPr lang="en-US" sz="2700" dirty="0">
                <a:solidFill>
                  <a:srgbClr val="FFFFFF"/>
                </a:solidFill>
                <a:latin typeface="DM Sans" pitchFamily="34" charset="0"/>
                <a:ea typeface="DM Sans" pitchFamily="34" charset="-122"/>
                <a:cs typeface="DM Sans" pitchFamily="34" charset="-120"/>
              </a:rPr>
              <a:t>Find one call</a:t>
            </a:r>
            <a:endParaRPr lang="en-US" sz="2700" dirty="0"/>
          </a:p>
        </p:txBody>
      </p:sp>
      <p:sp>
        <p:nvSpPr>
          <p:cNvPr id="9" name="Text 6"/>
          <p:cNvSpPr/>
          <p:nvPr/>
        </p:nvSpPr>
        <p:spPr>
          <a:xfrm>
            <a:off x="6035040" y="2103120"/>
            <a:ext cx="5440680" cy="502920"/>
          </a:xfrm>
          <a:prstGeom prst="rect">
            <a:avLst/>
          </a:prstGeom>
          <a:noFill/>
          <a:ln/>
        </p:spPr>
        <p:txBody>
          <a:bodyPr wrap="square" lIns="0" tIns="0" rIns="0" bIns="0" rtlCol="0" anchor="ctr"/>
          <a:lstStyle/>
          <a:p>
            <a:pPr indent="0" marL="0">
              <a:buNone/>
            </a:pPr>
            <a:r>
              <a:rPr lang="en-US" sz="2100" dirty="0">
                <a:solidFill>
                  <a:srgbClr val="B7C3E2"/>
                </a:solidFill>
                <a:latin typeface="DM Sans" pitchFamily="34" charset="0"/>
                <a:ea typeface="DM Sans" pitchFamily="34" charset="-122"/>
                <a:cs typeface="DM Sans" pitchFamily="34" charset="-120"/>
              </a:rPr>
              <a:t>What does its screen need?</a:t>
            </a:r>
            <a:endParaRPr lang="en-US" sz="2100" dirty="0"/>
          </a:p>
        </p:txBody>
      </p:sp>
      <p:sp>
        <p:nvSpPr>
          <p:cNvPr id="10" name="Text 7"/>
          <p:cNvSpPr/>
          <p:nvPr/>
        </p:nvSpPr>
        <p:spPr>
          <a:xfrm>
            <a:off x="685800" y="3099816"/>
            <a:ext cx="502920" cy="274320"/>
          </a:xfrm>
          <a:prstGeom prst="rect">
            <a:avLst/>
          </a:prstGeom>
          <a:noFill/>
          <a:ln/>
        </p:spPr>
        <p:txBody>
          <a:bodyPr wrap="square" lIns="0" tIns="0" rIns="0" bIns="0" rtlCol="0" anchor="ctr"/>
          <a:lstStyle/>
          <a:p>
            <a:pPr indent="0" marL="0">
              <a:buNone/>
            </a:pPr>
            <a:r>
              <a:rPr lang="en-US" sz="1800" dirty="0">
                <a:solidFill>
                  <a:srgbClr val="B7C3E2"/>
                </a:solidFill>
                <a:latin typeface="JetBrains Mono" pitchFamily="34" charset="0"/>
                <a:ea typeface="JetBrains Mono" pitchFamily="34" charset="-122"/>
                <a:cs typeface="JetBrains Mono" pitchFamily="34" charset="-120"/>
              </a:rPr>
              <a:t>02</a:t>
            </a:r>
            <a:endParaRPr lang="en-US" sz="1800" dirty="0"/>
          </a:p>
        </p:txBody>
      </p:sp>
      <p:sp>
        <p:nvSpPr>
          <p:cNvPr id="11" name="Text 8"/>
          <p:cNvSpPr/>
          <p:nvPr/>
        </p:nvSpPr>
        <p:spPr>
          <a:xfrm>
            <a:off x="1463040" y="2990088"/>
            <a:ext cx="4297680" cy="548640"/>
          </a:xfrm>
          <a:prstGeom prst="rect">
            <a:avLst/>
          </a:prstGeom>
          <a:noFill/>
          <a:ln/>
        </p:spPr>
        <p:txBody>
          <a:bodyPr wrap="square" lIns="0" tIns="0" rIns="0" bIns="0" rtlCol="0" anchor="ctr"/>
          <a:lstStyle/>
          <a:p>
            <a:pPr indent="0" marL="0">
              <a:buNone/>
            </a:pPr>
            <a:r>
              <a:rPr lang="en-US" sz="2700" dirty="0">
                <a:solidFill>
                  <a:srgbClr val="FFFFFF"/>
                </a:solidFill>
                <a:latin typeface="DM Sans" pitchFamily="34" charset="0"/>
                <a:ea typeface="DM Sans" pitchFamily="34" charset="-122"/>
                <a:cs typeface="DM Sans" pitchFamily="34" charset="-120"/>
              </a:rPr>
              <a:t>Choose + replace</a:t>
            </a:r>
            <a:endParaRPr lang="en-US" sz="2700" dirty="0"/>
          </a:p>
        </p:txBody>
      </p:sp>
      <p:sp>
        <p:nvSpPr>
          <p:cNvPr id="12" name="Text 9"/>
          <p:cNvSpPr/>
          <p:nvPr/>
        </p:nvSpPr>
        <p:spPr>
          <a:xfrm>
            <a:off x="6035040" y="3035808"/>
            <a:ext cx="5440680" cy="502920"/>
          </a:xfrm>
          <a:prstGeom prst="rect">
            <a:avLst/>
          </a:prstGeom>
          <a:noFill/>
          <a:ln/>
        </p:spPr>
        <p:txBody>
          <a:bodyPr wrap="square" lIns="0" tIns="0" rIns="0" bIns="0" rtlCol="0" anchor="ctr"/>
          <a:lstStyle/>
          <a:p>
            <a:pPr indent="0" marL="0">
              <a:buNone/>
            </a:pPr>
            <a:r>
              <a:rPr lang="en-US" sz="2100" dirty="0">
                <a:solidFill>
                  <a:srgbClr val="B7C3E2"/>
                </a:solidFill>
                <a:latin typeface="DM Sans" pitchFamily="34" charset="0"/>
                <a:ea typeface="DM Sans" pitchFamily="34" charset="-122"/>
                <a:cs typeface="DM Sans" pitchFamily="34" charset="-120"/>
              </a:rPr>
              <a:t>gRPC, GraphQL or a subscription</a:t>
            </a:r>
            <a:endParaRPr lang="en-US" sz="2100" dirty="0"/>
          </a:p>
        </p:txBody>
      </p:sp>
      <p:sp>
        <p:nvSpPr>
          <p:cNvPr id="13" name="Text 10"/>
          <p:cNvSpPr/>
          <p:nvPr/>
        </p:nvSpPr>
        <p:spPr>
          <a:xfrm>
            <a:off x="685800" y="4032504"/>
            <a:ext cx="502920" cy="274320"/>
          </a:xfrm>
          <a:prstGeom prst="rect">
            <a:avLst/>
          </a:prstGeom>
          <a:noFill/>
          <a:ln/>
        </p:spPr>
        <p:txBody>
          <a:bodyPr wrap="square" lIns="0" tIns="0" rIns="0" bIns="0" rtlCol="0" anchor="ctr"/>
          <a:lstStyle/>
          <a:p>
            <a:pPr indent="0" marL="0">
              <a:buNone/>
            </a:pPr>
            <a:r>
              <a:rPr lang="en-US" sz="1800" dirty="0">
                <a:solidFill>
                  <a:srgbClr val="B7C3E2"/>
                </a:solidFill>
                <a:latin typeface="JetBrains Mono" pitchFamily="34" charset="0"/>
                <a:ea typeface="JetBrains Mono" pitchFamily="34" charset="-122"/>
                <a:cs typeface="JetBrains Mono" pitchFamily="34" charset="-120"/>
              </a:rPr>
              <a:t>03</a:t>
            </a:r>
            <a:endParaRPr lang="en-US" sz="1800" dirty="0"/>
          </a:p>
        </p:txBody>
      </p:sp>
      <p:sp>
        <p:nvSpPr>
          <p:cNvPr id="14" name="Text 11"/>
          <p:cNvSpPr/>
          <p:nvPr/>
        </p:nvSpPr>
        <p:spPr>
          <a:xfrm>
            <a:off x="1463040" y="3922776"/>
            <a:ext cx="4297680" cy="548640"/>
          </a:xfrm>
          <a:prstGeom prst="rect">
            <a:avLst/>
          </a:prstGeom>
          <a:noFill/>
          <a:ln/>
        </p:spPr>
        <p:txBody>
          <a:bodyPr wrap="square" lIns="0" tIns="0" rIns="0" bIns="0" rtlCol="0" anchor="ctr"/>
          <a:lstStyle/>
          <a:p>
            <a:pPr indent="0" marL="0">
              <a:buNone/>
            </a:pPr>
            <a:r>
              <a:rPr lang="en-US" sz="2700" dirty="0">
                <a:solidFill>
                  <a:srgbClr val="FFFFFF"/>
                </a:solidFill>
                <a:latin typeface="DM Sans" pitchFamily="34" charset="0"/>
                <a:ea typeface="DM Sans" pitchFamily="34" charset="-122"/>
                <a:cs typeface="DM Sans" pitchFamily="34" charset="-120"/>
              </a:rPr>
              <a:t>Verify the behaviour</a:t>
            </a:r>
            <a:endParaRPr lang="en-US" sz="2700" dirty="0"/>
          </a:p>
        </p:txBody>
      </p:sp>
      <p:sp>
        <p:nvSpPr>
          <p:cNvPr id="15" name="Text 12"/>
          <p:cNvSpPr/>
          <p:nvPr/>
        </p:nvSpPr>
        <p:spPr>
          <a:xfrm>
            <a:off x="6035040" y="3968496"/>
            <a:ext cx="5440680" cy="502920"/>
          </a:xfrm>
          <a:prstGeom prst="rect">
            <a:avLst/>
          </a:prstGeom>
          <a:noFill/>
          <a:ln/>
        </p:spPr>
        <p:txBody>
          <a:bodyPr wrap="square" lIns="0" tIns="0" rIns="0" bIns="0" rtlCol="0" anchor="ctr"/>
          <a:lstStyle/>
          <a:p>
            <a:pPr indent="0" marL="0">
              <a:buNone/>
            </a:pPr>
            <a:r>
              <a:rPr lang="en-US" sz="2100" dirty="0">
                <a:solidFill>
                  <a:srgbClr val="B7C3E2"/>
                </a:solidFill>
                <a:latin typeface="DM Sans" pitchFamily="34" charset="0"/>
                <a:ea typeface="DM Sans" pitchFamily="34" charset="-122"/>
                <a:cs typeface="DM Sans" pitchFamily="34" charset="-120"/>
              </a:rPr>
              <a:t>Known data + one failure case</a:t>
            </a:r>
            <a:endParaRPr lang="en-US" sz="2100" dirty="0"/>
          </a:p>
        </p:txBody>
      </p:sp>
      <p:sp>
        <p:nvSpPr>
          <p:cNvPr id="16" name="Shape 13"/>
          <p:cNvSpPr/>
          <p:nvPr/>
        </p:nvSpPr>
        <p:spPr>
          <a:xfrm>
            <a:off x="685800" y="5184648"/>
            <a:ext cx="10817352" cy="630936"/>
          </a:xfrm>
          <a:prstGeom prst="rect">
            <a:avLst/>
          </a:prstGeom>
          <a:solidFill>
            <a:srgbClr val="2338FF"/>
          </a:solidFill>
          <a:ln w="12700">
            <a:solidFill>
              <a:srgbClr val="2338FF">
                <a:alpha val="0"/>
              </a:srgbClr>
            </a:solidFill>
            <a:prstDash val="solid"/>
          </a:ln>
        </p:spPr>
      </p:sp>
      <p:sp>
        <p:nvSpPr>
          <p:cNvPr id="17" name="Text 14"/>
          <p:cNvSpPr/>
          <p:nvPr/>
        </p:nvSpPr>
        <p:spPr>
          <a:xfrm>
            <a:off x="850392" y="5321808"/>
            <a:ext cx="10469880" cy="347472"/>
          </a:xfrm>
          <a:prstGeom prst="rect">
            <a:avLst/>
          </a:prstGeom>
          <a:noFill/>
          <a:ln/>
        </p:spPr>
        <p:txBody>
          <a:bodyPr wrap="square" lIns="0" tIns="0" rIns="0" bIns="0" rtlCol="0" anchor="ctr"/>
          <a:lstStyle/>
          <a:p>
            <a:pPr indent="0" marL="0">
              <a:buNone/>
            </a:pPr>
            <a:r>
              <a:rPr lang="en-US" sz="2000" dirty="0">
                <a:solidFill>
                  <a:srgbClr val="FFFFFF"/>
                </a:solidFill>
                <a:latin typeface="DM Sans" pitchFamily="34" charset="0"/>
                <a:ea typeface="DM Sans" pitchFamily="34" charset="-122"/>
                <a:cs typeface="DM Sans" pitchFamily="34" charset="-120"/>
              </a:rPr>
              <a:t>Leave with a working diff, its evidence, and a reason for your data-stack choice.</a:t>
            </a:r>
            <a:endParaRPr lang="en-US" sz="2000" dirty="0"/>
          </a:p>
        </p:txBody>
      </p:sp>
      <p:sp>
        <p:nvSpPr>
          <p:cNvPr id="18" name="Text 15">
            <a:hlinkClick r:id="rId1" tooltip=""/>
          </p:cNvPr>
          <p:cNvSpPr/>
          <p:nvPr/>
        </p:nvSpPr>
        <p:spPr>
          <a:xfrm>
            <a:off x="685800" y="6071616"/>
            <a:ext cx="6400800" cy="274320"/>
          </a:xfrm>
          <a:prstGeom prst="rect">
            <a:avLst/>
          </a:prstGeom>
          <a:noFill/>
          <a:ln/>
        </p:spPr>
        <p:txBody>
          <a:bodyPr wrap="square" lIns="0" tIns="0" rIns="0" bIns="0" rtlCol="0" anchor="ctr"/>
          <a:lstStyle/>
          <a:p>
            <a:pPr indent="0" marL="0">
              <a:buNone/>
            </a:pPr>
            <a:r>
              <a:rPr lang="en-US" sz="1700" u="sng" dirty="0">
                <a:solidFill>
                  <a:srgbClr val="B7C3E2"/>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github.com/Nuel-osas/day3-till</a:t>
            </a:r>
            <a:endParaRPr lang="en-US" sz="1700" dirty="0"/>
          </a:p>
        </p:txBody>
      </p:sp>
      <p:sp>
        <p:nvSpPr>
          <p:cNvPr id="19" name="Text 16">
            <a:hlinkClick r:id="rId2" tooltip=""/>
          </p:cNvPr>
          <p:cNvSpPr/>
          <p:nvPr/>
        </p:nvSpPr>
        <p:spPr>
          <a:xfrm>
            <a:off x="7909560" y="6071616"/>
            <a:ext cx="3593592" cy="274320"/>
          </a:xfrm>
          <a:prstGeom prst="rect">
            <a:avLst/>
          </a:prstGeom>
          <a:noFill/>
          <a:ln/>
        </p:spPr>
        <p:txBody>
          <a:bodyPr wrap="square" lIns="0" tIns="0" rIns="0" bIns="0" rtlCol="0" anchor="ctr"/>
          <a:lstStyle/>
          <a:p>
            <a:pPr indent="0" marL="0">
              <a:buNone/>
            </a:pPr>
            <a:r>
              <a:rPr lang="en-US" sz="1700" u="sng" dirty="0">
                <a:solidFill>
                  <a:srgbClr val="B7C3E2"/>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day3-till.vercel.app</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SuiHub Lagos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Sui: GraphQL Subscriptions and the Data Stack After JSON-RPC</dc:title>
  <dc:subject>Day 3 / 15-slide teaching edition / 16 October 2026</dc:subject>
  <dc:creator>Ruru | SuiHub Lagos</dc:creator>
  <cp:lastModifiedBy>Ruru | SuiHub Lagos</cp:lastModifiedBy>
  <cp:revision>1</cp:revision>
  <dcterms:created xsi:type="dcterms:W3CDTF">2026-10-16T11:02:54Z</dcterms:created>
  <dcterms:modified xsi:type="dcterms:W3CDTF">2026-10-16T11:02:54Z</dcterms:modified>
</cp:coreProperties>
</file>